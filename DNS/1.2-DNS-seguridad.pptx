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media/image1.jpeg" ContentType="image/jpeg"/>
  <Override PartName="/ppt/media/image5.png" ContentType="image/png"/>
  <Override PartName="/ppt/media/image2.png" ContentType="image/png"/>
  <Override PartName="/ppt/media/image3.png" ContentType="image/png"/>
  <Override PartName="/ppt/media/image4.png" ContentType="image/png"/>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8.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6.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s-E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5"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9"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1"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32"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3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3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37"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9"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0"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1"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2"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3"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4"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EAA93A4F-6310-4EDA-B9B8-119A4A3697F0}"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5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5FF07EBA-15E4-4512-B975-4BF8E483C5AE}"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5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750CE91-10EC-4F27-A739-DD6D673150B5}"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B4CD9D41-57DF-4E25-8C8B-B76C5DB3A8CA}"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6862F73B-A26F-4A3C-98B8-12ED299D5739}"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s-ES"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3AB4734A-CF1B-4C60-8B73-1F03DD1E57C1}"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C5571695-B358-4360-822C-BC58800164D0}"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437EAD5-A1C4-4CC6-9E84-BA7B5E404102}"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7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D9C87A1-111F-43B9-8A89-6C22F1F31F87}"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7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606DB04E-9774-45DE-80D5-735AC8450D8E}"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8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A8E46F6C-80B7-4ACB-B933-F50353167B0E}"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8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9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AACBAF55-C0CD-4A41-A90F-7FC8DE5599E2}"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C5CEA0EA-4EB2-41AD-A389-93C1412B2509}"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0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4"/>
          </p:nvPr>
        </p:nvSpPr>
        <p:spPr/>
        <p:txBody>
          <a:bodyPr/>
          <a:p>
            <a:fld id="{B0D583B5-6FD7-486A-8517-043399F19B11}"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0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4"/>
          </p:nvPr>
        </p:nvSpPr>
        <p:spPr/>
        <p:txBody>
          <a:bodyPr/>
          <a:p>
            <a:fld id="{B48063B4-C9FE-4C6C-9630-2032D8CA9E8D}"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0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0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4"/>
          </p:nvPr>
        </p:nvSpPr>
        <p:spPr/>
        <p:txBody>
          <a:bodyPr/>
          <a:p>
            <a:fld id="{322E05D1-A148-4DC3-AF54-CCB5D6550D02}"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4"/>
          </p:nvPr>
        </p:nvSpPr>
        <p:spPr/>
        <p:txBody>
          <a:bodyPr/>
          <a:p>
            <a:fld id="{8A5A5F8A-F2A2-4DAB-94A9-13F29BE74BDE}"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9"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s-ES" sz="3200" spc="-1" strike="noStrike">
              <a:solidFill>
                <a:srgbClr val="000000"/>
              </a:solidFill>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4"/>
          </p:nvPr>
        </p:nvSpPr>
        <p:spPr/>
        <p:txBody>
          <a:bodyPr/>
          <a:p>
            <a:fld id="{2669FC0A-786E-4048-ABD9-494C3C7DF700}"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1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1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1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4"/>
          </p:nvPr>
        </p:nvSpPr>
        <p:spPr/>
        <p:txBody>
          <a:bodyPr/>
          <a:p>
            <a:fld id="{B8CE55CF-3794-4466-89CB-D7B18F53EDD8}"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1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1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17"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4"/>
          </p:nvPr>
        </p:nvSpPr>
        <p:spPr/>
        <p:txBody>
          <a:bodyPr/>
          <a:p>
            <a:fld id="{FBDFFE14-2DCC-4B63-ACB1-E23D176273FE}"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1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1"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4"/>
          </p:nvPr>
        </p:nvSpPr>
        <p:spPr/>
        <p:txBody>
          <a:bodyPr/>
          <a:p>
            <a:fld id="{296CCBA9-559D-4B75-8C35-7A36E5597868}"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23"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4"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4"/>
          </p:nvPr>
        </p:nvSpPr>
        <p:spPr/>
        <p:txBody>
          <a:bodyPr/>
          <a:p>
            <a:fld id="{5667B00D-ED6A-4402-AD12-65CCBE4FBF5D}"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2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9"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 name="PlaceHolder 6"/>
          <p:cNvSpPr>
            <a:spLocks noGrp="1"/>
          </p:cNvSpPr>
          <p:nvPr>
            <p:ph type="ftr" idx="3"/>
          </p:nvPr>
        </p:nvSpPr>
        <p:spPr/>
        <p:txBody>
          <a:bodyPr/>
          <a:p>
            <a:r>
              <a:t>Footer</a:t>
            </a:r>
          </a:p>
        </p:txBody>
      </p:sp>
      <p:sp>
        <p:nvSpPr>
          <p:cNvPr id="8" name="PlaceHolder 7"/>
          <p:cNvSpPr>
            <a:spLocks noGrp="1"/>
          </p:cNvSpPr>
          <p:nvPr>
            <p:ph type="sldNum" idx="4"/>
          </p:nvPr>
        </p:nvSpPr>
        <p:spPr/>
        <p:txBody>
          <a:bodyPr/>
          <a:p>
            <a:fld id="{896299C2-33EC-43D1-8D27-C4EAD8691636}"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31"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2"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3"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4"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5"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6"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9" name="PlaceHolder 8"/>
          <p:cNvSpPr>
            <a:spLocks noGrp="1"/>
          </p:cNvSpPr>
          <p:nvPr>
            <p:ph type="ftr" idx="3"/>
          </p:nvPr>
        </p:nvSpPr>
        <p:spPr/>
        <p:txBody>
          <a:bodyPr/>
          <a:p>
            <a:r>
              <a:t>Footer</a:t>
            </a:r>
          </a:p>
        </p:txBody>
      </p:sp>
      <p:sp>
        <p:nvSpPr>
          <p:cNvPr id="10" name="PlaceHolder 9"/>
          <p:cNvSpPr>
            <a:spLocks noGrp="1"/>
          </p:cNvSpPr>
          <p:nvPr>
            <p:ph type="sldNum" idx="4"/>
          </p:nvPr>
        </p:nvSpPr>
        <p:spPr/>
        <p:txBody>
          <a:bodyPr/>
          <a:p>
            <a:fld id="{92EDA5B7-4A93-44E2-AD89-A4D971F99538}"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8775983-B39F-461D-A989-D9D1E91BEA92}"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4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B32C494D-619A-448E-9B47-D91FDDC876CB}"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5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960EFA9-D264-416C-8EE4-FB2DF7D5B293}"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5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5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AF4C5740-1326-48C4-A1DD-973EB14441B4}"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16CE0F9-4952-44BD-B4EE-58AB435107E3}"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s-ES" sz="32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74B63933-A402-4FFE-B1B1-7EB3BC7F0C1A}"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5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5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5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E63D61B-0FEE-44AE-A60C-350149FCB3E3}"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6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6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6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75F88E8-7F83-46AA-9C1A-823E56F85B95}"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6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6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6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26F2E0A-7ADD-4858-B712-8B98CB0740EB}"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6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7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AB172334-0175-4017-83A4-14C04AFA4360}"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7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7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7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7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05BE2FD4-F21A-420E-8BC2-5A223D5C93F4}"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7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7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7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8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8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8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CFE54E68-DCA0-4762-85D9-721EA69D0D19}"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Imagen 6" descr=""/>
          <p:cNvPicPr/>
          <p:nvPr/>
        </p:nvPicPr>
        <p:blipFill>
          <a:blip r:embed="rId2"/>
          <a:srcRect l="0" t="205" r="0" b="0"/>
          <a:stretch/>
        </p:blipFill>
        <p:spPr>
          <a:xfrm>
            <a:off x="2880" y="0"/>
            <a:ext cx="12187800" cy="6856560"/>
          </a:xfrm>
          <a:prstGeom prst="rect">
            <a:avLst/>
          </a:prstGeom>
          <a:ln w="0">
            <a:noFill/>
          </a:ln>
        </p:spPr>
      </p:pic>
      <p:cxnSp>
        <p:nvCxnSpPr>
          <p:cNvPr id="1" name="Conector recto 12"/>
          <p:cNvCxnSpPr/>
          <p:nvPr/>
        </p:nvCxnSpPr>
        <p:spPr>
          <a:xfrm>
            <a:off x="2444400" y="4076640"/>
            <a:ext cx="7304040" cy="1440"/>
          </a:xfrm>
          <a:prstGeom prst="straightConnector1">
            <a:avLst/>
          </a:prstGeom>
          <a:ln w="19050">
            <a:solidFill>
              <a:srgbClr val="ffffff"/>
            </a:solidFill>
            <a:round/>
          </a:ln>
        </p:spPr>
      </p:cxnSp>
      <p:pic>
        <p:nvPicPr>
          <p:cNvPr id="2" name="Imagen 14" descr=""/>
          <p:cNvPicPr/>
          <p:nvPr/>
        </p:nvPicPr>
        <p:blipFill>
          <a:blip r:embed="rId3"/>
          <a:stretch/>
        </p:blipFill>
        <p:spPr>
          <a:xfrm>
            <a:off x="4988520" y="5190480"/>
            <a:ext cx="2213640" cy="1130040"/>
          </a:xfrm>
          <a:prstGeom prst="rect">
            <a:avLst/>
          </a:prstGeom>
          <a:ln w="0">
            <a:noFill/>
          </a:ln>
        </p:spPr>
      </p:pic>
      <p:sp>
        <p:nvSpPr>
          <p:cNvPr id="3" name="Forma libre: forma 15"/>
          <p:cNvSpPr/>
          <p:nvPr/>
        </p:nvSpPr>
        <p:spPr>
          <a:xfrm flipH="1">
            <a:off x="11627640" y="460800"/>
            <a:ext cx="561240" cy="909360"/>
          </a:xfrm>
          <a:custGeom>
            <a:avLst/>
            <a:gdLst>
              <a:gd name="textAreaLeft" fmla="*/ 720 w 561240"/>
              <a:gd name="textAreaRight" fmla="*/ 563400 w 561240"/>
              <a:gd name="textAreaTop" fmla="*/ 0 h 909360"/>
              <a:gd name="textAreaBottom" fmla="*/ 910800 h 90936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4" name="Forma libre: forma 16"/>
          <p:cNvSpPr/>
          <p:nvPr/>
        </p:nvSpPr>
        <p:spPr>
          <a:xfrm>
            <a:off x="562680" y="5667120"/>
            <a:ext cx="561240" cy="909360"/>
          </a:xfrm>
          <a:custGeom>
            <a:avLst/>
            <a:gdLst>
              <a:gd name="textAreaLeft" fmla="*/ 0 w 561240"/>
              <a:gd name="textAreaRight" fmla="*/ 562680 w 561240"/>
              <a:gd name="textAreaTop" fmla="*/ 0 h 909360"/>
              <a:gd name="textAreaBottom" fmla="*/ 910800 h 90936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5" name="Forma libre: forma 17"/>
          <p:cNvSpPr/>
          <p:nvPr/>
        </p:nvSpPr>
        <p:spPr>
          <a:xfrm flipH="1">
            <a:off x="-1440" y="5059080"/>
            <a:ext cx="561240" cy="909360"/>
          </a:xfrm>
          <a:custGeom>
            <a:avLst/>
            <a:gdLst>
              <a:gd name="textAreaLeft" fmla="*/ 720 w 561240"/>
              <a:gd name="textAreaRight" fmla="*/ 563400 w 561240"/>
              <a:gd name="textAreaTop" fmla="*/ 0 h 909360"/>
              <a:gd name="textAreaBottom" fmla="*/ 910800 h 90936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6" name="Forma libre: forma 18"/>
          <p:cNvSpPr/>
          <p:nvPr/>
        </p:nvSpPr>
        <p:spPr>
          <a:xfrm>
            <a:off x="0" y="4148280"/>
            <a:ext cx="561240" cy="909360"/>
          </a:xfrm>
          <a:custGeom>
            <a:avLst/>
            <a:gdLst>
              <a:gd name="textAreaLeft" fmla="*/ 0 w 561240"/>
              <a:gd name="textAreaRight" fmla="*/ 562680 w 561240"/>
              <a:gd name="textAreaTop" fmla="*/ 0 h 909360"/>
              <a:gd name="textAreaBottom" fmla="*/ 910800 h 90936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8"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Forma libre: forma 11"/>
          <p:cNvSpPr/>
          <p:nvPr/>
        </p:nvSpPr>
        <p:spPr>
          <a:xfrm>
            <a:off x="0" y="478800"/>
            <a:ext cx="472680" cy="766080"/>
          </a:xfrm>
          <a:custGeom>
            <a:avLst/>
            <a:gdLst>
              <a:gd name="textAreaLeft" fmla="*/ 0 w 472680"/>
              <a:gd name="textAreaRight" fmla="*/ 47412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46" name="Forma libre: forma 12"/>
          <p:cNvSpPr/>
          <p:nvPr/>
        </p:nvSpPr>
        <p:spPr>
          <a:xfrm>
            <a:off x="11717280" y="1044360"/>
            <a:ext cx="472680" cy="766080"/>
          </a:xfrm>
          <a:custGeom>
            <a:avLst/>
            <a:gdLst>
              <a:gd name="textAreaLeft" fmla="*/ 0 w 472680"/>
              <a:gd name="textAreaRight" fmla="*/ 47412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47" name="Forma libre: forma 13"/>
          <p:cNvSpPr/>
          <p:nvPr/>
        </p:nvSpPr>
        <p:spPr>
          <a:xfrm flipH="1">
            <a:off x="11241000" y="1044360"/>
            <a:ext cx="472680" cy="766080"/>
          </a:xfrm>
          <a:custGeom>
            <a:avLst/>
            <a:gdLst>
              <a:gd name="textAreaLeft" fmla="*/ 720 w 472680"/>
              <a:gd name="textAreaRight" fmla="*/ 47484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48" name="Forma libre: forma 15"/>
          <p:cNvSpPr/>
          <p:nvPr/>
        </p:nvSpPr>
        <p:spPr>
          <a:xfrm flipH="1">
            <a:off x="11716200" y="276840"/>
            <a:ext cx="472680" cy="766080"/>
          </a:xfrm>
          <a:custGeom>
            <a:avLst/>
            <a:gdLst>
              <a:gd name="textAreaLeft" fmla="*/ 720 w 472680"/>
              <a:gd name="textAreaRight" fmla="*/ 47484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49" name="Forma libre: forma 17"/>
          <p:cNvSpPr/>
          <p:nvPr/>
        </p:nvSpPr>
        <p:spPr>
          <a:xfrm>
            <a:off x="11242440" y="-237240"/>
            <a:ext cx="472680" cy="766080"/>
          </a:xfrm>
          <a:custGeom>
            <a:avLst/>
            <a:gdLst>
              <a:gd name="textAreaLeft" fmla="*/ 0 w 472680"/>
              <a:gd name="textAreaRight" fmla="*/ 47412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pic>
        <p:nvPicPr>
          <p:cNvPr id="50" name="Imagen 18" descr=""/>
          <p:cNvPicPr/>
          <p:nvPr/>
        </p:nvPicPr>
        <p:blipFill>
          <a:blip r:embed="rId2"/>
          <a:stretch/>
        </p:blipFill>
        <p:spPr>
          <a:xfrm>
            <a:off x="10363320" y="6219360"/>
            <a:ext cx="1555200" cy="439560"/>
          </a:xfrm>
          <a:prstGeom prst="rect">
            <a:avLst/>
          </a:prstGeom>
          <a:ln w="0">
            <a:noFill/>
          </a:ln>
        </p:spPr>
      </p:pic>
      <p:sp>
        <p:nvSpPr>
          <p:cNvPr id="51" name="PlaceHolder 1"/>
          <p:cNvSpPr>
            <a:spLocks noGrp="1"/>
          </p:cNvSpPr>
          <p:nvPr>
            <p:ph type="ftr" idx="1"/>
          </p:nvPr>
        </p:nvSpPr>
        <p:spPr>
          <a:xfrm>
            <a:off x="1159920" y="6468840"/>
            <a:ext cx="7910640" cy="27900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r>
              <a:rPr b="0" lang="es-ES" sz="1100" spc="-1" strike="noStrike">
                <a:solidFill>
                  <a:srgbClr val="000000"/>
                </a:solidFill>
                <a:latin typeface="Arial"/>
              </a:rPr>
              <a:t>&lt;pie de página&gt;</a:t>
            </a:r>
            <a:endParaRPr b="0" lang="es-ES" sz="1100" spc="-1" strike="noStrike">
              <a:solidFill>
                <a:srgbClr val="000000"/>
              </a:solidFill>
              <a:latin typeface="Times New Roman"/>
            </a:endParaRPr>
          </a:p>
        </p:txBody>
      </p:sp>
      <p:sp>
        <p:nvSpPr>
          <p:cNvPr id="52" name="PlaceHolder 2"/>
          <p:cNvSpPr>
            <a:spLocks noGrp="1"/>
          </p:cNvSpPr>
          <p:nvPr>
            <p:ph type="sldNum" idx="2"/>
          </p:nvPr>
        </p:nvSpPr>
        <p:spPr>
          <a:xfrm>
            <a:off x="474120" y="6468840"/>
            <a:ext cx="684360" cy="36360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fld id="{978C256C-D583-4670-A84F-D78C3B145786}" type="slidenum">
              <a:rPr b="0" lang="es-ES" sz="1100" spc="-1" strike="noStrike">
                <a:solidFill>
                  <a:srgbClr val="000000"/>
                </a:solidFill>
                <a:latin typeface="Arial"/>
              </a:rPr>
              <a:t>&lt;número&gt;</a:t>
            </a:fld>
            <a:endParaRPr b="0" lang="es-ES" sz="1100" spc="-1" strike="noStrike">
              <a:solidFill>
                <a:srgbClr val="000000"/>
              </a:solidFill>
              <a:latin typeface="Times New Roman"/>
            </a:endParaRPr>
          </a:p>
        </p:txBody>
      </p:sp>
      <p:sp>
        <p:nvSpPr>
          <p:cNvPr id="53"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54"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Forma libre: forma 11"/>
          <p:cNvSpPr/>
          <p:nvPr/>
        </p:nvSpPr>
        <p:spPr>
          <a:xfrm>
            <a:off x="0" y="478800"/>
            <a:ext cx="472680" cy="766080"/>
          </a:xfrm>
          <a:custGeom>
            <a:avLst/>
            <a:gdLst>
              <a:gd name="textAreaLeft" fmla="*/ 0 w 472680"/>
              <a:gd name="textAreaRight" fmla="*/ 47412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92" name="Forma libre: forma 12"/>
          <p:cNvSpPr/>
          <p:nvPr/>
        </p:nvSpPr>
        <p:spPr>
          <a:xfrm>
            <a:off x="11717280" y="1044360"/>
            <a:ext cx="472680" cy="766080"/>
          </a:xfrm>
          <a:custGeom>
            <a:avLst/>
            <a:gdLst>
              <a:gd name="textAreaLeft" fmla="*/ 0 w 472680"/>
              <a:gd name="textAreaRight" fmla="*/ 47412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93" name="Forma libre: forma 13"/>
          <p:cNvSpPr/>
          <p:nvPr/>
        </p:nvSpPr>
        <p:spPr>
          <a:xfrm flipH="1">
            <a:off x="11241000" y="1044360"/>
            <a:ext cx="472680" cy="766080"/>
          </a:xfrm>
          <a:custGeom>
            <a:avLst/>
            <a:gdLst>
              <a:gd name="textAreaLeft" fmla="*/ 720 w 472680"/>
              <a:gd name="textAreaRight" fmla="*/ 47484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94" name="Forma libre: forma 15"/>
          <p:cNvSpPr/>
          <p:nvPr/>
        </p:nvSpPr>
        <p:spPr>
          <a:xfrm flipH="1">
            <a:off x="11716200" y="276840"/>
            <a:ext cx="472680" cy="766080"/>
          </a:xfrm>
          <a:custGeom>
            <a:avLst/>
            <a:gdLst>
              <a:gd name="textAreaLeft" fmla="*/ 720 w 472680"/>
              <a:gd name="textAreaRight" fmla="*/ 47484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95" name="Forma libre: forma 17"/>
          <p:cNvSpPr/>
          <p:nvPr/>
        </p:nvSpPr>
        <p:spPr>
          <a:xfrm>
            <a:off x="11242440" y="-237240"/>
            <a:ext cx="472680" cy="766080"/>
          </a:xfrm>
          <a:custGeom>
            <a:avLst/>
            <a:gdLst>
              <a:gd name="textAreaLeft" fmla="*/ 0 w 472680"/>
              <a:gd name="textAreaRight" fmla="*/ 47412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pic>
        <p:nvPicPr>
          <p:cNvPr id="96" name="Imagen 18" descr=""/>
          <p:cNvPicPr/>
          <p:nvPr/>
        </p:nvPicPr>
        <p:blipFill>
          <a:blip r:embed="rId2"/>
          <a:stretch/>
        </p:blipFill>
        <p:spPr>
          <a:xfrm>
            <a:off x="10363320" y="6219360"/>
            <a:ext cx="1555200" cy="439560"/>
          </a:xfrm>
          <a:prstGeom prst="rect">
            <a:avLst/>
          </a:prstGeom>
          <a:ln w="0">
            <a:noFill/>
          </a:ln>
        </p:spPr>
      </p:pic>
      <p:sp>
        <p:nvSpPr>
          <p:cNvPr id="9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98" name="PlaceHolder 2"/>
          <p:cNvSpPr>
            <a:spLocks noGrp="1"/>
          </p:cNvSpPr>
          <p:nvPr>
            <p:ph type="ftr" idx="3"/>
          </p:nvPr>
        </p:nvSpPr>
        <p:spPr>
          <a:xfrm>
            <a:off x="1159920" y="6468840"/>
            <a:ext cx="7910640" cy="27900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r>
              <a:rPr b="0" lang="es-ES" sz="1100" spc="-1" strike="noStrike">
                <a:solidFill>
                  <a:srgbClr val="000000"/>
                </a:solidFill>
                <a:latin typeface="Arial"/>
              </a:rPr>
              <a:t>&lt;pie de página&gt;</a:t>
            </a:r>
            <a:endParaRPr b="0" lang="es-ES" sz="1100" spc="-1" strike="noStrike">
              <a:solidFill>
                <a:srgbClr val="000000"/>
              </a:solidFill>
              <a:latin typeface="Times New Roman"/>
            </a:endParaRPr>
          </a:p>
        </p:txBody>
      </p:sp>
      <p:sp>
        <p:nvSpPr>
          <p:cNvPr id="99" name="PlaceHolder 3"/>
          <p:cNvSpPr>
            <a:spLocks noGrp="1"/>
          </p:cNvSpPr>
          <p:nvPr>
            <p:ph type="sldNum" idx="4"/>
          </p:nvPr>
        </p:nvSpPr>
        <p:spPr>
          <a:xfrm>
            <a:off x="474120" y="6468840"/>
            <a:ext cx="684360" cy="36360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fld id="{DABBD832-594E-47F3-A98A-B470BACC574D}" type="slidenum">
              <a:rPr b="0" lang="es-ES" sz="1100" spc="-1" strike="noStrike">
                <a:solidFill>
                  <a:srgbClr val="000000"/>
                </a:solidFill>
                <a:latin typeface="Arial"/>
              </a:rPr>
              <a:t>&lt;número&gt;</a:t>
            </a:fld>
            <a:endParaRPr b="0" lang="es-ES" sz="1100" spc="-1" strike="noStrike">
              <a:solidFill>
                <a:srgbClr val="000000"/>
              </a:solidFill>
              <a:latin typeface="Times New Roman"/>
            </a:endParaRPr>
          </a:p>
        </p:txBody>
      </p:sp>
      <p:sp>
        <p:nvSpPr>
          <p:cNvPr id="100"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 name="Forma libre: forma 11"/>
          <p:cNvSpPr/>
          <p:nvPr/>
        </p:nvSpPr>
        <p:spPr>
          <a:xfrm>
            <a:off x="0" y="478800"/>
            <a:ext cx="472680" cy="766080"/>
          </a:xfrm>
          <a:custGeom>
            <a:avLst/>
            <a:gdLst>
              <a:gd name="textAreaLeft" fmla="*/ 0 w 472680"/>
              <a:gd name="textAreaRight" fmla="*/ 47412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138" name="Forma libre: forma 12"/>
          <p:cNvSpPr/>
          <p:nvPr/>
        </p:nvSpPr>
        <p:spPr>
          <a:xfrm>
            <a:off x="11717280" y="1044360"/>
            <a:ext cx="472680" cy="766080"/>
          </a:xfrm>
          <a:custGeom>
            <a:avLst/>
            <a:gdLst>
              <a:gd name="textAreaLeft" fmla="*/ 0 w 472680"/>
              <a:gd name="textAreaRight" fmla="*/ 47412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139" name="Forma libre: forma 13"/>
          <p:cNvSpPr/>
          <p:nvPr/>
        </p:nvSpPr>
        <p:spPr>
          <a:xfrm flipH="1">
            <a:off x="11241000" y="1044360"/>
            <a:ext cx="472680" cy="766080"/>
          </a:xfrm>
          <a:custGeom>
            <a:avLst/>
            <a:gdLst>
              <a:gd name="textAreaLeft" fmla="*/ 720 w 472680"/>
              <a:gd name="textAreaRight" fmla="*/ 47484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140" name="Forma libre: forma 15"/>
          <p:cNvSpPr/>
          <p:nvPr/>
        </p:nvSpPr>
        <p:spPr>
          <a:xfrm flipH="1">
            <a:off x="11716200" y="276840"/>
            <a:ext cx="472680" cy="766080"/>
          </a:xfrm>
          <a:custGeom>
            <a:avLst/>
            <a:gdLst>
              <a:gd name="textAreaLeft" fmla="*/ 720 w 472680"/>
              <a:gd name="textAreaRight" fmla="*/ 47484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sp>
        <p:nvSpPr>
          <p:cNvPr id="141" name="Forma libre: forma 17"/>
          <p:cNvSpPr/>
          <p:nvPr/>
        </p:nvSpPr>
        <p:spPr>
          <a:xfrm>
            <a:off x="11242440" y="-237240"/>
            <a:ext cx="472680" cy="766080"/>
          </a:xfrm>
          <a:custGeom>
            <a:avLst/>
            <a:gdLst>
              <a:gd name="textAreaLeft" fmla="*/ 0 w 472680"/>
              <a:gd name="textAreaRight" fmla="*/ 474120 w 472680"/>
              <a:gd name="textAreaTop" fmla="*/ 0 h 766080"/>
              <a:gd name="textAreaBottom" fmla="*/ 767520 h 76608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800" spc="-1" strike="noStrike">
              <a:solidFill>
                <a:schemeClr val="lt1"/>
              </a:solidFill>
              <a:latin typeface="Calibri"/>
              <a:ea typeface="DejaVu Sans"/>
            </a:endParaRPr>
          </a:p>
        </p:txBody>
      </p:sp>
      <p:pic>
        <p:nvPicPr>
          <p:cNvPr id="142" name="Imagen 18" descr=""/>
          <p:cNvPicPr/>
          <p:nvPr/>
        </p:nvPicPr>
        <p:blipFill>
          <a:blip r:embed="rId2"/>
          <a:stretch/>
        </p:blipFill>
        <p:spPr>
          <a:xfrm>
            <a:off x="10363320" y="6219360"/>
            <a:ext cx="1555200" cy="439560"/>
          </a:xfrm>
          <a:prstGeom prst="rect">
            <a:avLst/>
          </a:prstGeom>
          <a:ln w="0">
            <a:noFill/>
          </a:ln>
        </p:spPr>
      </p:pic>
      <p:sp>
        <p:nvSpPr>
          <p:cNvPr id="14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144"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145" name="PlaceHolder 3"/>
          <p:cNvSpPr>
            <a:spLocks noGrp="1"/>
          </p:cNvSpPr>
          <p:nvPr>
            <p:ph type="ftr" idx="5"/>
          </p:nvPr>
        </p:nvSpPr>
        <p:spPr>
          <a:xfrm>
            <a:off x="1159920" y="6468840"/>
            <a:ext cx="7910640" cy="27900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r>
              <a:rPr b="0" lang="es-ES" sz="1100" spc="-1" strike="noStrike">
                <a:solidFill>
                  <a:srgbClr val="000000"/>
                </a:solidFill>
                <a:latin typeface="Arial"/>
              </a:rPr>
              <a:t>&lt;pie de página&gt;</a:t>
            </a:r>
            <a:endParaRPr b="0" lang="es-ES" sz="1100" spc="-1" strike="noStrike">
              <a:solidFill>
                <a:srgbClr val="000000"/>
              </a:solidFill>
              <a:latin typeface="Times New Roman"/>
            </a:endParaRPr>
          </a:p>
        </p:txBody>
      </p:sp>
      <p:sp>
        <p:nvSpPr>
          <p:cNvPr id="146" name="PlaceHolder 4"/>
          <p:cNvSpPr>
            <a:spLocks noGrp="1"/>
          </p:cNvSpPr>
          <p:nvPr>
            <p:ph type="sldNum" idx="6"/>
          </p:nvPr>
        </p:nvSpPr>
        <p:spPr>
          <a:xfrm>
            <a:off x="474120" y="6468840"/>
            <a:ext cx="684360" cy="36360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fld id="{F1F964BD-4345-4B44-8763-5F9E2313A309}" type="slidenum">
              <a:rPr b="0" lang="es-ES" sz="1100" spc="-1" strike="noStrike">
                <a:solidFill>
                  <a:srgbClr val="000000"/>
                </a:solidFill>
                <a:latin typeface="Arial"/>
              </a:rPr>
              <a:t>&lt;número&gt;</a:t>
            </a:fld>
            <a:endParaRPr b="0" lang="es-ES" sz="11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hyperlink" Target="http://www.dnssec-or-not.com/" TargetMode="External"/><Relationship Id="rId2" Type="http://schemas.openxmlformats.org/officeDocument/2006/relationships/hyperlink" Target="https://wander.science/projects/dns/dnssec-resolver-test" TargetMode="External"/><Relationship Id="rId3" Type="http://schemas.openxmlformats.org/officeDocument/2006/relationships/hyperlink" Target="https://dnssec-analyzer.verisignlabs.com/" TargetMode="External"/><Relationship Id="rId4" Type="http://schemas.openxmlformats.org/officeDocument/2006/relationships/hyperlink" Target="https://dnsviz.net/" TargetMode="External"/><Relationship Id="rId5"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2444760" y="2235240"/>
            <a:ext cx="7301160" cy="1754640"/>
          </a:xfrm>
          <a:prstGeom prst="rect">
            <a:avLst/>
          </a:prstGeom>
          <a:noFill/>
          <a:ln w="0">
            <a:noFill/>
          </a:ln>
        </p:spPr>
        <p:txBody>
          <a:bodyPr lIns="90000" rIns="90000" tIns="45000" bIns="45000" anchor="b">
            <a:noAutofit/>
          </a:bodyPr>
          <a:p>
            <a:pPr indent="0" algn="ctr">
              <a:lnSpc>
                <a:spcPct val="90000"/>
              </a:lnSpc>
              <a:buNone/>
              <a:tabLst>
                <a:tab algn="l" pos="0"/>
              </a:tabLst>
            </a:pPr>
            <a:r>
              <a:rPr b="1" lang="es-ES" sz="3200" spc="-1" strike="noStrike">
                <a:solidFill>
                  <a:srgbClr val="ffffff"/>
                </a:solidFill>
                <a:latin typeface="Arial"/>
              </a:rPr>
              <a:t> </a:t>
            </a:r>
            <a:br>
              <a:rPr sz="3200"/>
            </a:br>
            <a:r>
              <a:rPr b="1" lang="es-ES" sz="3200" spc="-1" strike="noStrike">
                <a:solidFill>
                  <a:srgbClr val="ffffff"/>
                </a:solidFill>
                <a:latin typeface="Arial"/>
              </a:rPr>
              <a:t>Servicios en Red</a:t>
            </a:r>
            <a:br>
              <a:rPr sz="3200"/>
            </a:br>
            <a:r>
              <a:rPr b="1" lang="es-ES" sz="3200" spc="-1" strike="noStrike">
                <a:solidFill>
                  <a:srgbClr val="ffffff"/>
                </a:solidFill>
                <a:latin typeface="Arial"/>
              </a:rPr>
              <a:t>DNS</a:t>
            </a:r>
            <a:endParaRPr b="0" lang="es-E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1317960" y="291348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¿Problemas de seguridad en el DNS?</a:t>
            </a:r>
            <a:endParaRPr b="0" lang="es-ES" sz="3000" spc="-1" strike="noStrike">
              <a:solidFill>
                <a:srgbClr val="000000"/>
              </a:solidFill>
              <a:latin typeface="Arial"/>
            </a:endParaRPr>
          </a:p>
        </p:txBody>
      </p:sp>
      <p:sp>
        <p:nvSpPr>
          <p:cNvPr id="3" name="PlaceHolder 2"/>
          <p:cNvSpPr>
            <a:spLocks noGrp="1"/>
          </p:cNvSpPr>
          <p:nvPr>
            <p:ph type="sldNum" idx="2"/>
          </p:nvPr>
        </p:nvSpPr>
        <p:spPr/>
        <p:txBody>
          <a:bodyPr/>
          <a:p>
            <a:fld id="{0602CD99-FFFF-4ED4-81EA-6937EDF2D64E}"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
          <p:cNvSpPr/>
          <p:nvPr/>
        </p:nvSpPr>
        <p:spPr>
          <a:xfrm>
            <a:off x="360000" y="1237680"/>
            <a:ext cx="10910880" cy="432144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rPr>
              <a:t> </a:t>
            </a:r>
            <a:r>
              <a:rPr b="0" lang="es-ES" sz="2000" spc="-1" strike="noStrike">
                <a:solidFill>
                  <a:srgbClr val="00c462"/>
                </a:solidFill>
                <a:latin typeface="Arial"/>
              </a:rPr>
              <a:t>Pharming </a:t>
            </a:r>
            <a:r>
              <a:rPr b="0" lang="es-ES" sz="2000" spc="-1" strike="noStrike">
                <a:solidFill>
                  <a:srgbClr val="000000"/>
                </a:solidFill>
                <a:latin typeface="Arial"/>
              </a:rPr>
              <a:t>- los atacantes redireccionan un nombre de dominio a una dirección IP distinta aunque se haya ingresado la dirección correcta. </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ff"/>
                </a:solidFill>
                <a:latin typeface="Arial"/>
              </a:rPr>
              <a:t>DNS hijacking o Secuestro de DNS</a:t>
            </a:r>
            <a:r>
              <a:rPr b="0" lang="es-ES" sz="2000" spc="-1" strike="noStrike">
                <a:solidFill>
                  <a:srgbClr val="000000"/>
                </a:solidFill>
                <a:latin typeface="Arial"/>
              </a:rPr>
              <a:t> - </a:t>
            </a:r>
            <a:r>
              <a:rPr b="0" lang="es-ES" sz="2000" spc="-1" strike="noStrike">
                <a:solidFill>
                  <a:srgbClr val="0000ff"/>
                </a:solidFill>
                <a:latin typeface="Arial"/>
              </a:rPr>
              <a:t>Técnica de ataque contra un dominio de Internet</a:t>
            </a:r>
            <a:r>
              <a:rPr b="0" lang="es-ES" sz="2000" spc="-1" strike="noStrike">
                <a:solidFill>
                  <a:srgbClr val="000000"/>
                </a:solidFill>
                <a:latin typeface="Arial"/>
              </a:rPr>
              <a:t>. El atacante silencia al servidor DNS legítimo por medio de algún ataque de denegación de servicio. Una vez silenciado, lo reemplaza, funcionalmente, por un servidor fraudulento bajo dominio del atacante.</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ca00ca"/>
                </a:solidFill>
                <a:latin typeface="Arial"/>
              </a:rPr>
              <a:t>DNS spoofing o suplantación de DNS o envenamiento del DNS</a:t>
            </a:r>
            <a:r>
              <a:rPr b="0" lang="es-ES" sz="2000" spc="-1" strike="noStrike">
                <a:solidFill>
                  <a:srgbClr val="000000"/>
                </a:solidFill>
                <a:latin typeface="Arial"/>
              </a:rPr>
              <a:t> - </a:t>
            </a:r>
            <a:r>
              <a:rPr b="0" lang="es-ES" sz="2000" spc="-1" strike="noStrike">
                <a:solidFill>
                  <a:srgbClr val="ca00ca"/>
                </a:solidFill>
                <a:latin typeface="Arial"/>
              </a:rPr>
              <a:t>Los atacantes pueden envenenar un caché de DNS engañando a los resolvers (solucionadores) de DNS con información falsa </a:t>
            </a:r>
            <a:r>
              <a:rPr b="0" lang="es-ES" sz="2000" spc="-1" strike="noStrike">
                <a:solidFill>
                  <a:srgbClr val="000000"/>
                </a:solidFill>
                <a:latin typeface="Arial"/>
              </a:rPr>
              <a:t>de almacenamiento de caché, con el resultado de que el solucionador envíe la dirección IP equivocada a los clientes, y los usuarios intenten navegar a un sitio web que se dirigirá al sitio equivocado.</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e47200"/>
                </a:solidFill>
                <a:latin typeface="Arial"/>
              </a:rPr>
              <a:t>Extensiones de seguridad para el DNS </a:t>
            </a:r>
            <a:r>
              <a:rPr b="0" lang="es-ES" sz="2000" spc="-1" strike="noStrike">
                <a:solidFill>
                  <a:srgbClr val="000000"/>
                </a:solidFill>
                <a:latin typeface="Arial"/>
              </a:rPr>
              <a:t>- DNSSEC</a:t>
            </a:r>
            <a:endParaRPr b="0" lang="es-ES" sz="2000" spc="-1" strike="noStrike">
              <a:solidFill>
                <a:srgbClr val="000000"/>
              </a:solidFill>
              <a:latin typeface="Arial"/>
            </a:endParaRPr>
          </a:p>
        </p:txBody>
      </p:sp>
      <p:sp>
        <p:nvSpPr>
          <p:cNvPr id="186" name="PlaceHolder 3"/>
          <p:cNvSpPr/>
          <p:nvPr/>
        </p:nvSpPr>
        <p:spPr>
          <a:xfrm>
            <a:off x="838080" y="365040"/>
            <a:ext cx="992988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tabLst>
                <a:tab algn="l" pos="0"/>
              </a:tabLst>
            </a:pPr>
            <a:r>
              <a:rPr b="1" lang="es-ES" sz="4400" spc="-1" strike="noStrike">
                <a:solidFill>
                  <a:srgbClr val="000000"/>
                </a:solidFill>
                <a:latin typeface="Arial"/>
              </a:rPr>
              <a:t>Ataques al DNS y protección</a:t>
            </a:r>
            <a:endParaRPr b="0" lang="es-ES" sz="4400" spc="-1" strike="noStrike">
              <a:solidFill>
                <a:srgbClr val="000000"/>
              </a:solidFill>
              <a:latin typeface="Arial"/>
            </a:endParaRPr>
          </a:p>
        </p:txBody>
      </p:sp>
      <p:sp>
        <p:nvSpPr>
          <p:cNvPr id="2" name="PlaceHolder 1"/>
          <p:cNvSpPr>
            <a:spLocks noGrp="1"/>
          </p:cNvSpPr>
          <p:nvPr>
            <p:ph type="sldNum" idx="2"/>
          </p:nvPr>
        </p:nvSpPr>
        <p:spPr/>
        <p:txBody>
          <a:bodyPr/>
          <a:p>
            <a:fld id="{2BD49981-A709-4537-946F-12B06C913AB5}"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ubTitle"/>
          </p:nvPr>
        </p:nvSpPr>
        <p:spPr>
          <a:xfrm>
            <a:off x="540000" y="1295640"/>
            <a:ext cx="10972440" cy="5465520"/>
          </a:xfrm>
          <a:prstGeom prst="rect">
            <a:avLst/>
          </a:prstGeom>
          <a:noFill/>
          <a:ln w="0">
            <a:noFill/>
          </a:ln>
        </p:spPr>
        <p:txBody>
          <a:bodyPr lIns="0" rIns="0" tIns="0" bIns="0" anchor="ctr">
            <a:noAutofit/>
          </a:bodyPr>
          <a:p>
            <a:r>
              <a:rPr b="1" lang="es-ES" sz="2800" spc="-1" strike="noStrike">
                <a:solidFill>
                  <a:srgbClr val="000000"/>
                </a:solidFill>
                <a:latin typeface="Arial"/>
              </a:rPr>
              <a:t>Local</a:t>
            </a:r>
            <a:r>
              <a:rPr b="0" lang="es-ES" sz="2800" spc="-1" strike="noStrike">
                <a:solidFill>
                  <a:srgbClr val="000000"/>
                </a:solidFill>
                <a:latin typeface="Arial"/>
              </a:rPr>
              <a:t> </a:t>
            </a:r>
            <a:endParaRPr b="0" lang="es-ES" sz="2800" spc="-1" strike="noStrike">
              <a:solidFill>
                <a:srgbClr val="000000"/>
              </a:solidFill>
              <a:latin typeface="Arial"/>
            </a:endParaRPr>
          </a:p>
          <a:p>
            <a:pPr marL="216000" indent="-216000">
              <a:buClr>
                <a:srgbClr val="000000"/>
              </a:buClr>
              <a:buSzPct val="45000"/>
              <a:buFont typeface="Wingdings" charset="2"/>
              <a:buChar char=""/>
            </a:pPr>
            <a:r>
              <a:rPr b="0" lang="es-ES" sz="2800" spc="-1" strike="noStrike">
                <a:solidFill>
                  <a:srgbClr val="000000"/>
                </a:solidFill>
                <a:latin typeface="Arial"/>
              </a:rPr>
              <a:t>Los atacantes infectan el dispositivo de un usuario con malware que modifica la configuración DNS local. </a:t>
            </a:r>
            <a:endParaRPr b="0" lang="es-ES" sz="2800" spc="-1" strike="noStrike">
              <a:solidFill>
                <a:srgbClr val="000000"/>
              </a:solidFill>
              <a:latin typeface="Arial"/>
            </a:endParaRPr>
          </a:p>
          <a:p>
            <a:pPr marL="216000" indent="-216000">
              <a:buClr>
                <a:srgbClr val="000000"/>
              </a:buClr>
              <a:buSzPct val="45000"/>
              <a:buFont typeface="Wingdings" charset="2"/>
              <a:buChar char=""/>
            </a:pPr>
            <a:r>
              <a:rPr b="0" lang="es-ES" sz="2800" spc="-1" strike="noStrike">
                <a:solidFill>
                  <a:srgbClr val="000000"/>
                </a:solidFill>
                <a:latin typeface="Arial"/>
              </a:rPr>
              <a:t>Al modificar el archivo host en el dispositivo, el atacante puede redirigir al usuario a sitios web fraudulentos, incluso si introduce la URL correcta. </a:t>
            </a:r>
            <a:endParaRPr b="0" lang="es-ES" sz="2800" spc="-1" strike="noStrike">
              <a:solidFill>
                <a:srgbClr val="000000"/>
              </a:solidFill>
              <a:latin typeface="Arial"/>
            </a:endParaRPr>
          </a:p>
          <a:p>
            <a:endParaRPr b="0" lang="es-ES" sz="2800" spc="-1" strike="noStrike">
              <a:solidFill>
                <a:srgbClr val="000000"/>
              </a:solidFill>
              <a:latin typeface="Arial"/>
            </a:endParaRPr>
          </a:p>
          <a:p>
            <a:r>
              <a:rPr b="1" lang="es-ES" sz="2800" spc="-1" strike="noStrike">
                <a:solidFill>
                  <a:srgbClr val="000000"/>
                </a:solidFill>
                <a:latin typeface="Arial"/>
              </a:rPr>
              <a:t>DNS</a:t>
            </a:r>
            <a:r>
              <a:rPr b="0" lang="es-ES" sz="2800" spc="-1" strike="noStrike">
                <a:solidFill>
                  <a:srgbClr val="000000"/>
                </a:solidFill>
                <a:latin typeface="Arial"/>
              </a:rPr>
              <a:t> </a:t>
            </a:r>
            <a:endParaRPr b="0" lang="es-ES" sz="2800" spc="-1" strike="noStrike">
              <a:solidFill>
                <a:srgbClr val="000000"/>
              </a:solidFill>
              <a:latin typeface="Arial"/>
            </a:endParaRPr>
          </a:p>
          <a:p>
            <a:pPr marL="216000" indent="-216000">
              <a:buClr>
                <a:srgbClr val="000000"/>
              </a:buClr>
              <a:buSzPct val="45000"/>
              <a:buFont typeface="Wingdings" charset="2"/>
              <a:buChar char=""/>
            </a:pPr>
            <a:r>
              <a:rPr b="0" lang="es-ES" sz="2800" spc="-1" strike="noStrike">
                <a:solidFill>
                  <a:srgbClr val="000000"/>
                </a:solidFill>
                <a:latin typeface="Arial"/>
              </a:rPr>
              <a:t>Los atacantes se dirigirán a los servidores DNS ellos mismos para que puedan redirigir el tráfico de miles de usuarios a sitios web maliciosos sin comprometer directamente sus dispositivos individuales. </a:t>
            </a:r>
            <a:endParaRPr b="0" lang="es-ES" sz="2800" spc="-1" strike="noStrike">
              <a:solidFill>
                <a:srgbClr val="000000"/>
              </a:solidFill>
              <a:latin typeface="Arial"/>
            </a:endParaRPr>
          </a:p>
          <a:p>
            <a:pPr algn="ctr"/>
            <a:endParaRPr b="0" lang="es-ES" sz="2800" spc="-1" strike="noStrike">
              <a:solidFill>
                <a:srgbClr val="000000"/>
              </a:solidFill>
              <a:latin typeface="Arial"/>
            </a:endParaRPr>
          </a:p>
          <a:p>
            <a:pPr algn="ctr"/>
            <a:endParaRPr b="0" lang="es-ES" sz="2200" spc="-1" strike="noStrike">
              <a:solidFill>
                <a:srgbClr val="000000"/>
              </a:solidFill>
              <a:latin typeface="Arial"/>
            </a:endParaRPr>
          </a:p>
        </p:txBody>
      </p:sp>
      <p:sp>
        <p:nvSpPr>
          <p:cNvPr id="188" name="PlaceHolder 4"/>
          <p:cNvSpPr txBox="1"/>
          <p:nvPr/>
        </p:nvSpPr>
        <p:spPr>
          <a:xfrm>
            <a:off x="838440" y="365400"/>
            <a:ext cx="9929880" cy="814680"/>
          </a:xfrm>
          <a:prstGeom prst="rect">
            <a:avLst/>
          </a:prstGeom>
          <a:noFill/>
          <a:ln w="0">
            <a:noFill/>
          </a:ln>
        </p:spPr>
        <p:txBody>
          <a:bodyPr lIns="90000" rIns="90000" tIns="45000" bIns="45000" anchor="t">
            <a:noAutofit/>
          </a:bodyPr>
          <a:p>
            <a:pPr>
              <a:lnSpc>
                <a:spcPct val="90000"/>
              </a:lnSpc>
              <a:tabLst>
                <a:tab algn="l" pos="0"/>
              </a:tabLst>
            </a:pPr>
            <a:r>
              <a:rPr b="1" lang="es-ES" sz="4400" spc="-1" strike="noStrike">
                <a:solidFill>
                  <a:srgbClr val="000000"/>
                </a:solidFill>
                <a:latin typeface="Arial"/>
              </a:rPr>
              <a:t>Pharming</a:t>
            </a:r>
            <a:endParaRPr b="0" lang="es-ES" sz="4400" spc="-1" strike="noStrike">
              <a:solidFill>
                <a:srgbClr val="000000"/>
              </a:solidFill>
              <a:latin typeface="Arial"/>
            </a:endParaRPr>
          </a:p>
        </p:txBody>
      </p:sp>
      <p:sp>
        <p:nvSpPr>
          <p:cNvPr id="3" name="PlaceHolder 2"/>
          <p:cNvSpPr>
            <a:spLocks noGrp="1"/>
          </p:cNvSpPr>
          <p:nvPr>
            <p:ph type="sldNum" idx="2"/>
          </p:nvPr>
        </p:nvSpPr>
        <p:spPr/>
        <p:txBody>
          <a:bodyPr/>
          <a:p>
            <a:fld id="{B75BE37D-334A-4043-8D21-E2EC2295F258}"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838080" y="36504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4400" spc="-1" strike="noStrike">
                <a:solidFill>
                  <a:srgbClr val="000000"/>
                </a:solidFill>
                <a:latin typeface="Arial"/>
              </a:rPr>
              <a:t>DNS Hijacking - secuestro</a:t>
            </a:r>
            <a:endParaRPr b="0" lang="es-ES" sz="4400" spc="-1" strike="noStrike">
              <a:solidFill>
                <a:srgbClr val="000000"/>
              </a:solidFill>
              <a:latin typeface="Arial"/>
            </a:endParaRPr>
          </a:p>
        </p:txBody>
      </p:sp>
      <p:sp>
        <p:nvSpPr>
          <p:cNvPr id="190" name="PlaceHolder 2"/>
          <p:cNvSpPr>
            <a:spLocks noGrp="1"/>
          </p:cNvSpPr>
          <p:nvPr>
            <p:ph/>
          </p:nvPr>
        </p:nvSpPr>
        <p:spPr>
          <a:xfrm>
            <a:off x="838080" y="1566360"/>
            <a:ext cx="9929880" cy="44899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400" spc="-1" strike="noStrike">
                <a:solidFill>
                  <a:srgbClr val="000000"/>
                </a:solidFill>
                <a:latin typeface="Calibri"/>
              </a:rPr>
              <a:t>Es una técnica que redirige el tráfico que debería ir a un dominio legítimo hacia un servidor controlado por el atacante. </a:t>
            </a:r>
            <a:endParaRPr b="0" lang="es-ES" sz="2400" spc="-1" strike="noStrike">
              <a:solidFill>
                <a:srgbClr val="000000"/>
              </a:solidFill>
              <a:latin typeface="Arial"/>
            </a:endParaRPr>
          </a:p>
          <a:p>
            <a:pPr indent="0">
              <a:lnSpc>
                <a:spcPct val="90000"/>
              </a:lnSpc>
              <a:spcBef>
                <a:spcPts val="1001"/>
              </a:spcBef>
              <a:buNone/>
              <a:tabLst>
                <a:tab algn="l" pos="0"/>
              </a:tabLst>
            </a:pPr>
            <a:endParaRPr b="0" lang="es-ES" sz="2400" spc="-1" strike="noStrike">
              <a:solidFill>
                <a:srgbClr val="000000"/>
              </a:solidFill>
              <a:latin typeface="Arial"/>
            </a:endParaRPr>
          </a:p>
          <a:p>
            <a:pPr indent="0">
              <a:lnSpc>
                <a:spcPct val="90000"/>
              </a:lnSpc>
              <a:spcBef>
                <a:spcPts val="1001"/>
              </a:spcBef>
              <a:buNone/>
              <a:tabLst>
                <a:tab algn="l" pos="0"/>
              </a:tabLst>
            </a:pPr>
            <a:r>
              <a:rPr b="0" lang="es-ES" sz="2400" spc="-1" strike="noStrike">
                <a:solidFill>
                  <a:srgbClr val="000000"/>
                </a:solidFill>
                <a:latin typeface="Calibri"/>
              </a:rPr>
              <a:t>El objetivo suele ser: </a:t>
            </a:r>
            <a:endParaRPr b="0" lang="es-ES" sz="24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400" spc="-1" strike="noStrike">
                <a:solidFill>
                  <a:srgbClr val="000000"/>
                </a:solidFill>
                <a:latin typeface="Calibri"/>
              </a:rPr>
              <a:t>mostrar páginas falsas (phishing), </a:t>
            </a:r>
            <a:endParaRPr b="0" lang="es-ES" sz="24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400" spc="-1" strike="noStrike">
                <a:solidFill>
                  <a:srgbClr val="000000"/>
                </a:solidFill>
                <a:latin typeface="Calibri"/>
              </a:rPr>
              <a:t>inyectar publicidad, </a:t>
            </a:r>
            <a:endParaRPr b="0" lang="es-ES" sz="24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400" spc="-1" strike="noStrike">
                <a:solidFill>
                  <a:srgbClr val="000000"/>
                </a:solidFill>
                <a:latin typeface="Calibri"/>
              </a:rPr>
              <a:t>capturar credenciales o distribuir malware. </a:t>
            </a:r>
            <a:endParaRPr b="0" lang="es-ES" sz="2400" spc="-1" strike="noStrike">
              <a:solidFill>
                <a:srgbClr val="000000"/>
              </a:solidFill>
              <a:latin typeface="Arial"/>
            </a:endParaRPr>
          </a:p>
          <a:p>
            <a:pPr marL="216000" indent="0">
              <a:lnSpc>
                <a:spcPct val="90000"/>
              </a:lnSpc>
              <a:spcBef>
                <a:spcPts val="1001"/>
              </a:spcBef>
              <a:buNone/>
              <a:tabLst>
                <a:tab algn="l" pos="0"/>
              </a:tabLst>
            </a:pPr>
            <a:r>
              <a:rPr b="0" lang="es-ES" sz="2400" spc="-1" strike="noStrike">
                <a:solidFill>
                  <a:srgbClr val="000000"/>
                </a:solidFill>
                <a:latin typeface="Calibri"/>
              </a:rPr>
              <a:t> </a:t>
            </a:r>
            <a:endParaRPr b="0" lang="es-ES" sz="2400" spc="-1" strike="noStrike">
              <a:solidFill>
                <a:srgbClr val="000000"/>
              </a:solidFill>
              <a:latin typeface="Arial"/>
            </a:endParaRPr>
          </a:p>
        </p:txBody>
      </p:sp>
      <p:sp>
        <p:nvSpPr>
          <p:cNvPr id="4" name="PlaceHolder 3"/>
          <p:cNvSpPr>
            <a:spLocks noGrp="1"/>
          </p:cNvSpPr>
          <p:nvPr>
            <p:ph type="sldNum" idx="2"/>
          </p:nvPr>
        </p:nvSpPr>
        <p:spPr/>
        <p:txBody>
          <a:bodyPr/>
          <a:p>
            <a:fld id="{020995D6-74D7-4700-A4B4-C5CE53851825}"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838080" y="36504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4400" spc="-1" strike="noStrike">
                <a:solidFill>
                  <a:srgbClr val="000000"/>
                </a:solidFill>
                <a:latin typeface="Arial"/>
              </a:rPr>
              <a:t>DNS Hijacking - secuestro</a:t>
            </a:r>
            <a:endParaRPr b="0" lang="es-ES" sz="4400" spc="-1" strike="noStrike">
              <a:solidFill>
                <a:srgbClr val="000000"/>
              </a:solidFill>
              <a:latin typeface="Arial"/>
            </a:endParaRPr>
          </a:p>
        </p:txBody>
      </p:sp>
      <p:sp>
        <p:nvSpPr>
          <p:cNvPr id="192" name="PlaceHolder 2"/>
          <p:cNvSpPr>
            <a:spLocks noGrp="1"/>
          </p:cNvSpPr>
          <p:nvPr>
            <p:ph/>
          </p:nvPr>
        </p:nvSpPr>
        <p:spPr>
          <a:xfrm>
            <a:off x="838080" y="1566360"/>
            <a:ext cx="9929880" cy="44899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endParaRPr b="0" lang="es-ES" sz="2400" spc="-1" strike="noStrike">
              <a:solidFill>
                <a:srgbClr val="000000"/>
              </a:solidFill>
              <a:latin typeface="Arial"/>
            </a:endParaRPr>
          </a:p>
          <a:p>
            <a:pPr indent="0">
              <a:lnSpc>
                <a:spcPct val="90000"/>
              </a:lnSpc>
              <a:spcBef>
                <a:spcPts val="1001"/>
              </a:spcBef>
              <a:buNone/>
              <a:tabLst>
                <a:tab algn="l" pos="0"/>
              </a:tabLst>
            </a:pPr>
            <a:r>
              <a:rPr b="0" lang="es-ES" sz="2400" spc="-1" strike="noStrike">
                <a:solidFill>
                  <a:srgbClr val="ff0000"/>
                </a:solidFill>
                <a:latin typeface="Calibri"/>
              </a:rPr>
              <a:t>Funcionamiento</a:t>
            </a:r>
            <a:r>
              <a:rPr b="0" lang="es-ES" sz="2400" spc="-1" strike="noStrike">
                <a:solidFill>
                  <a:srgbClr val="000000"/>
                </a:solidFill>
                <a:latin typeface="Calibri"/>
              </a:rPr>
              <a:t>:</a:t>
            </a:r>
            <a:endParaRPr b="0" lang="es-ES" sz="2400" spc="-1" strike="noStrike">
              <a:solidFill>
                <a:srgbClr val="000000"/>
              </a:solidFill>
              <a:latin typeface="Arial"/>
            </a:endParaRPr>
          </a:p>
          <a:p>
            <a:pPr marL="457200" indent="-457200">
              <a:lnSpc>
                <a:spcPct val="90000"/>
              </a:lnSpc>
              <a:spcBef>
                <a:spcPts val="1001"/>
              </a:spcBef>
              <a:buClr>
                <a:srgbClr val="000000"/>
              </a:buClr>
              <a:buFont typeface="Calibri Light"/>
              <a:buAutoNum type="arabicPeriod"/>
              <a:tabLst>
                <a:tab algn="l" pos="0"/>
              </a:tabLst>
            </a:pPr>
            <a:r>
              <a:rPr b="0" lang="es-ES" sz="2400" spc="-1" strike="noStrike">
                <a:solidFill>
                  <a:srgbClr val="000000"/>
                </a:solidFill>
                <a:latin typeface="Calibri"/>
              </a:rPr>
              <a:t>Los atacantes intentan resolver incorrectamente las consultas de DNS y redirigir el tráfico a un sitio web malicioso.</a:t>
            </a:r>
            <a:endParaRPr b="0" lang="es-ES" sz="2400" spc="-1" strike="noStrike">
              <a:solidFill>
                <a:srgbClr val="000000"/>
              </a:solidFill>
              <a:latin typeface="Arial"/>
            </a:endParaRPr>
          </a:p>
          <a:p>
            <a:pPr marL="457200" indent="-457200">
              <a:lnSpc>
                <a:spcPct val="90000"/>
              </a:lnSpc>
              <a:spcBef>
                <a:spcPts val="1001"/>
              </a:spcBef>
              <a:buClr>
                <a:srgbClr val="000000"/>
              </a:buClr>
              <a:buFont typeface="Calibri Light"/>
              <a:buAutoNum type="arabicPeriod"/>
              <a:tabLst>
                <a:tab algn="l" pos="0"/>
              </a:tabLst>
            </a:pPr>
            <a:r>
              <a:rPr b="0" lang="es-ES" sz="2400" spc="-1" strike="noStrike">
                <a:solidFill>
                  <a:srgbClr val="000000"/>
                </a:solidFill>
                <a:latin typeface="Calibri"/>
              </a:rPr>
              <a:t>Cuando el navegador resuelve la URL, un servidor falso envía una dirección IP falsa que pertenece a un sitio web malicioso, para que un usuario use una versión falsa de un sitio web. </a:t>
            </a:r>
            <a:endParaRPr b="0" lang="es-ES" sz="2400" spc="-1" strike="noStrike">
              <a:solidFill>
                <a:srgbClr val="000000"/>
              </a:solidFill>
              <a:latin typeface="Arial"/>
            </a:endParaRPr>
          </a:p>
          <a:p>
            <a:pPr marL="457200" indent="-457200">
              <a:lnSpc>
                <a:spcPct val="90000"/>
              </a:lnSpc>
              <a:spcBef>
                <a:spcPts val="1001"/>
              </a:spcBef>
              <a:buClr>
                <a:srgbClr val="000000"/>
              </a:buClr>
              <a:buFont typeface="Calibri Light"/>
              <a:buAutoNum type="arabicPeriod"/>
              <a:tabLst>
                <a:tab algn="l" pos="0"/>
              </a:tabLst>
            </a:pPr>
            <a:r>
              <a:rPr b="0" lang="es-ES" sz="2400" spc="-1" strike="noStrike">
                <a:solidFill>
                  <a:srgbClr val="000000"/>
                </a:solidFill>
                <a:latin typeface="Calibri"/>
              </a:rPr>
              <a:t>En este sitio web los usuarios ingresan datos confidenciales y permite a los atacantes robar sus datos.</a:t>
            </a:r>
            <a:endParaRPr b="0" lang="es-ES" sz="2400" spc="-1" strike="noStrike">
              <a:solidFill>
                <a:srgbClr val="000000"/>
              </a:solidFill>
              <a:latin typeface="Arial"/>
            </a:endParaRPr>
          </a:p>
        </p:txBody>
      </p:sp>
      <p:sp>
        <p:nvSpPr>
          <p:cNvPr id="4" name="PlaceHolder 3"/>
          <p:cNvSpPr>
            <a:spLocks noGrp="1"/>
          </p:cNvSpPr>
          <p:nvPr>
            <p:ph type="sldNum" idx="2"/>
          </p:nvPr>
        </p:nvSpPr>
        <p:spPr/>
        <p:txBody>
          <a:bodyPr/>
          <a:p>
            <a:fld id="{08F20005-4362-4C3C-B210-DA42EF71F217}"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838080" y="36504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3200" spc="-1" strike="noStrike">
                <a:solidFill>
                  <a:srgbClr val="000000"/>
                </a:solidFill>
                <a:latin typeface="Arial"/>
              </a:rPr>
              <a:t>DNS Hijacking</a:t>
            </a:r>
            <a:endParaRPr b="0" lang="es-ES" sz="3200" spc="-1" strike="noStrike">
              <a:solidFill>
                <a:srgbClr val="000000"/>
              </a:solidFill>
              <a:latin typeface="Arial"/>
            </a:endParaRPr>
          </a:p>
        </p:txBody>
      </p:sp>
      <p:pic>
        <p:nvPicPr>
          <p:cNvPr id="194" name="" descr=""/>
          <p:cNvPicPr/>
          <p:nvPr/>
        </p:nvPicPr>
        <p:blipFill>
          <a:blip r:embed="rId1"/>
          <a:stretch/>
        </p:blipFill>
        <p:spPr>
          <a:xfrm>
            <a:off x="404640" y="0"/>
            <a:ext cx="11546640" cy="6857280"/>
          </a:xfrm>
          <a:prstGeom prst="rect">
            <a:avLst/>
          </a:prstGeom>
          <a:ln w="0">
            <a:noFill/>
          </a:ln>
        </p:spPr>
      </p:pic>
      <p:sp>
        <p:nvSpPr>
          <p:cNvPr id="3" name="PlaceHolder 2"/>
          <p:cNvSpPr>
            <a:spLocks noGrp="1"/>
          </p:cNvSpPr>
          <p:nvPr>
            <p:ph type="sldNum" idx="2"/>
          </p:nvPr>
        </p:nvSpPr>
        <p:spPr/>
        <p:txBody>
          <a:bodyPr/>
          <a:p>
            <a:fld id="{6E204CAB-6557-4D45-96D0-0FCD7055C70A}"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
          <p:cNvSpPr/>
          <p:nvPr/>
        </p:nvSpPr>
        <p:spPr>
          <a:xfrm>
            <a:off x="900000" y="1620000"/>
            <a:ext cx="9718920" cy="4025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2000" spc="-1" strike="noStrike">
                <a:solidFill>
                  <a:srgbClr val="000000"/>
                </a:solidFill>
                <a:latin typeface="Arial"/>
                <a:ea typeface="DejaVu Sans"/>
              </a:rPr>
              <a:t>Los ataques DNS hijacking, suelen ser empleados para robar credenciales y cualquier otra clase de información personal.</a:t>
            </a:r>
            <a:endParaRPr b="0" lang="es-ES" sz="2000" spc="-1" strike="noStrike">
              <a:solidFill>
                <a:srgbClr val="000000"/>
              </a:solidFill>
              <a:latin typeface="Arial"/>
            </a:endParaRPr>
          </a:p>
          <a:p>
            <a:pPr>
              <a:lnSpc>
                <a:spcPct val="100000"/>
              </a:lnSpc>
            </a:pPr>
            <a:r>
              <a:rPr b="0" lang="es-ES" sz="2000" spc="-1" strike="noStrike">
                <a:solidFill>
                  <a:srgbClr val="000000"/>
                </a:solidFill>
                <a:latin typeface="Arial"/>
                <a:ea typeface="DejaVu Sans"/>
              </a:rPr>
              <a:t>Existen 3 modalidades que dependen del nivel de acceso a la red o privilegios que el atacante pueda obtener.</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1" lang="es-ES" sz="2000" spc="-1" strike="noStrike">
                <a:solidFill>
                  <a:srgbClr val="000000"/>
                </a:solidFill>
                <a:latin typeface="Arial"/>
                <a:ea typeface="DejaVu Sans"/>
              </a:rPr>
              <a:t>Secuestro local </a:t>
            </a:r>
            <a:r>
              <a:rPr b="0" lang="es-ES" sz="2000" spc="-1" strike="noStrike">
                <a:solidFill>
                  <a:srgbClr val="000000"/>
                </a:solidFill>
                <a:latin typeface="Arial"/>
                <a:ea typeface="DejaVu Sans"/>
              </a:rPr>
              <a:t>– responsabilidad del usuario y fácil de realizar. </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1" lang="es-ES" sz="2000" spc="-1" strike="noStrike">
                <a:solidFill>
                  <a:srgbClr val="000000"/>
                </a:solidFill>
                <a:latin typeface="Arial"/>
                <a:ea typeface="DejaVu Sans"/>
              </a:rPr>
              <a:t>Secuestro del router </a:t>
            </a:r>
            <a:r>
              <a:rPr b="0" lang="es-ES" sz="2000" spc="-1" strike="noStrike">
                <a:solidFill>
                  <a:srgbClr val="000000"/>
                </a:solidFill>
                <a:latin typeface="Arial"/>
                <a:ea typeface="DejaVu Sans"/>
              </a:rPr>
              <a:t>– responsabilidad del usuario  y fácil de realizar.</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1" lang="es-ES" sz="2000" spc="-1" strike="noStrike">
                <a:solidFill>
                  <a:srgbClr val="000000"/>
                </a:solidFill>
                <a:latin typeface="Arial"/>
                <a:ea typeface="DejaVu Sans"/>
              </a:rPr>
              <a:t>Secuestro del servidor de nombres de dominio en Internet </a:t>
            </a:r>
            <a:r>
              <a:rPr b="0" lang="es-ES" sz="2000" spc="-1" strike="noStrike">
                <a:solidFill>
                  <a:srgbClr val="000000"/>
                </a:solidFill>
                <a:latin typeface="Arial"/>
                <a:ea typeface="DejaVu Sans"/>
              </a:rPr>
              <a:t>- depende de la seguridad de terceros y es complicado poder llevarlo a cabo.</a:t>
            </a:r>
            <a:endParaRPr b="0" lang="es-ES" sz="2000" spc="-1" strike="noStrike">
              <a:solidFill>
                <a:srgbClr val="000000"/>
              </a:solidFill>
              <a:latin typeface="Arial"/>
            </a:endParaRPr>
          </a:p>
          <a:p>
            <a:pPr>
              <a:lnSpc>
                <a:spcPct val="100000"/>
              </a:lnSpc>
            </a:pPr>
            <a:endParaRPr b="0" lang="es-ES" sz="2000" spc="-1" strike="noStrike">
              <a:solidFill>
                <a:srgbClr val="000000"/>
              </a:solidFill>
              <a:latin typeface="Arial"/>
            </a:endParaRPr>
          </a:p>
        </p:txBody>
      </p:sp>
      <p:sp>
        <p:nvSpPr>
          <p:cNvPr id="196" name="Título 3"/>
          <p:cNvSpPr/>
          <p:nvPr/>
        </p:nvSpPr>
        <p:spPr>
          <a:xfrm>
            <a:off x="838080" y="365040"/>
            <a:ext cx="992988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4400" spc="-1" strike="noStrike">
                <a:solidFill>
                  <a:srgbClr val="000000"/>
                </a:solidFill>
                <a:latin typeface="Arial"/>
                <a:ea typeface="DejaVu Sans"/>
              </a:rPr>
              <a:t>DNS Hijacking - secuestro</a:t>
            </a:r>
            <a:endParaRPr b="0" lang="es-ES" sz="4400" spc="-1" strike="noStrike">
              <a:solidFill>
                <a:srgbClr val="000000"/>
              </a:solidFill>
              <a:latin typeface="Arial"/>
            </a:endParaRPr>
          </a:p>
        </p:txBody>
      </p:sp>
      <p:sp>
        <p:nvSpPr>
          <p:cNvPr id="2" name="PlaceHolder 1"/>
          <p:cNvSpPr>
            <a:spLocks noGrp="1"/>
          </p:cNvSpPr>
          <p:nvPr>
            <p:ph type="sldNum" idx="2"/>
          </p:nvPr>
        </p:nvSpPr>
        <p:spPr/>
        <p:txBody>
          <a:bodyPr/>
          <a:p>
            <a:fld id="{E570C4ED-5AD7-4A56-833A-3ED56E862339}"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Título 4"/>
          <p:cNvSpPr/>
          <p:nvPr/>
        </p:nvSpPr>
        <p:spPr>
          <a:xfrm>
            <a:off x="838080" y="365040"/>
            <a:ext cx="992988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4400" spc="-1" strike="noStrike">
                <a:solidFill>
                  <a:srgbClr val="000000"/>
                </a:solidFill>
                <a:latin typeface="Arial"/>
                <a:ea typeface="DejaVu Sans"/>
              </a:rPr>
              <a:t>DNS Hijacking – </a:t>
            </a:r>
            <a:r>
              <a:rPr b="1" lang="es-ES" sz="4400" spc="-1" strike="noStrike">
                <a:solidFill>
                  <a:srgbClr val="c9211e"/>
                </a:solidFill>
                <a:latin typeface="Arial"/>
                <a:ea typeface="DejaVu Sans"/>
              </a:rPr>
              <a:t>secuestro local</a:t>
            </a:r>
            <a:endParaRPr b="0" lang="es-ES" sz="4400" spc="-1" strike="noStrike">
              <a:solidFill>
                <a:srgbClr val="000000"/>
              </a:solidFill>
              <a:latin typeface="Arial"/>
            </a:endParaRPr>
          </a:p>
        </p:txBody>
      </p:sp>
      <p:sp>
        <p:nvSpPr>
          <p:cNvPr id="198" name=""/>
          <p:cNvSpPr/>
          <p:nvPr/>
        </p:nvSpPr>
        <p:spPr>
          <a:xfrm>
            <a:off x="586440" y="1620000"/>
            <a:ext cx="10392480" cy="347616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Solo afectará al dispositivo u ordenador cuya configuración de resolución de direcciones haya sido modificada.</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Generalmente suele ocurrir a causa de infecciones de malware, troyanos y similares.</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¿Causa? Puede ser la descarga de una aplicación desde una página no oficial, aunque en la práctica, los ciberdelincuentes recurren a dos tecnologías mucho más comunes: el </a:t>
            </a:r>
            <a:r>
              <a:rPr b="1" lang="es-ES" sz="2000" spc="-1" strike="noStrike">
                <a:solidFill>
                  <a:srgbClr val="000000"/>
                </a:solidFill>
                <a:latin typeface="Arial"/>
                <a:ea typeface="DejaVu Sans"/>
              </a:rPr>
              <a:t>phishing</a:t>
            </a:r>
            <a:r>
              <a:rPr b="0" lang="es-ES" sz="2000" spc="-1" strike="noStrike">
                <a:solidFill>
                  <a:srgbClr val="000000"/>
                </a:solidFill>
                <a:latin typeface="Arial"/>
                <a:ea typeface="DejaVu Sans"/>
              </a:rPr>
              <a:t> y el </a:t>
            </a:r>
            <a:r>
              <a:rPr b="1" lang="es-ES" sz="2000" spc="-1" strike="noStrike">
                <a:solidFill>
                  <a:srgbClr val="000000"/>
                </a:solidFill>
                <a:latin typeface="Arial"/>
                <a:ea typeface="DejaVu Sans"/>
              </a:rPr>
              <a:t>pharming</a:t>
            </a:r>
            <a:r>
              <a:rPr b="0" lang="es-ES" sz="2000" spc="-1" strike="noStrike">
                <a:solidFill>
                  <a:srgbClr val="000000"/>
                </a:solidFill>
                <a:latin typeface="Arial"/>
                <a:ea typeface="DejaVu Sans"/>
              </a:rPr>
              <a:t>.</a:t>
            </a:r>
            <a:endParaRPr b="0" lang="es-ES" sz="2000" spc="-1" strike="noStrike">
              <a:solidFill>
                <a:srgbClr val="000000"/>
              </a:solidFill>
              <a:latin typeface="Arial"/>
            </a:endParaRPr>
          </a:p>
          <a:p>
            <a:pPr>
              <a:lnSpc>
                <a:spcPct val="100000"/>
              </a:lnSpc>
            </a:pPr>
            <a:endParaRPr b="0" lang="es-ES" sz="2000" spc="-1" strike="noStrike">
              <a:solidFill>
                <a:srgbClr val="000000"/>
              </a:solidFill>
              <a:latin typeface="Arial"/>
            </a:endParaRPr>
          </a:p>
        </p:txBody>
      </p:sp>
      <p:sp>
        <p:nvSpPr>
          <p:cNvPr id="2" name="PlaceHolder 1"/>
          <p:cNvSpPr>
            <a:spLocks noGrp="1"/>
          </p:cNvSpPr>
          <p:nvPr>
            <p:ph type="sldNum" idx="2"/>
          </p:nvPr>
        </p:nvSpPr>
        <p:spPr/>
        <p:txBody>
          <a:bodyPr/>
          <a:p>
            <a:fld id="{4CA61588-8B8D-48D4-BF69-B471DE42BE91}"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Título 5"/>
          <p:cNvSpPr/>
          <p:nvPr/>
        </p:nvSpPr>
        <p:spPr>
          <a:xfrm>
            <a:off x="838080" y="365040"/>
            <a:ext cx="1032084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4400" spc="-1" strike="noStrike">
                <a:solidFill>
                  <a:srgbClr val="000000"/>
                </a:solidFill>
                <a:latin typeface="Arial"/>
                <a:ea typeface="DejaVu Sans"/>
              </a:rPr>
              <a:t>DNS Hijacking – </a:t>
            </a:r>
            <a:r>
              <a:rPr b="1" lang="es-ES" sz="4400" spc="-1" strike="noStrike">
                <a:solidFill>
                  <a:srgbClr val="c9211e"/>
                </a:solidFill>
                <a:latin typeface="Arial"/>
                <a:ea typeface="DejaVu Sans"/>
              </a:rPr>
              <a:t>secuestro del router</a:t>
            </a:r>
            <a:endParaRPr b="0" lang="es-ES" sz="4400" spc="-1" strike="noStrike">
              <a:solidFill>
                <a:srgbClr val="000000"/>
              </a:solidFill>
              <a:latin typeface="Arial"/>
            </a:endParaRPr>
          </a:p>
        </p:txBody>
      </p:sp>
      <p:sp>
        <p:nvSpPr>
          <p:cNvPr id="200" name=""/>
          <p:cNvSpPr/>
          <p:nvPr/>
        </p:nvSpPr>
        <p:spPr>
          <a:xfrm>
            <a:off x="586440" y="1620000"/>
            <a:ext cx="10392480" cy="347616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Todos los equipos de la red estarán afectados. </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El atacante hace que las peticiones que recibe el router hacia Internet, sean desviadas hacia un servidor controlado por el ciberdelincuente en el cual podrá redirigir el tráfico a páginas fraudulentas o especialmente diseñadas para obtener información personal del usuario.</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Por lo general este tipo de ataques se relaciona con contraseñas establecidas por defecto en los routers y redes WIFI sin seguridad o con bajos niveles de seguridad.</a:t>
            </a:r>
            <a:endParaRPr b="0" lang="es-ES" sz="2000" spc="-1" strike="noStrike">
              <a:solidFill>
                <a:srgbClr val="000000"/>
              </a:solidFill>
              <a:latin typeface="Arial"/>
            </a:endParaRPr>
          </a:p>
        </p:txBody>
      </p:sp>
      <p:sp>
        <p:nvSpPr>
          <p:cNvPr id="2" name="PlaceHolder 1"/>
          <p:cNvSpPr>
            <a:spLocks noGrp="1"/>
          </p:cNvSpPr>
          <p:nvPr>
            <p:ph type="sldNum" idx="2"/>
          </p:nvPr>
        </p:nvSpPr>
        <p:spPr/>
        <p:txBody>
          <a:bodyPr/>
          <a:p>
            <a:fld id="{FC07EF4F-28EB-47C5-AD5C-E768BB369F1C}"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Título 6"/>
          <p:cNvSpPr/>
          <p:nvPr/>
        </p:nvSpPr>
        <p:spPr>
          <a:xfrm>
            <a:off x="360000" y="365040"/>
            <a:ext cx="1097892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4400" spc="-1" strike="noStrike">
                <a:solidFill>
                  <a:srgbClr val="000000"/>
                </a:solidFill>
                <a:latin typeface="Arial"/>
                <a:ea typeface="DejaVu Sans"/>
              </a:rPr>
              <a:t>DNS Hijacking – </a:t>
            </a:r>
            <a:r>
              <a:rPr b="1" lang="es-ES" sz="4400" spc="-1" strike="noStrike">
                <a:solidFill>
                  <a:srgbClr val="c9211e"/>
                </a:solidFill>
                <a:latin typeface="Arial"/>
                <a:ea typeface="DejaVu Sans"/>
              </a:rPr>
              <a:t>secuestro del servidor</a:t>
            </a:r>
            <a:endParaRPr b="0" lang="es-ES" sz="4400" spc="-1" strike="noStrike">
              <a:solidFill>
                <a:srgbClr val="000000"/>
              </a:solidFill>
              <a:latin typeface="Arial"/>
            </a:endParaRPr>
          </a:p>
        </p:txBody>
      </p:sp>
      <p:sp>
        <p:nvSpPr>
          <p:cNvPr id="202" name=""/>
          <p:cNvSpPr/>
          <p:nvPr/>
        </p:nvSpPr>
        <p:spPr>
          <a:xfrm>
            <a:off x="720000" y="1980000"/>
            <a:ext cx="10438920" cy="34189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Si el ataque ha sido contra el servidor de DNS que atiende peticiones en Internet a nivel global, los equipos locales no estarán directamente afectados pero podrían ser redirigidos a páginas fraudulentas como si fueran legítimas (phishing), o a páginas con alto contenido publicitario ( pharming). </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Se centra en solicitudes concretas y mejor elaboradas que generalmente no suelen suceder, ya que la seguridad de estos servidores es extremadamente alta y las penas legales son de gran importancia, disuadiendo a la mayoría de atacantes, aun así, siempre debemos estar atentos al comportamiento de nuestro navegador e implementar medidas adicionales con herramientas de terceros.</a:t>
            </a:r>
            <a:endParaRPr b="0" lang="es-ES" sz="2000" spc="-1" strike="noStrike">
              <a:solidFill>
                <a:srgbClr val="000000"/>
              </a:solidFill>
              <a:latin typeface="Arial"/>
            </a:endParaRPr>
          </a:p>
          <a:p>
            <a:pPr>
              <a:lnSpc>
                <a:spcPct val="100000"/>
              </a:lnSpc>
            </a:pPr>
            <a:endParaRPr b="0" lang="es-ES" sz="1000" spc="-1" strike="noStrike">
              <a:solidFill>
                <a:srgbClr val="000000"/>
              </a:solidFill>
              <a:latin typeface="Arial"/>
            </a:endParaRPr>
          </a:p>
        </p:txBody>
      </p:sp>
      <p:sp>
        <p:nvSpPr>
          <p:cNvPr id="2" name="PlaceHolder 1"/>
          <p:cNvSpPr>
            <a:spLocks noGrp="1"/>
          </p:cNvSpPr>
          <p:nvPr>
            <p:ph type="sldNum" idx="2"/>
          </p:nvPr>
        </p:nvSpPr>
        <p:spPr/>
        <p:txBody>
          <a:bodyPr/>
          <a:p>
            <a:fld id="{5D63B742-F43E-4CD4-8D5B-D7F6F820CD70}"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Título 7"/>
          <p:cNvSpPr/>
          <p:nvPr/>
        </p:nvSpPr>
        <p:spPr>
          <a:xfrm>
            <a:off x="360000" y="365040"/>
            <a:ext cx="1097892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4400" spc="-1" strike="noStrike">
                <a:solidFill>
                  <a:srgbClr val="000000"/>
                </a:solidFill>
                <a:latin typeface="Arial"/>
                <a:ea typeface="DejaVu Sans"/>
              </a:rPr>
              <a:t>DNS Hijacking – </a:t>
            </a:r>
            <a:r>
              <a:rPr b="1" lang="es-ES" sz="4400" spc="-1" strike="noStrike">
                <a:solidFill>
                  <a:srgbClr val="ff00ff"/>
                </a:solidFill>
                <a:latin typeface="Arial"/>
                <a:ea typeface="DejaVu Sans"/>
              </a:rPr>
              <a:t>protección</a:t>
            </a:r>
            <a:endParaRPr b="0" lang="es-ES" sz="4400" spc="-1" strike="noStrike">
              <a:solidFill>
                <a:srgbClr val="000000"/>
              </a:solidFill>
              <a:latin typeface="Arial"/>
            </a:endParaRPr>
          </a:p>
        </p:txBody>
      </p:sp>
      <p:sp>
        <p:nvSpPr>
          <p:cNvPr id="204" name=""/>
          <p:cNvSpPr/>
          <p:nvPr/>
        </p:nvSpPr>
        <p:spPr>
          <a:xfrm>
            <a:off x="0" y="1440000"/>
            <a:ext cx="12231360" cy="512136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624"/>
              </a:spcBef>
              <a:spcAft>
                <a:spcPts val="425"/>
              </a:spcAft>
              <a:buClr>
                <a:srgbClr val="000000"/>
              </a:buClr>
              <a:buSzPct val="45000"/>
              <a:buFont typeface="Wingdings" charset="2"/>
              <a:buChar char=""/>
            </a:pPr>
            <a:r>
              <a:rPr b="0" lang="es-ES" sz="2000" spc="-1" strike="noStrike">
                <a:solidFill>
                  <a:srgbClr val="000000"/>
                </a:solidFill>
                <a:latin typeface="Arial"/>
                <a:ea typeface="DejaVu Sans"/>
              </a:rPr>
              <a:t>Instalar antivirus, antimalware y antiphising.</a:t>
            </a:r>
            <a:endParaRPr b="0" lang="es-ES" sz="20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2000" spc="-1" strike="noStrike">
                <a:solidFill>
                  <a:srgbClr val="000000"/>
                </a:solidFill>
                <a:latin typeface="Arial"/>
                <a:ea typeface="DejaVu Sans"/>
              </a:rPr>
              <a:t>Tener control de nuestro router</a:t>
            </a:r>
            <a:endParaRPr b="0" lang="es-ES" sz="20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2000" spc="-1" strike="noStrike">
                <a:solidFill>
                  <a:srgbClr val="000000"/>
                </a:solidFill>
                <a:latin typeface="Arial"/>
                <a:ea typeface="DejaVu Sans"/>
              </a:rPr>
              <a:t>Poner el router nuestro ISP en modo puente y utilizar nuestro DNS, podría evitar que el ISP nos hiciera DNS hijacking para redirigirnos a páginas con publicidad cuando la web solicitada no se encuentre o dé un error, sin olvidarnos de revisar de forma periódica que el DNS que está utilizando nuestro router no han sido modificadas.</a:t>
            </a:r>
            <a:endParaRPr b="0" lang="es-ES" sz="20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2000" spc="-1" strike="noStrike">
                <a:solidFill>
                  <a:srgbClr val="000000"/>
                </a:solidFill>
                <a:latin typeface="Arial"/>
                <a:ea typeface="DejaVu Sans"/>
              </a:rPr>
              <a:t>Actualizar el firmware y S.O. del router para evitar vulnerabilidades.</a:t>
            </a:r>
            <a:endParaRPr b="0" lang="es-ES" sz="20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2000" spc="-1" strike="noStrike">
                <a:solidFill>
                  <a:srgbClr val="000000"/>
                </a:solidFill>
                <a:latin typeface="Arial"/>
                <a:ea typeface="DejaVu Sans"/>
              </a:rPr>
              <a:t>Cambiar los datos de acceso por defecto al router manteniendo una política de contraseñas robustas.</a:t>
            </a:r>
            <a:endParaRPr b="0" lang="es-ES" sz="20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2000" spc="-1" strike="noStrike">
                <a:solidFill>
                  <a:srgbClr val="000000"/>
                </a:solidFill>
                <a:latin typeface="Arial"/>
                <a:ea typeface="DejaVu Sans"/>
              </a:rPr>
              <a:t>Utilizar servidores DNS seguros, es decir, sobre HTTPS o sobre TLS, los cuales mandan las peticiones cifradas, siendo más difícil suplantar la identidad.</a:t>
            </a:r>
            <a:endParaRPr b="0" lang="es-ES" sz="20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2000" spc="-1" strike="noStrike">
                <a:solidFill>
                  <a:srgbClr val="000000"/>
                </a:solidFill>
                <a:latin typeface="Arial"/>
                <a:ea typeface="DejaVu Sans"/>
              </a:rPr>
              <a:t>Descargar aplicaciones solo desde las páginas oficiales, las cuales suelen contar con un certificado de seguridad HTTPS.</a:t>
            </a:r>
            <a:endParaRPr b="0" lang="es-ES" sz="20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2000" spc="-1" strike="noStrike">
                <a:solidFill>
                  <a:srgbClr val="000000"/>
                </a:solidFill>
                <a:latin typeface="Arial"/>
                <a:ea typeface="DejaVu Sans"/>
              </a:rPr>
              <a:t>No clicar en enlaces extraños, ni acceder a páginas dudosas, etc., etc.</a:t>
            </a:r>
            <a:endParaRPr b="0" lang="es-ES" sz="2000" spc="-1" strike="noStrike">
              <a:solidFill>
                <a:srgbClr val="000000"/>
              </a:solidFill>
              <a:latin typeface="Arial"/>
            </a:endParaRPr>
          </a:p>
          <a:p>
            <a:pPr>
              <a:lnSpc>
                <a:spcPct val="100000"/>
              </a:lnSpc>
              <a:spcBef>
                <a:spcPts val="624"/>
              </a:spcBef>
              <a:spcAft>
                <a:spcPts val="425"/>
              </a:spcAft>
            </a:pPr>
            <a:endParaRPr b="0" lang="es-ES" sz="2000" spc="-1" strike="noStrike">
              <a:solidFill>
                <a:srgbClr val="000000"/>
              </a:solidFill>
              <a:latin typeface="Arial"/>
            </a:endParaRPr>
          </a:p>
        </p:txBody>
      </p:sp>
      <p:sp>
        <p:nvSpPr>
          <p:cNvPr id="2" name="PlaceHolder 1"/>
          <p:cNvSpPr>
            <a:spLocks noGrp="1"/>
          </p:cNvSpPr>
          <p:nvPr>
            <p:ph type="sldNum" idx="2"/>
          </p:nvPr>
        </p:nvSpPr>
        <p:spPr/>
        <p:txBody>
          <a:bodyPr/>
          <a:p>
            <a:fld id="{CEB4E8E9-0D58-479B-9A00-D4B171A00F1F}"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Título 8"/>
          <p:cNvSpPr/>
          <p:nvPr/>
        </p:nvSpPr>
        <p:spPr>
          <a:xfrm>
            <a:off x="360000" y="365040"/>
            <a:ext cx="1097892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4400" spc="-1" strike="noStrike">
                <a:solidFill>
                  <a:srgbClr val="000000"/>
                </a:solidFill>
                <a:latin typeface="Arial"/>
                <a:ea typeface="DejaVu Sans"/>
              </a:rPr>
              <a:t>¿Soy víctima de DNS - hijacking?</a:t>
            </a:r>
            <a:endParaRPr b="0" lang="es-ES" sz="4400" spc="-1" strike="noStrike">
              <a:solidFill>
                <a:srgbClr val="000000"/>
              </a:solidFill>
              <a:latin typeface="Arial"/>
            </a:endParaRPr>
          </a:p>
        </p:txBody>
      </p:sp>
      <p:sp>
        <p:nvSpPr>
          <p:cNvPr id="206" name=""/>
          <p:cNvSpPr/>
          <p:nvPr/>
        </p:nvSpPr>
        <p:spPr>
          <a:xfrm>
            <a:off x="360000" y="1800000"/>
            <a:ext cx="10798920" cy="39589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Comprobar el archivo hosts de nuestro equipo y ver las entradas que contiene (si contiene alguna) y si la IP y el nombre del dominio guardan relación y son coherentes.</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Comprobar en el router los ajustes DNS. </a:t>
            </a:r>
            <a:endParaRPr b="0" lang="es-ES" sz="2000" spc="-1" strike="noStrike">
              <a:solidFill>
                <a:srgbClr val="000000"/>
              </a:solidFill>
              <a:latin typeface="Arial"/>
            </a:endParaRPr>
          </a:p>
          <a:p>
            <a:pPr lvl="1" marL="432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Accedemos al router y buscamos bajo el apartado WAN, donde podremos comprobar si las direcciones IP que figuran son las que nos ha proporcionado nuestro proveedor o las que hemos puesto nosotros, si no coinciden, podemos cambiarlas, sin olvidar también cambiar la contraseña del router para evitar que el mismo atacante las cambie de nuevo.</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También existen en la red servicios de verificación de los nombres de dominio, que aunque no son siempre fiables, y en ocasiones sus resultados no son concluyentes, pueden ser de ayuda en algunos casos.</a:t>
            </a:r>
            <a:endParaRPr b="0" lang="es-ES" sz="2000" spc="-1" strike="noStrike">
              <a:solidFill>
                <a:srgbClr val="000000"/>
              </a:solidFill>
              <a:latin typeface="Arial"/>
            </a:endParaRPr>
          </a:p>
        </p:txBody>
      </p:sp>
      <p:sp>
        <p:nvSpPr>
          <p:cNvPr id="2" name="PlaceHolder 1"/>
          <p:cNvSpPr>
            <a:spLocks noGrp="1"/>
          </p:cNvSpPr>
          <p:nvPr>
            <p:ph type="sldNum" idx="2"/>
          </p:nvPr>
        </p:nvSpPr>
        <p:spPr/>
        <p:txBody>
          <a:bodyPr/>
          <a:p>
            <a:fld id="{6BDC1AED-58D3-4B4D-A604-776F532ABC42}"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
          <p:cNvSpPr/>
          <p:nvPr/>
        </p:nvSpPr>
        <p:spPr>
          <a:xfrm>
            <a:off x="540000" y="1440000"/>
            <a:ext cx="10799640" cy="4339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2000" spc="-1" strike="noStrike">
                <a:solidFill>
                  <a:srgbClr val="000000"/>
                </a:solidFill>
                <a:latin typeface="Arial"/>
              </a:rPr>
              <a:t>El envenenamiento de caché de DNS consiste en introducir información falsa en una caché DNS, para que las consultas de DNS devuelvan una respuesta incorrecta y se dirija a los usuarios a sitios web equivocados. </a:t>
            </a:r>
            <a:endParaRPr b="0" lang="es-ES" sz="2000" spc="-1" strike="noStrike">
              <a:solidFill>
                <a:srgbClr val="000000"/>
              </a:solidFill>
              <a:latin typeface="Arial"/>
            </a:endParaRPr>
          </a:p>
          <a:p>
            <a:pPr>
              <a:lnSpc>
                <a:spcPct val="100000"/>
              </a:lnSpc>
            </a:pPr>
            <a:endParaRPr b="0" lang="es-ES" sz="20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s-ES" sz="2000" spc="-1" strike="noStrike">
                <a:solidFill>
                  <a:srgbClr val="000000"/>
                </a:solidFill>
                <a:latin typeface="Arial"/>
              </a:rPr>
              <a:t>Los solucionadores o resolvers de DNS no tienen cómo verificar los datos en sus cachés.</a:t>
            </a:r>
            <a:br>
              <a:rPr sz="2000"/>
            </a:br>
            <a:r>
              <a:rPr b="0" lang="es-ES" sz="2000" spc="-1" strike="noStrike">
                <a:solidFill>
                  <a:srgbClr val="000000"/>
                </a:solidFill>
                <a:latin typeface="Arial"/>
              </a:rPr>
              <a:t> </a:t>
            </a:r>
            <a:endParaRPr b="0" lang="es-ES" sz="20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s-ES" sz="2000" spc="-1" strike="noStrike">
                <a:solidFill>
                  <a:srgbClr val="000000"/>
                </a:solidFill>
                <a:latin typeface="Arial"/>
              </a:rPr>
              <a:t>La información DNS incorrecta permanecerá en la caché hasta que caduque el time to live (TTL) o hasta que se elimine manualmente. </a:t>
            </a:r>
            <a:br>
              <a:rPr sz="2000"/>
            </a:br>
            <a:r>
              <a:rPr b="0" lang="es-ES" sz="2000" spc="-1" strike="noStrike">
                <a:solidFill>
                  <a:srgbClr val="000000"/>
                </a:solidFill>
                <a:latin typeface="Arial"/>
              </a:rPr>
              <a:t> </a:t>
            </a:r>
            <a:endParaRPr b="0" lang="es-ES" sz="20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s-ES" sz="2000" spc="-1" strike="noStrike">
                <a:solidFill>
                  <a:srgbClr val="000000"/>
                </a:solidFill>
                <a:latin typeface="Arial"/>
              </a:rPr>
              <a:t>Los atacantes envenenan las cachés de DNS haciéndose pasar por servidores DNS, haciendo una solicitud a un solucionador DNS y a continuación falsificando la respuestas cuando el solucionador de DNS consulta a un servidor de nombres. </a:t>
            </a:r>
            <a:endParaRPr b="0" lang="es-ES" sz="2000" spc="-1" strike="noStrike">
              <a:solidFill>
                <a:srgbClr val="000000"/>
              </a:solidFill>
              <a:latin typeface="Arial"/>
            </a:endParaRPr>
          </a:p>
          <a:p>
            <a:pPr>
              <a:lnSpc>
                <a:spcPct val="100000"/>
              </a:lnSpc>
            </a:pPr>
            <a:endParaRPr b="0" lang="es-ES" sz="20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s-ES" sz="2000" spc="-1" strike="noStrike">
                <a:solidFill>
                  <a:srgbClr val="e300e3"/>
                </a:solidFill>
                <a:latin typeface="Arial"/>
              </a:rPr>
              <a:t>Esto es posible porque los servidores DNS usan UDP en lugar de TCP y porque actualmente no hay verificación de la información DNS.</a:t>
            </a:r>
            <a:endParaRPr b="0" lang="es-ES" sz="2000" spc="-1" strike="noStrike">
              <a:solidFill>
                <a:srgbClr val="000000"/>
              </a:solidFill>
              <a:latin typeface="Arial"/>
            </a:endParaRPr>
          </a:p>
        </p:txBody>
      </p:sp>
      <p:sp>
        <p:nvSpPr>
          <p:cNvPr id="208" name="Título 1"/>
          <p:cNvSpPr/>
          <p:nvPr/>
        </p:nvSpPr>
        <p:spPr>
          <a:xfrm>
            <a:off x="360000" y="365040"/>
            <a:ext cx="1183176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4000" spc="-1" strike="noStrike">
                <a:solidFill>
                  <a:srgbClr val="000000"/>
                </a:solidFill>
                <a:latin typeface="Arial"/>
                <a:ea typeface="DejaVu Sans"/>
              </a:rPr>
              <a:t>DNS Spoofing – suplantación - envenenamiento</a:t>
            </a:r>
            <a:endParaRPr b="0" lang="es-ES" sz="4000" spc="-1" strike="noStrike">
              <a:solidFill>
                <a:srgbClr val="000000"/>
              </a:solidFill>
              <a:latin typeface="Arial"/>
            </a:endParaRPr>
          </a:p>
        </p:txBody>
      </p:sp>
      <p:sp>
        <p:nvSpPr>
          <p:cNvPr id="209" name=""/>
          <p:cNvSpPr/>
          <p:nvPr/>
        </p:nvSpPr>
        <p:spPr>
          <a:xfrm>
            <a:off x="1800000" y="6120000"/>
            <a:ext cx="6987960" cy="346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a:solidFill>
                  <a:srgbClr val="000000"/>
                </a:solidFill>
                <a:latin typeface="Arial"/>
              </a:rPr>
              <a:t>https://www.cloudflare.com/es-es/learning/dns/dns-cache-poisoning</a:t>
            </a:r>
            <a:endParaRPr b="0" lang="es-ES" sz="1800" spc="-1" strike="noStrike">
              <a:solidFill>
                <a:srgbClr val="000000"/>
              </a:solidFill>
              <a:latin typeface="Arial"/>
            </a:endParaRPr>
          </a:p>
        </p:txBody>
      </p:sp>
      <p:sp>
        <p:nvSpPr>
          <p:cNvPr id="2" name="PlaceHolder 1"/>
          <p:cNvSpPr>
            <a:spLocks noGrp="1"/>
          </p:cNvSpPr>
          <p:nvPr>
            <p:ph type="sldNum" idx="2"/>
          </p:nvPr>
        </p:nvSpPr>
        <p:spPr/>
        <p:txBody>
          <a:bodyPr/>
          <a:p>
            <a:fld id="{08387183-08F6-4924-BAFF-154EFC1A147E}"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 descr=""/>
          <p:cNvPicPr/>
          <p:nvPr/>
        </p:nvPicPr>
        <p:blipFill>
          <a:blip r:embed="rId1"/>
          <a:stretch/>
        </p:blipFill>
        <p:spPr>
          <a:xfrm>
            <a:off x="1325520" y="0"/>
            <a:ext cx="9560880" cy="6857280"/>
          </a:xfrm>
          <a:prstGeom prst="rect">
            <a:avLst/>
          </a:prstGeom>
          <a:ln w="0">
            <a:noFill/>
          </a:ln>
        </p:spPr>
      </p:pic>
      <p:sp>
        <p:nvSpPr>
          <p:cNvPr id="211" name=""/>
          <p:cNvSpPr/>
          <p:nvPr/>
        </p:nvSpPr>
        <p:spPr>
          <a:xfrm>
            <a:off x="180000" y="2520000"/>
            <a:ext cx="1979640" cy="1439640"/>
          </a:xfrm>
          <a:prstGeom prst="rect">
            <a:avLst/>
          </a:prstGeom>
          <a:solidFill>
            <a:srgbClr val="fffffe"/>
          </a:solidFill>
          <a:ln w="0">
            <a:solidFill>
              <a:srgbClr val="ffffff"/>
            </a:solidFill>
          </a:ln>
        </p:spPr>
        <p:style>
          <a:lnRef idx="0"/>
          <a:fillRef idx="0"/>
          <a:effectRef idx="0"/>
          <a:fontRef idx="minor"/>
        </p:style>
        <p:txBody>
          <a:bodyPr lIns="90000" rIns="90000" tIns="45000" bIns="45000" anchor="ctr">
            <a:noAutofit/>
          </a:bodyPr>
          <a:p>
            <a:pPr algn="ctr">
              <a:lnSpc>
                <a:spcPct val="100000"/>
              </a:lnSpc>
            </a:pPr>
            <a:r>
              <a:rPr b="0" lang="es-ES" sz="1800" spc="-1" strike="noStrike">
                <a:solidFill>
                  <a:srgbClr val="000000"/>
                </a:solidFill>
                <a:latin typeface="Arial"/>
                <a:ea typeface="DejaVu Sans"/>
              </a:rPr>
              <a:t>Tomado de Cloudflare</a:t>
            </a:r>
            <a:endParaRPr b="0" lang="es-ES" sz="1800" spc="-1" strike="noStrike">
              <a:solidFill>
                <a:srgbClr val="000000"/>
              </a:solidFill>
              <a:latin typeface="Arial"/>
            </a:endParaRPr>
          </a:p>
        </p:txBody>
      </p:sp>
      <p:sp>
        <p:nvSpPr>
          <p:cNvPr id="2" name="PlaceHolder 1"/>
          <p:cNvSpPr>
            <a:spLocks noGrp="1"/>
          </p:cNvSpPr>
          <p:nvPr>
            <p:ph type="sldNum" idx="2"/>
          </p:nvPr>
        </p:nvSpPr>
        <p:spPr/>
        <p:txBody>
          <a:bodyPr/>
          <a:p>
            <a:fld id="{77312CD5-E041-4A64-98C9-3B5CAB62A57B}"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838080" y="36504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DNS – UDP </a:t>
            </a:r>
            <a:endParaRPr b="0" lang="es-ES" sz="3000" spc="-1" strike="noStrike">
              <a:solidFill>
                <a:srgbClr val="000000"/>
              </a:solidFill>
              <a:latin typeface="Arial"/>
            </a:endParaRPr>
          </a:p>
        </p:txBody>
      </p:sp>
      <p:sp>
        <p:nvSpPr>
          <p:cNvPr id="213" name="PlaceHolder 2"/>
          <p:cNvSpPr>
            <a:spLocks noGrp="1"/>
          </p:cNvSpPr>
          <p:nvPr>
            <p:ph/>
          </p:nvPr>
        </p:nvSpPr>
        <p:spPr>
          <a:xfrm>
            <a:off x="360000" y="1440000"/>
            <a:ext cx="11519640" cy="5579640"/>
          </a:xfrm>
          <a:prstGeom prst="rect">
            <a:avLst/>
          </a:prstGeom>
          <a:noFill/>
          <a:ln w="0">
            <a:noFill/>
          </a:ln>
        </p:spPr>
        <p:txBody>
          <a:bodyPr lIns="90000" rIns="90000" tIns="45000" bIns="45000" anchor="t">
            <a:noAutofit/>
          </a:bodyPr>
          <a:p>
            <a:pPr marL="216000" indent="-216000">
              <a:lnSpc>
                <a:spcPct val="90000"/>
              </a:lnSpc>
              <a:spcBef>
                <a:spcPts val="1417"/>
              </a:spcBef>
              <a:buClr>
                <a:srgbClr val="000000"/>
              </a:buClr>
              <a:buSzPct val="45000"/>
              <a:buFont typeface="Wingdings" charset="2"/>
              <a:buChar char=""/>
              <a:tabLst>
                <a:tab algn="l" pos="0"/>
              </a:tabLst>
            </a:pPr>
            <a:r>
              <a:rPr b="0" lang="es-ES" sz="2000" spc="-1" strike="noStrike">
                <a:solidFill>
                  <a:srgbClr val="000000"/>
                </a:solidFill>
                <a:latin typeface="Calibri"/>
              </a:rPr>
              <a:t>El DNS se creó en la primera etapa de Internet, cuando solo universidades y centros de investigación tenían acceso al mismo. No existía razón para prever que alguien intentara difundir información falsa de DNS.</a:t>
            </a:r>
            <a:endParaRPr b="0" lang="es-ES" sz="2000" spc="-1" strike="noStrike">
              <a:solidFill>
                <a:srgbClr val="000000"/>
              </a:solidFill>
              <a:latin typeface="Arial"/>
            </a:endParaRPr>
          </a:p>
          <a:p>
            <a:pPr marL="216000" indent="0">
              <a:lnSpc>
                <a:spcPct val="90000"/>
              </a:lnSpc>
              <a:spcBef>
                <a:spcPts val="1001"/>
              </a:spcBef>
              <a:buNone/>
              <a:tabLst>
                <a:tab algn="l" pos="0"/>
              </a:tabLst>
            </a:pP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Las solicitudes y respuestas de DNS utilizan UDP. </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UDP no brinda garantía de que una conexión esté abierta o de que el destinatario esté listo para recibir. Por esta razón, UDP es vulnerable a las falsificaciones</a:t>
            </a:r>
            <a:endParaRPr b="0" lang="es-ES" sz="2000" spc="-1" strike="noStrike">
              <a:solidFill>
                <a:srgbClr val="000000"/>
              </a:solidFill>
              <a:latin typeface="Arial"/>
            </a:endParaRPr>
          </a:p>
          <a:p>
            <a:pPr lvl="1" marL="432000" indent="-216000">
              <a:lnSpc>
                <a:spcPct val="90000"/>
              </a:lnSpc>
              <a:spcBef>
                <a:spcPts val="1134"/>
              </a:spcBef>
              <a:buClr>
                <a:srgbClr val="000000"/>
              </a:buClr>
              <a:buSzPct val="45000"/>
              <a:buFont typeface="Wingdings" charset="2"/>
              <a:buChar char=""/>
              <a:tabLst>
                <a:tab algn="l" pos="0"/>
              </a:tabLst>
            </a:pPr>
            <a:r>
              <a:rPr b="0" lang="es-ES" sz="2000" spc="-1" strike="noStrike">
                <a:solidFill>
                  <a:srgbClr val="000000"/>
                </a:solidFill>
                <a:latin typeface="Calibri"/>
              </a:rPr>
              <a:t>Un atacante puede enviar un mensaje mediante UDP y hacer que parezca una respuesta de un servidor legítimo mediante la falsificación de datos de encabezado.</a:t>
            </a:r>
            <a:endParaRPr b="0" lang="es-ES" sz="2000" spc="-1" strike="noStrike">
              <a:solidFill>
                <a:srgbClr val="000000"/>
              </a:solidFill>
              <a:latin typeface="Arial"/>
            </a:endParaRPr>
          </a:p>
          <a:p>
            <a:pPr marL="216000" indent="-216000">
              <a:lnSpc>
                <a:spcPct val="90000"/>
              </a:lnSpc>
              <a:spcBef>
                <a:spcPts val="1417"/>
              </a:spcBef>
              <a:buClr>
                <a:srgbClr val="000000"/>
              </a:buClr>
              <a:buSzPct val="45000"/>
              <a:buFont typeface="Wingdings" charset="2"/>
              <a:buChar char=""/>
              <a:tabLst>
                <a:tab algn="l" pos="0"/>
              </a:tabLst>
            </a:pPr>
            <a:r>
              <a:rPr b="0" lang="es-ES" sz="2000" spc="-1" strike="noStrike">
                <a:solidFill>
                  <a:srgbClr val="000000"/>
                </a:solidFill>
                <a:latin typeface="Calibri"/>
              </a:rPr>
              <a:t>Si un solucionador DNS recibe una respuesta falsificada, la acepta y almacena en caché, ya que no es posible verificar si la información es precisa y viene de una fuente legítima. </a:t>
            </a: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ECB05900-A017-4558-A1C3-25C623300D31}"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El DNS y los ataques</a:t>
            </a:r>
            <a:endParaRPr b="0" lang="es-ES" sz="3000" spc="-1" strike="noStrike">
              <a:solidFill>
                <a:srgbClr val="000000"/>
              </a:solidFill>
              <a:latin typeface="Arial"/>
            </a:endParaRPr>
          </a:p>
        </p:txBody>
      </p:sp>
      <p:sp>
        <p:nvSpPr>
          <p:cNvPr id="215" name="PlaceHolder 2"/>
          <p:cNvSpPr>
            <a:spLocks noGrp="1"/>
          </p:cNvSpPr>
          <p:nvPr>
            <p:ph/>
          </p:nvPr>
        </p:nvSpPr>
        <p:spPr>
          <a:xfrm>
            <a:off x="180000" y="1440000"/>
            <a:ext cx="11519640" cy="5039640"/>
          </a:xfrm>
          <a:prstGeom prst="rect">
            <a:avLst/>
          </a:prstGeom>
          <a:noFill/>
          <a:ln w="0">
            <a:noFill/>
          </a:ln>
        </p:spPr>
        <p:txBody>
          <a:bodyPr lIns="90000" rIns="90000" tIns="45000" bIns="45000" anchor="t">
            <a:noAutofit/>
          </a:bodyPr>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Pese a las vulnerabilidades en el proceso de almacenamiento caché de DNS, los ataques de envenenamiento de DNS no son sencillos. </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Como el solucionador de DNS hace realmente la consulta al servidor de nombres autoritativos, los atacantes solo disponen de unas milésimas de segundo para enviar la respuesta falsa, antes de que llegue la respuesta real desde el servidor de nombres autoritativos.</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El atacante tiene que saber o “adivinar” una serie de factores para poder lanzar un ataque de suplantación de DNS:</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¿Qué consultas de DNS no están almacenadas en la caché por el solucionador de DNS al que quieren atacar? </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¿Qué puerto está usando el solucionador de DNS? ellos solían usar el mismo puerto para cada consulta, pero ahora usan cada vez un puerto aleatorio diferente</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El número de ID de solicitud</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A qué servidor de nombres autoritativos irá la consulta.</a:t>
            </a: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3CC0720D-006B-412E-99FC-86874F710A16}"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799920" y="2354400"/>
            <a:ext cx="10971720" cy="1144080"/>
          </a:xfrm>
          <a:prstGeom prst="rect">
            <a:avLst/>
          </a:prstGeom>
          <a:noFill/>
          <a:ln w="0">
            <a:noFill/>
          </a:ln>
        </p:spPr>
        <p:txBody>
          <a:bodyPr lIns="0" rIns="0" tIns="0" bIns="0" anchor="ctr">
            <a:noAutofit/>
          </a:bodyPr>
          <a:p>
            <a:pPr indent="0" algn="ctr">
              <a:lnSpc>
                <a:spcPct val="100000"/>
              </a:lnSpc>
              <a:buNone/>
              <a:tabLst>
                <a:tab algn="l" pos="0"/>
              </a:tabLst>
            </a:pPr>
            <a:r>
              <a:rPr b="0" lang="es-ES" sz="4400" spc="-1" strike="noStrike">
                <a:solidFill>
                  <a:srgbClr val="000000"/>
                </a:solidFill>
                <a:latin typeface="Arial"/>
              </a:rPr>
              <a:t>¿Cómo proteger el DNS?</a:t>
            </a:r>
            <a:endParaRPr b="0" lang="es-ES" sz="4400" spc="-1" strike="noStrike">
              <a:solidFill>
                <a:srgbClr val="000000"/>
              </a:solidFill>
              <a:latin typeface="Arial"/>
            </a:endParaRPr>
          </a:p>
        </p:txBody>
      </p:sp>
      <p:sp>
        <p:nvSpPr>
          <p:cNvPr id="217" name=""/>
          <p:cNvSpPr/>
          <p:nvPr/>
        </p:nvSpPr>
        <p:spPr>
          <a:xfrm>
            <a:off x="3420000" y="3405960"/>
            <a:ext cx="5347800" cy="373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2000" spc="-1" strike="noStrike">
                <a:solidFill>
                  <a:srgbClr val="000000"/>
                </a:solidFill>
                <a:latin typeface="Arial"/>
                <a:ea typeface="DejaVu Sans"/>
              </a:rPr>
              <a:t>capa de seguridad adicional al protocolo DNS</a:t>
            </a:r>
            <a:endParaRPr b="0" lang="es-ES" sz="2000" spc="-1" strike="noStrike">
              <a:solidFill>
                <a:srgbClr val="000000"/>
              </a:solidFill>
              <a:latin typeface="Arial"/>
            </a:endParaRPr>
          </a:p>
        </p:txBody>
      </p:sp>
      <p:sp>
        <p:nvSpPr>
          <p:cNvPr id="3" name="PlaceHolder 2"/>
          <p:cNvSpPr>
            <a:spLocks noGrp="1"/>
          </p:cNvSpPr>
          <p:nvPr>
            <p:ph type="sldNum" idx="4"/>
          </p:nvPr>
        </p:nvSpPr>
        <p:spPr/>
        <p:txBody>
          <a:bodyPr/>
          <a:p>
            <a:fld id="{0FCA3355-A4E8-43BD-8229-0C4EA167F98F}"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609480" y="273600"/>
            <a:ext cx="10971720" cy="1144080"/>
          </a:xfrm>
          <a:prstGeom prst="rect">
            <a:avLst/>
          </a:prstGeom>
          <a:noFill/>
          <a:ln w="0">
            <a:noFill/>
          </a:ln>
        </p:spPr>
        <p:txBody>
          <a:bodyPr lIns="0" rIns="0" tIns="0" bIns="0" anchor="ctr">
            <a:noAutofit/>
          </a:bodyPr>
          <a:p>
            <a:pPr indent="0" algn="ctr">
              <a:lnSpc>
                <a:spcPct val="100000"/>
              </a:lnSpc>
              <a:buNone/>
              <a:tabLst>
                <a:tab algn="l" pos="0"/>
              </a:tabLst>
            </a:pPr>
            <a:r>
              <a:rPr b="0" lang="es-ES" sz="4400" spc="-1" strike="noStrike">
                <a:solidFill>
                  <a:srgbClr val="000000"/>
                </a:solidFill>
                <a:latin typeface="Arial"/>
              </a:rPr>
              <a:t>DNSSEC </a:t>
            </a:r>
            <a:endParaRPr b="0" lang="es-ES" sz="4400" spc="-1" strike="noStrike">
              <a:solidFill>
                <a:srgbClr val="000000"/>
              </a:solidFill>
              <a:latin typeface="Arial"/>
            </a:endParaRPr>
          </a:p>
        </p:txBody>
      </p:sp>
      <p:sp>
        <p:nvSpPr>
          <p:cNvPr id="219" name="PlaceHolder 2"/>
          <p:cNvSpPr>
            <a:spLocks noGrp="1"/>
          </p:cNvSpPr>
          <p:nvPr>
            <p:ph/>
          </p:nvPr>
        </p:nvSpPr>
        <p:spPr>
          <a:xfrm>
            <a:off x="609480" y="1604520"/>
            <a:ext cx="10972080" cy="3976920"/>
          </a:xfrm>
          <a:prstGeom prst="rect">
            <a:avLst/>
          </a:prstGeom>
          <a:noFill/>
          <a:ln w="0">
            <a:noFill/>
          </a:ln>
        </p:spPr>
        <p:txBody>
          <a:bodyPr lIns="0" rIns="0" tIns="0" bIns="0" anchor="t">
            <a:normAutofit fontScale="76000"/>
          </a:bodyPr>
          <a:p>
            <a:pPr marL="328320" indent="-246240">
              <a:lnSpc>
                <a:spcPct val="100000"/>
              </a:lnSpc>
              <a:spcBef>
                <a:spcPts val="1417"/>
              </a:spcBef>
              <a:buClr>
                <a:srgbClr val="000000"/>
              </a:buClr>
              <a:buSzPct val="45000"/>
              <a:buFont typeface="Wingdings" charset="2"/>
              <a:buChar char=""/>
            </a:pPr>
            <a:r>
              <a:rPr b="0" lang="es-ES" sz="3200" spc="-1" strike="noStrike">
                <a:solidFill>
                  <a:srgbClr val="000000"/>
                </a:solidFill>
                <a:latin typeface="Arial"/>
              </a:rPr>
              <a:t>DNSSEC - Domain Name System Security Extensions </a:t>
            </a:r>
            <a:endParaRPr b="0" lang="es-ES" sz="3200" spc="-1" strike="noStrike">
              <a:solidFill>
                <a:srgbClr val="000000"/>
              </a:solidFill>
              <a:latin typeface="Arial"/>
            </a:endParaRPr>
          </a:p>
          <a:p>
            <a:pPr marL="328320" indent="-246240">
              <a:lnSpc>
                <a:spcPct val="100000"/>
              </a:lnSpc>
              <a:spcBef>
                <a:spcPts val="1417"/>
              </a:spcBef>
              <a:buClr>
                <a:srgbClr val="000000"/>
              </a:buClr>
              <a:buSzPct val="45000"/>
              <a:buFont typeface="Wingdings" charset="2"/>
              <a:buChar char=""/>
            </a:pPr>
            <a:r>
              <a:rPr b="0" lang="es-ES" sz="3200" spc="-1" strike="noStrike">
                <a:solidFill>
                  <a:srgbClr val="000000"/>
                </a:solidFill>
                <a:latin typeface="Arial"/>
              </a:rPr>
              <a:t>Es una forma de verificar la integridad de los datos de DNS y su origen.</a:t>
            </a:r>
            <a:endParaRPr b="0" lang="es-ES" sz="3200" spc="-1" strike="noStrike">
              <a:solidFill>
                <a:srgbClr val="000000"/>
              </a:solidFill>
              <a:latin typeface="Arial"/>
            </a:endParaRPr>
          </a:p>
          <a:p>
            <a:pPr marL="328320" indent="-246240">
              <a:lnSpc>
                <a:spcPct val="100000"/>
              </a:lnSpc>
              <a:spcBef>
                <a:spcPts val="1417"/>
              </a:spcBef>
              <a:buClr>
                <a:srgbClr val="000000"/>
              </a:buClr>
              <a:buSzPct val="45000"/>
              <a:buFont typeface="Wingdings" charset="2"/>
              <a:buChar char=""/>
            </a:pPr>
            <a:r>
              <a:rPr b="0" lang="es-ES" sz="3200" spc="-1" strike="noStrike">
                <a:solidFill>
                  <a:srgbClr val="000000"/>
                </a:solidFill>
                <a:latin typeface="Arial"/>
              </a:rPr>
              <a:t>DNS se diseñó originalmente si este tipo de verificación, por ello es posible el envenenamiento de DNS.</a:t>
            </a:r>
            <a:endParaRPr b="0" lang="es-ES" sz="3200" spc="-1" strike="noStrike">
              <a:solidFill>
                <a:srgbClr val="000000"/>
              </a:solidFill>
              <a:latin typeface="Arial"/>
            </a:endParaRPr>
          </a:p>
          <a:p>
            <a:pPr marL="328320" indent="-246240">
              <a:lnSpc>
                <a:spcPct val="100000"/>
              </a:lnSpc>
              <a:spcBef>
                <a:spcPts val="1417"/>
              </a:spcBef>
              <a:buClr>
                <a:srgbClr val="000000"/>
              </a:buClr>
              <a:buSzPct val="45000"/>
              <a:buFont typeface="Wingdings" charset="2"/>
              <a:buChar char=""/>
            </a:pPr>
            <a:r>
              <a:rPr b="0" lang="es-ES" sz="3200" spc="-1" strike="noStrike">
                <a:solidFill>
                  <a:srgbClr val="000000"/>
                </a:solidFill>
                <a:latin typeface="Arial"/>
              </a:rPr>
              <a:t>Al igual que TLS/SSL, </a:t>
            </a:r>
            <a:r>
              <a:rPr b="1" lang="es-ES" sz="3200" spc="-1" strike="noStrike">
                <a:solidFill>
                  <a:srgbClr val="000000"/>
                </a:solidFill>
                <a:latin typeface="Arial"/>
              </a:rPr>
              <a:t>DNSSEC utiliza criptografía de clave pública </a:t>
            </a:r>
            <a:r>
              <a:rPr b="0" lang="es-ES" sz="3200" spc="-1" strike="noStrike">
                <a:solidFill>
                  <a:srgbClr val="000000"/>
                </a:solidFill>
                <a:latin typeface="Arial"/>
              </a:rPr>
              <a:t>- una forma de firmar información digitalmente- para verificar y autenticar datos. </a:t>
            </a:r>
            <a:endParaRPr b="0" lang="es-ES" sz="3200" spc="-1" strike="noStrike">
              <a:solidFill>
                <a:srgbClr val="000000"/>
              </a:solidFill>
              <a:latin typeface="Arial"/>
            </a:endParaRPr>
          </a:p>
          <a:p>
            <a:pPr marL="328320" indent="-246240">
              <a:lnSpc>
                <a:spcPct val="100000"/>
              </a:lnSpc>
              <a:spcBef>
                <a:spcPts val="1417"/>
              </a:spcBef>
              <a:buClr>
                <a:srgbClr val="000000"/>
              </a:buClr>
              <a:buSzPct val="45000"/>
              <a:buFont typeface="Wingdings" charset="2"/>
              <a:buChar char=""/>
            </a:pPr>
            <a:r>
              <a:rPr b="0" lang="es-ES" sz="3200" spc="-1" strike="noStrike">
                <a:solidFill>
                  <a:srgbClr val="000000"/>
                </a:solidFill>
                <a:latin typeface="Arial"/>
              </a:rPr>
              <a:t>Las extensiones de DNSSEC se publicaron en 2005, pero el DNSSEC todavía no está muy extendido, por lo que el DNS sigue siendo vulnerable a los ataques.</a:t>
            </a:r>
            <a:endParaRPr b="0" lang="es-ES" sz="3200" spc="-1" strike="noStrike">
              <a:solidFill>
                <a:srgbClr val="000000"/>
              </a:solidFill>
              <a:latin typeface="Arial"/>
            </a:endParaRPr>
          </a:p>
        </p:txBody>
      </p:sp>
      <p:sp>
        <p:nvSpPr>
          <p:cNvPr id="4" name="PlaceHolder 3"/>
          <p:cNvSpPr>
            <a:spLocks noGrp="1"/>
          </p:cNvSpPr>
          <p:nvPr>
            <p:ph type="sldNum" idx="6"/>
          </p:nvPr>
        </p:nvSpPr>
        <p:spPr/>
        <p:txBody>
          <a:bodyPr/>
          <a:p>
            <a:fld id="{70AE52E5-CE27-4C05-BD62-6915DEE0ACF1}"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838080" y="36504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DNSSEC – historia !?</a:t>
            </a:r>
            <a:endParaRPr b="0" lang="es-ES" sz="3000" spc="-1" strike="noStrike">
              <a:solidFill>
                <a:srgbClr val="000000"/>
              </a:solidFill>
              <a:latin typeface="Arial"/>
            </a:endParaRPr>
          </a:p>
        </p:txBody>
      </p:sp>
      <p:sp>
        <p:nvSpPr>
          <p:cNvPr id="221" name="PlaceHolder 2"/>
          <p:cNvSpPr>
            <a:spLocks noGrp="1"/>
          </p:cNvSpPr>
          <p:nvPr>
            <p:ph/>
          </p:nvPr>
        </p:nvSpPr>
        <p:spPr>
          <a:xfrm>
            <a:off x="720000" y="1260000"/>
            <a:ext cx="10618920" cy="4796280"/>
          </a:xfrm>
          <a:prstGeom prst="rect">
            <a:avLst/>
          </a:prstGeom>
          <a:noFill/>
          <a:ln w="0">
            <a:noFill/>
          </a:ln>
        </p:spPr>
        <p:txBody>
          <a:bodyPr lIns="90000" rIns="90000" tIns="45000" bIns="45000" anchor="t">
            <a:noAutofit/>
          </a:bodyPr>
          <a:p>
            <a:pPr marL="343080" indent="-343080">
              <a:lnSpc>
                <a:spcPct val="90000"/>
              </a:lnSpc>
              <a:spcBef>
                <a:spcPts val="1001"/>
              </a:spcBef>
              <a:buClr>
                <a:srgbClr val="000000"/>
              </a:buClr>
              <a:buFont typeface="Arial"/>
              <a:buChar char="•"/>
            </a:pPr>
            <a:r>
              <a:rPr b="0" lang="es-ES" sz="2400" spc="-1" strike="noStrike">
                <a:solidFill>
                  <a:srgbClr val="000000"/>
                </a:solidFill>
                <a:latin typeface="Calibri"/>
              </a:rPr>
              <a:t>Los servidores de correo electrónico utilizan el DNS para </a:t>
            </a:r>
            <a:r>
              <a:rPr b="0" lang="es-ES" sz="2400" spc="-1" strike="noStrike">
                <a:solidFill>
                  <a:srgbClr val="000000"/>
                </a:solidFill>
                <a:latin typeface="Calibri"/>
              </a:rPr>
              <a:t>enrutar sus mensajes, por lo que son vulnerables a los </a:t>
            </a:r>
            <a:r>
              <a:rPr b="0" lang="es-ES" sz="2400" spc="-1" strike="noStrike">
                <a:solidFill>
                  <a:srgbClr val="000000"/>
                </a:solidFill>
                <a:latin typeface="Calibri"/>
              </a:rPr>
              <a:t>problemas de seguridad en la infraestructura del DNS. </a:t>
            </a:r>
            <a:endParaRPr b="0" lang="es-ES" sz="24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400" spc="-1" strike="noStrike">
                <a:solidFill>
                  <a:srgbClr val="000000"/>
                </a:solidFill>
                <a:latin typeface="Calibri"/>
              </a:rPr>
              <a:t>En septiembre de 2014 investigadores de la CMU - Carnegie </a:t>
            </a:r>
            <a:r>
              <a:rPr b="0" lang="es-ES" sz="2400" spc="-1" strike="noStrike">
                <a:solidFill>
                  <a:srgbClr val="000000"/>
                </a:solidFill>
                <a:latin typeface="Calibri"/>
              </a:rPr>
              <a:t>Mellon University - descubrieron correos electrónicos que </a:t>
            </a:r>
            <a:r>
              <a:rPr b="0" lang="es-ES" sz="2400" spc="-1" strike="noStrike">
                <a:solidFill>
                  <a:srgbClr val="000000"/>
                </a:solidFill>
                <a:latin typeface="Calibri"/>
              </a:rPr>
              <a:t>debían enviarse a través de los servidores de Yahoo!, </a:t>
            </a:r>
            <a:r>
              <a:rPr b="0" lang="es-ES" sz="2400" spc="-1" strike="noStrike">
                <a:solidFill>
                  <a:srgbClr val="000000"/>
                </a:solidFill>
                <a:latin typeface="Calibri"/>
              </a:rPr>
              <a:t>Hotmail y Gmail, y en su lugar se enrutaban a través de </a:t>
            </a:r>
            <a:r>
              <a:rPr b="0" lang="es-ES" sz="2400" spc="-1" strike="noStrike">
                <a:solidFill>
                  <a:srgbClr val="000000"/>
                </a:solidFill>
                <a:latin typeface="Calibri"/>
              </a:rPr>
              <a:t>servidores de correo no autorizados. </a:t>
            </a:r>
            <a:endParaRPr b="0" lang="es-ES" sz="24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400" spc="-1" strike="noStrike">
                <a:solidFill>
                  <a:srgbClr val="000000"/>
                </a:solidFill>
                <a:latin typeface="Calibri"/>
              </a:rPr>
              <a:t>Los atacantes estaban explotando una vulnerabilidad con </a:t>
            </a:r>
            <a:r>
              <a:rPr b="0" lang="es-ES" sz="2400" spc="-1" strike="noStrike">
                <a:solidFill>
                  <a:srgbClr val="000000"/>
                </a:solidFill>
                <a:latin typeface="Calibri"/>
              </a:rPr>
              <a:t>décadas de antigüedad en el sistema de nombres de </a:t>
            </a:r>
            <a:r>
              <a:rPr b="0" lang="es-ES" sz="2400" spc="-1" strike="noStrike">
                <a:solidFill>
                  <a:srgbClr val="000000"/>
                </a:solidFill>
                <a:latin typeface="Calibri"/>
              </a:rPr>
              <a:t>dominio (DNS) → éste no comprueba las credenciales antes </a:t>
            </a:r>
            <a:r>
              <a:rPr b="0" lang="es-ES" sz="2400" spc="-1" strike="noStrike">
                <a:solidFill>
                  <a:srgbClr val="000000"/>
                </a:solidFill>
                <a:latin typeface="Calibri"/>
              </a:rPr>
              <a:t>de aceptar una respuesta).</a:t>
            </a:r>
            <a:endParaRPr b="0" lang="es-ES" sz="24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400" spc="-1" strike="noStrike">
                <a:solidFill>
                  <a:srgbClr val="000000"/>
                </a:solidFill>
                <a:latin typeface="Calibri"/>
              </a:rPr>
              <a:t>La solución es un protocolo llamado DNSSEC que añade una </a:t>
            </a:r>
            <a:r>
              <a:rPr b="0" lang="es-ES" sz="2400" spc="-1" strike="noStrike">
                <a:solidFill>
                  <a:srgbClr val="000000"/>
                </a:solidFill>
                <a:latin typeface="Calibri"/>
              </a:rPr>
              <a:t>capa de confianza al DNS al proporcionar autenticación.</a:t>
            </a:r>
            <a:r>
              <a:rPr b="0" lang="es-ES" sz="2000" spc="-1" strike="noStrike">
                <a:solidFill>
                  <a:srgbClr val="000000"/>
                </a:solidFill>
                <a:latin typeface="Calibri"/>
              </a:rPr>
              <a:t> </a:t>
            </a: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F3DE30FD-9DD9-43B1-BB13-39CA4572071B}"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838080" y="36504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DNSSEC – ejemplo de Cloudflare</a:t>
            </a:r>
            <a:endParaRPr b="0" lang="es-ES" sz="3000" spc="-1" strike="noStrike">
              <a:solidFill>
                <a:srgbClr val="000000"/>
              </a:solidFill>
              <a:latin typeface="Arial"/>
            </a:endParaRPr>
          </a:p>
        </p:txBody>
      </p:sp>
      <p:sp>
        <p:nvSpPr>
          <p:cNvPr id="223" name="PlaceHolder 2"/>
          <p:cNvSpPr>
            <a:spLocks noGrp="1"/>
          </p:cNvSpPr>
          <p:nvPr>
            <p:ph/>
          </p:nvPr>
        </p:nvSpPr>
        <p:spPr>
          <a:xfrm>
            <a:off x="838080" y="1566360"/>
            <a:ext cx="10500840" cy="4489920"/>
          </a:xfrm>
          <a:prstGeom prst="rect">
            <a:avLst/>
          </a:prstGeom>
          <a:noFill/>
          <a:ln w="0">
            <a:noFill/>
          </a:ln>
        </p:spPr>
        <p:txBody>
          <a:bodyPr lIns="90000" rIns="90000" tIns="45000" bIns="45000" anchor="t">
            <a:noAutofit/>
          </a:bodyPr>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Un solucionador de DNS busca </a:t>
            </a:r>
            <a:r>
              <a:rPr b="1" lang="es-ES" sz="2000" spc="-1" strike="noStrike">
                <a:solidFill>
                  <a:srgbClr val="000000"/>
                </a:solidFill>
                <a:latin typeface="Calibri"/>
              </a:rPr>
              <a:t>blog.cloudflare.com</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Los servidores de nombres </a:t>
            </a:r>
            <a:r>
              <a:rPr b="1" lang="es-ES" sz="2000" spc="-1" strike="noStrike">
                <a:solidFill>
                  <a:srgbClr val="000000"/>
                </a:solidFill>
                <a:latin typeface="Calibri"/>
              </a:rPr>
              <a:t>.com</a:t>
            </a:r>
            <a:r>
              <a:rPr b="0" lang="es-ES" sz="2000" spc="-1" strike="noStrike">
                <a:solidFill>
                  <a:srgbClr val="000000"/>
                </a:solidFill>
                <a:latin typeface="Calibri"/>
              </a:rPr>
              <a:t> ayudan al solucionador a verificar los registros que Cloudflare ha devuelto</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Cloudflare ayuda a verificar los registros que ha devuelto el blog.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Los servidores de nombres DNS raíz ayudan a verificar </a:t>
            </a:r>
            <a:r>
              <a:rPr b="1" lang="es-ES" sz="2000" spc="-1" strike="noStrike">
                <a:solidFill>
                  <a:srgbClr val="000000"/>
                </a:solidFill>
                <a:latin typeface="Calibri"/>
              </a:rPr>
              <a:t>.com</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La información publicada por la raíz es examinada por un procedimiento de seguridad exhaustivo, que incluye la ceremonia de firma de la zona raíz.</a:t>
            </a:r>
            <a:endParaRPr b="0" lang="es-ES" sz="2000" spc="-1" strike="noStrike">
              <a:solidFill>
                <a:srgbClr val="000000"/>
              </a:solidFill>
              <a:latin typeface="Arial"/>
            </a:endParaRPr>
          </a:p>
          <a:p>
            <a:pPr marL="343080" indent="0">
              <a:lnSpc>
                <a:spcPct val="90000"/>
              </a:lnSpc>
              <a:spcBef>
                <a:spcPts val="1001"/>
              </a:spcBef>
              <a:buNone/>
              <a:tabLst>
                <a:tab algn="l" pos="0"/>
              </a:tabLst>
            </a:pP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6D1A17A4-80D9-4408-BD3F-04E20F6AFF47}"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838080" y="36504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DNSSEC - ¿qué es?</a:t>
            </a:r>
            <a:endParaRPr b="0" lang="es-ES" sz="3000" spc="-1" strike="noStrike">
              <a:solidFill>
                <a:srgbClr val="000000"/>
              </a:solidFill>
              <a:latin typeface="Arial"/>
            </a:endParaRPr>
          </a:p>
        </p:txBody>
      </p:sp>
      <p:sp>
        <p:nvSpPr>
          <p:cNvPr id="225" name="PlaceHolder 2"/>
          <p:cNvSpPr>
            <a:spLocks noGrp="1"/>
          </p:cNvSpPr>
          <p:nvPr>
            <p:ph/>
          </p:nvPr>
        </p:nvSpPr>
        <p:spPr>
          <a:xfrm>
            <a:off x="838080" y="1566360"/>
            <a:ext cx="9929880" cy="4489920"/>
          </a:xfrm>
          <a:prstGeom prst="rect">
            <a:avLst/>
          </a:prstGeom>
          <a:noFill/>
          <a:ln w="0">
            <a:noFill/>
          </a:ln>
        </p:spPr>
        <p:txBody>
          <a:bodyPr lIns="90000" rIns="90000" tIns="45000" bIns="45000" anchor="t">
            <a:noAutofit/>
          </a:bodyPr>
          <a:p>
            <a:pPr marL="343080" indent="0">
              <a:lnSpc>
                <a:spcPct val="90000"/>
              </a:lnSpc>
              <a:spcBef>
                <a:spcPts val="1001"/>
              </a:spcBef>
              <a:buNone/>
              <a:tabLst>
                <a:tab algn="l" pos="0"/>
              </a:tabLst>
            </a:pPr>
            <a:r>
              <a:rPr b="0" lang="es-ES" sz="2000" spc="-1" strike="noStrike">
                <a:solidFill>
                  <a:srgbClr val="000000"/>
                </a:solidFill>
                <a:latin typeface="Calibri"/>
              </a:rPr>
              <a:t>Por tanto,</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Calibri"/>
              </a:rPr>
              <a:t>Es la extensión de seguridad del DNS, y es fundamental para protegerse contra el secuestro de DNS.</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Calibri"/>
              </a:rPr>
              <a:t>Protege contra los ataques firmando datos digitalmente para asegurar su validez. La firma debe hacerse en cada nivel del proceso de búsqueda de DNS, para garantizar una búsqueda segura.</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Calibri"/>
              </a:rPr>
              <a:t>Soluciona el problema de los datos no cifrados para los registros DNS autenticando el origen de esos datos y confirmando que los datos no han sido manipulados por agentes malintencionados.</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Calibri"/>
              </a:rPr>
              <a:t>Implementar DNSSEC no es simple y muchos registradores no tienen habilitada la tecnología necesaria en el servidor DNS, o no admiten todos los TLD.</a:t>
            </a: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55B190C2-9083-4557-B97F-57F2E2B84DBD}"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
          <p:cNvSpPr/>
          <p:nvPr/>
        </p:nvSpPr>
        <p:spPr>
          <a:xfrm>
            <a:off x="211680" y="1242360"/>
            <a:ext cx="10947240" cy="40312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Añade una capa de seguridad adicional al protocolo DNS que permite comprobar la integridad y autenticidad de los datos. </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Gracias a estas extensiones de seguridad se pueden prevenir ataques de suplantación y falsificación.</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Las nuevas funcionalidades del protocolo están basadas en criptografía asimétrica, también conocida como criptografía de clave pública. </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DNSSEC utiliza el método de clave pública basado en dos claves distintas, una pública que, como su nombre indica, es de dominio público, y otra privada, que únicamente debe conocer su propietario. </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	</a:t>
            </a:r>
            <a:r>
              <a:rPr b="0" lang="es-ES" sz="2000" spc="-1" strike="noStrike">
                <a:solidFill>
                  <a:srgbClr val="000000"/>
                </a:solidFill>
                <a:latin typeface="Arial"/>
                <a:ea typeface="DejaVu Sans"/>
              </a:rPr>
              <a:t>Cont…..</a:t>
            </a:r>
            <a:endParaRPr b="0" lang="es-ES" sz="2000" spc="-1" strike="noStrike">
              <a:solidFill>
                <a:srgbClr val="000000"/>
              </a:solidFill>
              <a:latin typeface="Arial"/>
            </a:endParaRPr>
          </a:p>
        </p:txBody>
      </p:sp>
      <p:sp>
        <p:nvSpPr>
          <p:cNvPr id="227" name="Título 11"/>
          <p:cNvSpPr/>
          <p:nvPr/>
        </p:nvSpPr>
        <p:spPr>
          <a:xfrm>
            <a:off x="838080" y="365040"/>
            <a:ext cx="992988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3000" spc="-1" strike="noStrike">
                <a:solidFill>
                  <a:srgbClr val="000000"/>
                </a:solidFill>
                <a:latin typeface="Arial"/>
                <a:ea typeface="DejaVu Sans"/>
              </a:rPr>
              <a:t>DNSSEC - ¿qué es?</a:t>
            </a:r>
            <a:endParaRPr b="0" lang="es-ES" sz="3000" spc="-1" strike="noStrike">
              <a:solidFill>
                <a:srgbClr val="000000"/>
              </a:solidFill>
              <a:latin typeface="Arial"/>
            </a:endParaRPr>
          </a:p>
        </p:txBody>
      </p:sp>
      <p:sp>
        <p:nvSpPr>
          <p:cNvPr id="2" name="PlaceHolder 1"/>
          <p:cNvSpPr>
            <a:spLocks noGrp="1"/>
          </p:cNvSpPr>
          <p:nvPr>
            <p:ph type="sldNum" idx="2"/>
          </p:nvPr>
        </p:nvSpPr>
        <p:spPr/>
        <p:txBody>
          <a:bodyPr/>
          <a:p>
            <a:fld id="{FEADC603-07C4-42B9-BE52-D1BF2D3CC521}"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
          <p:cNvSpPr/>
          <p:nvPr/>
        </p:nvSpPr>
        <p:spPr>
          <a:xfrm>
            <a:off x="1080000" y="1980000"/>
            <a:ext cx="9358920" cy="3045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2000" spc="-1" strike="noStrike">
                <a:solidFill>
                  <a:srgbClr val="000000"/>
                </a:solidFill>
                <a:latin typeface="Arial"/>
                <a:ea typeface="DejaVu Sans"/>
              </a:rPr>
              <a:t>DNSSEC crea un sistema de nombres de dominio seguro añadiendo firmas criptográficas a los registros DNS existentes. </a:t>
            </a:r>
            <a:endParaRPr b="0" lang="es-ES" sz="2000" spc="-1" strike="noStrike">
              <a:solidFill>
                <a:srgbClr val="000000"/>
              </a:solidFill>
              <a:latin typeface="Arial"/>
            </a:endParaRPr>
          </a:p>
          <a:p>
            <a:pPr>
              <a:lnSpc>
                <a:spcPct val="100000"/>
              </a:lnSpc>
            </a:pPr>
            <a:endParaRPr b="0" lang="es-ES" sz="2000" spc="-1" strike="noStrike">
              <a:solidFill>
                <a:srgbClr val="000000"/>
              </a:solidFill>
              <a:latin typeface="Arial"/>
            </a:endParaRPr>
          </a:p>
          <a:p>
            <a:pPr>
              <a:lnSpc>
                <a:spcPct val="100000"/>
              </a:lnSpc>
            </a:pPr>
            <a:r>
              <a:rPr b="0" lang="es-ES" sz="2000" spc="-1" strike="noStrike">
                <a:solidFill>
                  <a:srgbClr val="000000"/>
                </a:solidFill>
                <a:latin typeface="Arial"/>
                <a:ea typeface="DejaVu Sans"/>
              </a:rPr>
              <a:t>Estas firmas digitales se almacenan en servidores de nombres DNS junto con tipos de registros comunes como A, AAAA, MX, CNAME, etc. </a:t>
            </a:r>
            <a:endParaRPr b="0" lang="es-ES" sz="2000" spc="-1" strike="noStrike">
              <a:solidFill>
                <a:srgbClr val="000000"/>
              </a:solidFill>
              <a:latin typeface="Arial"/>
            </a:endParaRPr>
          </a:p>
          <a:p>
            <a:pPr>
              <a:lnSpc>
                <a:spcPct val="100000"/>
              </a:lnSpc>
            </a:pPr>
            <a:endParaRPr b="0" lang="es-ES" sz="2000" spc="-1" strike="noStrike">
              <a:solidFill>
                <a:srgbClr val="000000"/>
              </a:solidFill>
              <a:latin typeface="Arial"/>
            </a:endParaRPr>
          </a:p>
          <a:p>
            <a:pPr>
              <a:lnSpc>
                <a:spcPct val="100000"/>
              </a:lnSpc>
            </a:pPr>
            <a:r>
              <a:rPr b="0" lang="es-ES" sz="2000" spc="-1" strike="noStrike">
                <a:solidFill>
                  <a:srgbClr val="000000"/>
                </a:solidFill>
                <a:latin typeface="Arial"/>
                <a:ea typeface="DejaVu Sans"/>
              </a:rPr>
              <a:t>Al comprobar su firma asociada, puedes verificar que un registro DNS solicitado proviene de su servidor de nombres autoritativo y no se ha alterado en la ruta, a diferencia de los registros falsos inyectados en los ataques de intermediario.</a:t>
            </a:r>
            <a:endParaRPr b="0" lang="es-ES" sz="2000" spc="-1" strike="noStrike">
              <a:solidFill>
                <a:srgbClr val="000000"/>
              </a:solidFill>
              <a:latin typeface="Arial"/>
            </a:endParaRPr>
          </a:p>
          <a:p>
            <a:pPr>
              <a:lnSpc>
                <a:spcPct val="100000"/>
              </a:lnSpc>
            </a:pPr>
            <a:endParaRPr b="0" lang="es-ES" sz="1000" spc="-1" strike="noStrike">
              <a:solidFill>
                <a:srgbClr val="000000"/>
              </a:solidFill>
              <a:latin typeface="Arial"/>
            </a:endParaRPr>
          </a:p>
        </p:txBody>
      </p:sp>
      <p:sp>
        <p:nvSpPr>
          <p:cNvPr id="229" name="Título 15"/>
          <p:cNvSpPr/>
          <p:nvPr/>
        </p:nvSpPr>
        <p:spPr>
          <a:xfrm>
            <a:off x="838080" y="365040"/>
            <a:ext cx="992988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3000" spc="-1" strike="noStrike">
                <a:solidFill>
                  <a:srgbClr val="000000"/>
                </a:solidFill>
                <a:latin typeface="Arial"/>
                <a:ea typeface="DejaVu Sans"/>
              </a:rPr>
              <a:t>DNSSEC - ¿qué es?</a:t>
            </a:r>
            <a:endParaRPr b="0" lang="es-ES" sz="3000" spc="-1" strike="noStrike">
              <a:solidFill>
                <a:srgbClr val="000000"/>
              </a:solidFill>
              <a:latin typeface="Arial"/>
            </a:endParaRPr>
          </a:p>
        </p:txBody>
      </p:sp>
      <p:sp>
        <p:nvSpPr>
          <p:cNvPr id="2" name="PlaceHolder 1"/>
          <p:cNvSpPr>
            <a:spLocks noGrp="1"/>
          </p:cNvSpPr>
          <p:nvPr>
            <p:ph type="sldNum" idx="2"/>
          </p:nvPr>
        </p:nvSpPr>
        <p:spPr/>
        <p:txBody>
          <a:bodyPr/>
          <a:p>
            <a:fld id="{047786FF-94D2-4B99-B4E3-4B6E8E0C2E4D}"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
          <p:cNvSpPr/>
          <p:nvPr/>
        </p:nvSpPr>
        <p:spPr>
          <a:xfrm>
            <a:off x="211680" y="1080000"/>
            <a:ext cx="10947240" cy="47397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Mediante el uso de las  claves y las firmas generadas a partir de ellas, se puede saber si un mensaje ha sido modificado o no, permitiendo así garantizar la integridad y autenticidad del mensaje.</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Cuando un usuario realiza una búsqueda de un dominio que cuenta con DNSSEC, en el proceso se envía la información necesaria para resolver la búsqueda, es decir, la dirección IP del dominio que se está buscando. Pero también se envían varias las firmas de las claves asociadas a los distintos servidores DNS que se han consultado.</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Si al comprobar estas firmas no coinciden unas con otras, la consulta no puede ser validada como legítima ya que la cadena de confianza se ha roto y por lo tanto no es seguro acceder al sitio web. Por el contrario, si las firmas coinciden unas con otras, el usuario podrá acceder al sitio web ya que el proceso ha sido autenticado y la cadena de confianza no se ha roto.</a:t>
            </a:r>
            <a:endParaRPr b="0" lang="es-ES" sz="2000" spc="-1" strike="noStrike">
              <a:solidFill>
                <a:srgbClr val="000000"/>
              </a:solidFill>
              <a:latin typeface="Arial"/>
            </a:endParaRPr>
          </a:p>
          <a:p>
            <a:pPr>
              <a:lnSpc>
                <a:spcPct val="100000"/>
              </a:lnSpc>
            </a:pPr>
            <a:endParaRPr b="0" lang="es-ES" sz="1000" spc="-1" strike="noStrike">
              <a:solidFill>
                <a:srgbClr val="000000"/>
              </a:solidFill>
              <a:latin typeface="Arial"/>
            </a:endParaRPr>
          </a:p>
        </p:txBody>
      </p:sp>
      <p:sp>
        <p:nvSpPr>
          <p:cNvPr id="231" name="Título 12"/>
          <p:cNvSpPr/>
          <p:nvPr/>
        </p:nvSpPr>
        <p:spPr>
          <a:xfrm>
            <a:off x="838080" y="365040"/>
            <a:ext cx="992988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3000" spc="-1" strike="noStrike">
                <a:solidFill>
                  <a:srgbClr val="000000"/>
                </a:solidFill>
                <a:latin typeface="Arial"/>
                <a:ea typeface="DejaVu Sans"/>
              </a:rPr>
              <a:t>DNSSEC - funcionamiento</a:t>
            </a:r>
            <a:endParaRPr b="0" lang="es-ES" sz="3000" spc="-1" strike="noStrike">
              <a:solidFill>
                <a:srgbClr val="000000"/>
              </a:solidFill>
              <a:latin typeface="Arial"/>
            </a:endParaRPr>
          </a:p>
        </p:txBody>
      </p:sp>
      <p:sp>
        <p:nvSpPr>
          <p:cNvPr id="2" name="PlaceHolder 1"/>
          <p:cNvSpPr>
            <a:spLocks noGrp="1"/>
          </p:cNvSpPr>
          <p:nvPr>
            <p:ph type="sldNum" idx="2"/>
          </p:nvPr>
        </p:nvSpPr>
        <p:spPr/>
        <p:txBody>
          <a:bodyPr/>
          <a:p>
            <a:fld id="{22CB1E9E-CC35-48B7-9118-6EACED12DD45}"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
          <p:cNvSpPr/>
          <p:nvPr/>
        </p:nvSpPr>
        <p:spPr>
          <a:xfrm>
            <a:off x="211680" y="1080000"/>
            <a:ext cx="10947240" cy="40190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Para facilitar la validación de la firma, DNSSEC añade algunos nuevos tipos de registro DNS:</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RRSIG: contiene una firma criptográfica.</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DNSKEY: contiene una clave de firma pública.</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DS: contiene el hash de un registro de DNSKEY.</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NSEC y NSEC3: para la negación explícita de la existencia de un registro DNS.</a:t>
            </a:r>
            <a:endParaRPr b="0" lang="es-ES" sz="20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s-ES" sz="2000" spc="-1" strike="noStrike">
                <a:solidFill>
                  <a:srgbClr val="000000"/>
                </a:solidFill>
                <a:latin typeface="Arial"/>
                <a:ea typeface="DejaVu Sans"/>
              </a:rPr>
              <a:t>CDNSKEY y CDS: para una zona secundaria que solicita actualizaciones de registros DS en la zona principal.</a:t>
            </a:r>
            <a:endParaRPr b="0" lang="es-ES" sz="2000" spc="-1" strike="noStrike">
              <a:solidFill>
                <a:srgbClr val="000000"/>
              </a:solidFill>
              <a:latin typeface="Arial"/>
            </a:endParaRPr>
          </a:p>
        </p:txBody>
      </p:sp>
      <p:sp>
        <p:nvSpPr>
          <p:cNvPr id="233" name="Título 16"/>
          <p:cNvSpPr/>
          <p:nvPr/>
        </p:nvSpPr>
        <p:spPr>
          <a:xfrm>
            <a:off x="838080" y="365040"/>
            <a:ext cx="9929880" cy="814680"/>
          </a:xfrm>
          <a:prstGeom prst="rect">
            <a:avLst/>
          </a:prstGeom>
          <a:noFill/>
          <a:ln w="0">
            <a:noFill/>
          </a:ln>
        </p:spPr>
        <p:style>
          <a:lnRef idx="0"/>
          <a:fillRef idx="0"/>
          <a:effectRef idx="0"/>
          <a:fontRef idx="minor"/>
        </p:style>
        <p:txBody>
          <a:bodyPr lIns="90000" rIns="90000" tIns="45000" bIns="45000" anchor="t">
            <a:noAutofit/>
          </a:bodyPr>
          <a:p>
            <a:pPr>
              <a:lnSpc>
                <a:spcPct val="90000"/>
              </a:lnSpc>
            </a:pPr>
            <a:r>
              <a:rPr b="1" lang="es-ES" sz="3000" spc="-1" strike="noStrike">
                <a:solidFill>
                  <a:srgbClr val="000000"/>
                </a:solidFill>
                <a:latin typeface="Arial"/>
                <a:ea typeface="DejaVu Sans"/>
              </a:rPr>
              <a:t>DNSSEC - ¿qué es?</a:t>
            </a:r>
            <a:endParaRPr b="0" lang="es-ES" sz="3000" spc="-1" strike="noStrike">
              <a:solidFill>
                <a:srgbClr val="000000"/>
              </a:solidFill>
              <a:latin typeface="Arial"/>
            </a:endParaRPr>
          </a:p>
        </p:txBody>
      </p:sp>
      <p:sp>
        <p:nvSpPr>
          <p:cNvPr id="2" name="PlaceHolder 1"/>
          <p:cNvSpPr>
            <a:spLocks noGrp="1"/>
          </p:cNvSpPr>
          <p:nvPr>
            <p:ph type="sldNum" idx="2"/>
          </p:nvPr>
        </p:nvSpPr>
        <p:spPr/>
        <p:txBody>
          <a:bodyPr/>
          <a:p>
            <a:fld id="{0DCD2568-A931-4E72-B987-F18BA9642999}"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838080" y="365040"/>
            <a:ext cx="9929880" cy="81468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ff0000"/>
                </a:solidFill>
                <a:latin typeface="Arial"/>
              </a:rPr>
              <a:t>¿Protegidos por el DNSSec?</a:t>
            </a:r>
            <a:endParaRPr b="0" lang="es-ES" sz="3000" spc="-1" strike="noStrike">
              <a:solidFill>
                <a:srgbClr val="000000"/>
              </a:solidFill>
              <a:latin typeface="Arial"/>
            </a:endParaRPr>
          </a:p>
        </p:txBody>
      </p:sp>
      <p:sp>
        <p:nvSpPr>
          <p:cNvPr id="235" name="PlaceHolder 2"/>
          <p:cNvSpPr>
            <a:spLocks noGrp="1"/>
          </p:cNvSpPr>
          <p:nvPr>
            <p:ph/>
          </p:nvPr>
        </p:nvSpPr>
        <p:spPr>
          <a:xfrm>
            <a:off x="838080" y="1566360"/>
            <a:ext cx="9929880" cy="44899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0" lang="es-ES" sz="2000" spc="-1" strike="noStrike" u="sng">
                <a:solidFill>
                  <a:srgbClr val="0563c1"/>
                </a:solidFill>
                <a:uFillTx/>
                <a:latin typeface="Calibri"/>
                <a:hlinkClick r:id="rId1"/>
              </a:rPr>
              <a:t>http://www.dnssec-or-not.com</a:t>
            </a:r>
            <a:r>
              <a:rPr b="0" lang="es-ES" sz="2000" spc="-1" strike="noStrike">
                <a:solidFill>
                  <a:srgbClr val="000000"/>
                </a:solidFill>
                <a:latin typeface="Calibri"/>
              </a:rPr>
              <a:t> </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u="sng">
                <a:solidFill>
                  <a:srgbClr val="0563c1"/>
                </a:solidFill>
                <a:uFillTx/>
                <a:latin typeface="Calibri"/>
                <a:hlinkClick r:id="rId2"/>
              </a:rPr>
              <a:t>https://wander.science/projects/dns/dnssec-resolver-test</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u="sng">
                <a:solidFill>
                  <a:srgbClr val="0563c1"/>
                </a:solidFill>
                <a:uFillTx/>
                <a:latin typeface="Calibri"/>
                <a:hlinkClick r:id="rId3"/>
              </a:rPr>
              <a:t>https://dnssec-analyzer.verisignlabs.com/</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u="sng">
                <a:solidFill>
                  <a:srgbClr val="0563c1"/>
                </a:solidFill>
                <a:uFillTx/>
                <a:latin typeface="Calibri"/>
                <a:hlinkClick r:id="rId4"/>
              </a:rPr>
              <a:t>https://dnsviz.net</a:t>
            </a:r>
            <a:r>
              <a:rPr b="0" lang="es-ES" sz="2000" spc="-1" strike="noStrike">
                <a:solidFill>
                  <a:srgbClr val="000000"/>
                </a:solidFill>
                <a:latin typeface="Calibri"/>
              </a:rPr>
              <a:t> </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F285AAF5-9E7F-4E77-A7D6-046CB75FF52B}"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p:nvPr>
        </p:nvSpPr>
        <p:spPr>
          <a:xfrm>
            <a:off x="2444760" y="4191120"/>
            <a:ext cx="7301160" cy="398520"/>
          </a:xfrm>
          <a:prstGeom prst="rect">
            <a:avLst/>
          </a:prstGeom>
          <a:noFill/>
          <a:ln w="0">
            <a:noFill/>
          </a:ln>
        </p:spPr>
        <p:txBody>
          <a:bodyPr lIns="90000" rIns="90000" tIns="45000" bIns="45000" anchor="t">
            <a:noAutofit/>
          </a:bodyPr>
          <a:p>
            <a:pPr indent="0" algn="ctr">
              <a:lnSpc>
                <a:spcPct val="90000"/>
              </a:lnSpc>
              <a:spcBef>
                <a:spcPts val="1001"/>
              </a:spcBef>
              <a:buNone/>
              <a:tabLst>
                <a:tab algn="l" pos="0"/>
              </a:tabLst>
            </a:pPr>
            <a:r>
              <a:rPr b="0" lang="es-ES" sz="2000" spc="-1" strike="noStrike">
                <a:solidFill>
                  <a:srgbClr val="ffffff"/>
                </a:solidFill>
                <a:latin typeface="Arial"/>
              </a:rPr>
              <a:t>www.ifp.es</a:t>
            </a:r>
            <a:endParaRPr b="0" lang="es-ES" sz="2000" spc="-1" strike="noStrike">
              <a:solidFill>
                <a:srgbClr val="000000"/>
              </a:solidFill>
              <a:latin typeface="Arial"/>
            </a:endParaRPr>
          </a:p>
        </p:txBody>
      </p:sp>
      <p:sp>
        <p:nvSpPr>
          <p:cNvPr id="237" name="PlaceHolder 2"/>
          <p:cNvSpPr>
            <a:spLocks noGrp="1"/>
          </p:cNvSpPr>
          <p:nvPr>
            <p:ph type="title"/>
          </p:nvPr>
        </p:nvSpPr>
        <p:spPr>
          <a:xfrm>
            <a:off x="2444760" y="2297880"/>
            <a:ext cx="7301160" cy="1754640"/>
          </a:xfrm>
          <a:prstGeom prst="rect">
            <a:avLst/>
          </a:prstGeom>
          <a:noFill/>
          <a:ln w="0">
            <a:noFill/>
          </a:ln>
        </p:spPr>
        <p:txBody>
          <a:bodyPr lIns="90000" rIns="90000" tIns="45000" bIns="45000" anchor="b">
            <a:noAutofit/>
          </a:bodyPr>
          <a:p>
            <a:pPr indent="0" algn="ctr">
              <a:lnSpc>
                <a:spcPct val="90000"/>
              </a:lnSpc>
              <a:buNone/>
              <a:tabLst>
                <a:tab algn="l" pos="0"/>
              </a:tabLst>
            </a:pPr>
            <a:r>
              <a:rPr b="1" lang="es-ES" sz="3200" spc="-1" strike="noStrike">
                <a:solidFill>
                  <a:srgbClr val="ffffff"/>
                </a:solidFill>
                <a:latin typeface="Arial"/>
              </a:rPr>
              <a:t>La mejor forma de aprender es hacer</a:t>
            </a:r>
            <a:endParaRPr b="0" lang="es-ES" sz="3200" spc="-1" strike="noStrike">
              <a:solidFill>
                <a:srgbClr val="000000"/>
              </a:solidFill>
              <a:latin typeface="Arial"/>
            </a:endParaRPr>
          </a:p>
        </p:txBody>
      </p:sp>
      <p:sp>
        <p:nvSpPr>
          <p:cNvPr id="238" name="CuadroTexto 3"/>
          <p:cNvSpPr/>
          <p:nvPr/>
        </p:nvSpPr>
        <p:spPr>
          <a:xfrm>
            <a:off x="3889080" y="1260000"/>
            <a:ext cx="44622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ES" sz="1800" spc="-1" strike="noStrike">
                <a:solidFill>
                  <a:srgbClr val="ffffff"/>
                </a:solidFill>
                <a:latin typeface="Oxygen"/>
                <a:ea typeface="DejaVu Sans"/>
              </a:rPr>
              <a:t>Que el dolor no me sea indiferente….</a:t>
            </a: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901FBC7C8882441AEFB1B17934C3353" ma:contentTypeVersion="0" ma:contentTypeDescription="Create a new document." ma:contentTypeScope="" ma:versionID="4aa1f9fabc776f36ccf6d86fd0f37a85">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8E28AC2-7A38-4507-A348-B065F0EB5E27}">
  <ds:schemaRefs>
    <ds:schemaRef ds:uri="http://schemas.microsoft.com/sharepoint/v3/contenttype/forms"/>
  </ds:schemaRefs>
</ds:datastoreItem>
</file>

<file path=customXml/itemProps2.xml><?xml version="1.0" encoding="utf-8"?>
<ds:datastoreItem xmlns:ds="http://schemas.openxmlformats.org/officeDocument/2006/customXml" ds:itemID="{BAD24C8D-07B4-4723-B585-86F25298F6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EEEBA15-2685-4FC7-BDF4-D3202269E7B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3994</TotalTime>
  <Application>LibreOffice/7.4.7.2$Linux_X86_64 LibreOffice_project/40$Build-2</Application>
  <AppVersion>15.0000</AppVersion>
  <Words>382</Words>
  <Paragraphs>51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2020-01-16T08:59:11Z</dcterms:created>
  <dc:creator>Jackeline Nishimura</dc:creator>
  <dc:description/>
  <dc:language>es-ES</dc:language>
  <cp:lastModifiedBy/>
  <dcterms:modified xsi:type="dcterms:W3CDTF">2025-09-26T16:31:31Z</dcterms:modified>
  <cp:revision>269</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0x0101002901FBC7C8882441AEFB1B17934C3353</vt:lpwstr>
  </property>
  <property fmtid="{D5CDD505-2E9C-101B-9397-08002B2CF9AE}" pid="3" name="PresentationFormat">
    <vt:lpwstr>Panorámica</vt:lpwstr>
  </property>
  <property fmtid="{D5CDD505-2E9C-101B-9397-08002B2CF9AE}" pid="4" name="Slides">
    <vt:i4>10</vt:i4>
  </property>
</Properties>
</file>