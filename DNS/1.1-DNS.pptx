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_rels/notesSlide21.xml.rels" ContentType="application/vnd.openxmlformats-package.relationships+xml"/>
  <Override PartName="/ppt/notesSlides/_rels/notesSlide20.xml.rels" ContentType="application/vnd.openxmlformats-package.relationship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_rels/presentation.xml.rels" ContentType="application/vnd.openxmlformats-package.relationships+xml"/>
  <Override PartName="/ppt/media/image1.jpeg" ContentType="image/jpeg"/>
  <Override PartName="/ppt/media/image5.png" ContentType="image/png"/>
  <Override PartName="/ppt/media/image10.png" ContentType="image/png"/>
  <Override PartName="/ppt/media/image2.png" ContentType="image/png"/>
  <Override PartName="/ppt/media/image3.png" ContentType="image/png"/>
  <Override PartName="/ppt/media/image4.jpeg" ContentType="image/jpeg"/>
  <Override PartName="/ppt/media/image6.png" ContentType="image/png"/>
  <Override PartName="/ppt/media/image7.png" ContentType="image/png"/>
  <Override PartName="/ppt/media/image8.png" ContentType="image/png"/>
  <Override PartName="/ppt/media/image9.png" ContentType="image/png"/>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BDCE27-9CC4-488F-928B-A1952D8E46F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s-ES"/>
        </a:p>
      </dgm:t>
    </dgm:pt>
    <dgm:pt modelId="{8098798C-63F9-45E7-A0B8-27115CDCCE97}">
      <dgm:prSet/>
      <dgm:spPr/>
      <dgm:t>
        <a:bodyPr/>
        <a:lstStyle/>
        <a:p>
          <a:pPr rtl="0"/>
          <a:r>
            <a:rPr lang="es-ES" smtClean="0"/>
            <a:t>Es un servicio distribuido a nivel global que permite convertir los nombres de los sitios en las direcciones IP que les corresponde.</a:t>
          </a:r>
          <a:endParaRPr lang="es-ES"/>
        </a:p>
      </dgm:t>
    </dgm:pt>
    <dgm:pt modelId="{45C5ED7B-DEBC-485F-94ED-F524113C6F65}" type="parTrans" cxnId="{3643E7AA-36CD-4C25-891C-53C896508DA4}">
      <dgm:prSet/>
      <dgm:spPr/>
      <dgm:t>
        <a:bodyPr/>
        <a:lstStyle/>
        <a:p>
          <a:endParaRPr lang="es-ES"/>
        </a:p>
      </dgm:t>
    </dgm:pt>
    <dgm:pt modelId="{A3E25DF9-C895-4898-B77B-B9749F795458}" type="sibTrans" cxnId="{3643E7AA-36CD-4C25-891C-53C896508DA4}">
      <dgm:prSet/>
      <dgm:spPr/>
      <dgm:t>
        <a:bodyPr/>
        <a:lstStyle/>
        <a:p>
          <a:endParaRPr lang="es-ES"/>
        </a:p>
      </dgm:t>
    </dgm:pt>
    <dgm:pt modelId="{9828D7D3-B443-4D3F-B832-3872B8EF53D9}">
      <dgm:prSet/>
      <dgm:spPr/>
      <dgm:t>
        <a:bodyPr/>
        <a:lstStyle/>
        <a:p>
          <a:pPr rtl="0"/>
          <a:r>
            <a:rPr lang="es-ES" smtClean="0"/>
            <a:t>Es un sistema de nomenclatura jerárquico que administra el espacio de nombres de dominio o DNS</a:t>
          </a:r>
          <a:endParaRPr lang="es-ES"/>
        </a:p>
      </dgm:t>
    </dgm:pt>
    <dgm:pt modelId="{804A5DF5-44E0-465E-A1C6-AD3DA089A145}" type="parTrans" cxnId="{5988874C-5DEA-4C86-A814-20D8AB507C57}">
      <dgm:prSet/>
      <dgm:spPr/>
      <dgm:t>
        <a:bodyPr/>
        <a:lstStyle/>
        <a:p>
          <a:endParaRPr lang="es-ES"/>
        </a:p>
      </dgm:t>
    </dgm:pt>
    <dgm:pt modelId="{12E60877-F362-4CFE-AF35-6A9284799901}" type="sibTrans" cxnId="{5988874C-5DEA-4C86-A814-20D8AB507C57}">
      <dgm:prSet/>
      <dgm:spPr/>
      <dgm:t>
        <a:bodyPr/>
        <a:lstStyle/>
        <a:p>
          <a:endParaRPr lang="es-ES"/>
        </a:p>
      </dgm:t>
    </dgm:pt>
    <dgm:pt modelId="{BB77185F-F9D2-45E1-9450-3B89ADE09809}">
      <dgm:prSet/>
      <dgm:spPr/>
      <dgm:t>
        <a:bodyPr/>
        <a:lstStyle/>
        <a:p>
          <a:pPr rtl="0"/>
          <a:r>
            <a:rPr lang="es-ES" smtClean="0"/>
            <a:t>Cuando un usuario registra un dominio, se crea una entrada WHOIS en el registro correspondiente y queda almacenada en el DNS como un resource record. </a:t>
          </a:r>
          <a:endParaRPr lang="es-ES"/>
        </a:p>
      </dgm:t>
    </dgm:pt>
    <dgm:pt modelId="{D9B251E4-F06C-401D-BAF6-D6AAA52A9C82}" type="parTrans" cxnId="{D1ED26D7-002D-48A2-996F-DD7A95C766A7}">
      <dgm:prSet/>
      <dgm:spPr/>
      <dgm:t>
        <a:bodyPr/>
        <a:lstStyle/>
        <a:p>
          <a:endParaRPr lang="es-ES"/>
        </a:p>
      </dgm:t>
    </dgm:pt>
    <dgm:pt modelId="{241C9428-9DC8-47CE-89BB-977A17E42713}" type="sibTrans" cxnId="{D1ED26D7-002D-48A2-996F-DD7A95C766A7}">
      <dgm:prSet/>
      <dgm:spPr/>
      <dgm:t>
        <a:bodyPr/>
        <a:lstStyle/>
        <a:p>
          <a:endParaRPr lang="es-ES"/>
        </a:p>
      </dgm:t>
    </dgm:pt>
    <dgm:pt modelId="{F55B53E5-69FB-47A8-BFDF-8B80BF6EFD82}">
      <dgm:prSet/>
      <dgm:spPr/>
      <dgm:t>
        <a:bodyPr/>
        <a:lstStyle/>
        <a:p>
          <a:pPr rtl="0"/>
          <a:r>
            <a:rPr lang="es-ES" smtClean="0"/>
            <a:t>La base de datos de un servidor DNS se convierte en la compilación de todos los registros de la zona del espacio de nombres de dominio que gestiona.</a:t>
          </a:r>
          <a:endParaRPr lang="es-ES"/>
        </a:p>
      </dgm:t>
    </dgm:pt>
    <dgm:pt modelId="{A403DB9F-B2F5-45CF-AD95-7E7BCC89C3DA}" type="parTrans" cxnId="{7A71F39A-56F6-440E-9A5C-1A6AE87CF7E3}">
      <dgm:prSet/>
      <dgm:spPr/>
      <dgm:t>
        <a:bodyPr/>
        <a:lstStyle/>
        <a:p>
          <a:endParaRPr lang="es-ES"/>
        </a:p>
      </dgm:t>
    </dgm:pt>
    <dgm:pt modelId="{2002738A-8CFC-4AFE-9129-08EAB78CBBB2}" type="sibTrans" cxnId="{7A71F39A-56F6-440E-9A5C-1A6AE87CF7E3}">
      <dgm:prSet/>
      <dgm:spPr/>
      <dgm:t>
        <a:bodyPr/>
        <a:lstStyle/>
        <a:p>
          <a:endParaRPr lang="es-ES"/>
        </a:p>
      </dgm:t>
    </dgm:pt>
    <dgm:pt modelId="{FE3B20CF-B8CC-4447-8226-464B3EC6BAE6}" type="pres">
      <dgm:prSet presAssocID="{28BDCE27-9CC4-488F-928B-A1952D8E46F0}" presName="vert0" presStyleCnt="0">
        <dgm:presLayoutVars>
          <dgm:dir/>
          <dgm:animOne val="branch"/>
          <dgm:animLvl val="lvl"/>
        </dgm:presLayoutVars>
      </dgm:prSet>
      <dgm:spPr/>
    </dgm:pt>
    <dgm:pt modelId="{2B8C4E03-5B82-4F98-A34B-44312211009C}" type="pres">
      <dgm:prSet presAssocID="{8098798C-63F9-45E7-A0B8-27115CDCCE97}" presName="thickLine" presStyleLbl="alignNode1" presStyleIdx="0" presStyleCnt="4"/>
      <dgm:spPr/>
    </dgm:pt>
    <dgm:pt modelId="{574BDC32-F535-467B-8CC7-5D29AA6B2B19}" type="pres">
      <dgm:prSet presAssocID="{8098798C-63F9-45E7-A0B8-27115CDCCE97}" presName="horz1" presStyleCnt="0"/>
      <dgm:spPr/>
    </dgm:pt>
    <dgm:pt modelId="{1A71D5BD-2E38-4D28-B8F9-0DE2C50C2E49}" type="pres">
      <dgm:prSet presAssocID="{8098798C-63F9-45E7-A0B8-27115CDCCE97}" presName="tx1" presStyleLbl="revTx" presStyleIdx="0" presStyleCnt="4"/>
      <dgm:spPr/>
    </dgm:pt>
    <dgm:pt modelId="{A06273F3-747B-405B-8EAB-303E335DC3F3}" type="pres">
      <dgm:prSet presAssocID="{8098798C-63F9-45E7-A0B8-27115CDCCE97}" presName="vert1" presStyleCnt="0"/>
      <dgm:spPr/>
    </dgm:pt>
    <dgm:pt modelId="{66963F7C-7754-4ED0-97A3-1341FECC182A}" type="pres">
      <dgm:prSet presAssocID="{9828D7D3-B443-4D3F-B832-3872B8EF53D9}" presName="thickLine" presStyleLbl="alignNode1" presStyleIdx="1" presStyleCnt="4"/>
      <dgm:spPr/>
    </dgm:pt>
    <dgm:pt modelId="{80A76040-9DBC-4DB5-9A43-DB19FFAA23BC}" type="pres">
      <dgm:prSet presAssocID="{9828D7D3-B443-4D3F-B832-3872B8EF53D9}" presName="horz1" presStyleCnt="0"/>
      <dgm:spPr/>
    </dgm:pt>
    <dgm:pt modelId="{8C329C55-2699-45AE-818B-4F60368761F2}" type="pres">
      <dgm:prSet presAssocID="{9828D7D3-B443-4D3F-B832-3872B8EF53D9}" presName="tx1" presStyleLbl="revTx" presStyleIdx="1" presStyleCnt="4"/>
      <dgm:spPr/>
    </dgm:pt>
    <dgm:pt modelId="{F36D17E3-3357-4E11-9B68-E1F84CDDF95B}" type="pres">
      <dgm:prSet presAssocID="{9828D7D3-B443-4D3F-B832-3872B8EF53D9}" presName="vert1" presStyleCnt="0"/>
      <dgm:spPr/>
    </dgm:pt>
    <dgm:pt modelId="{81E653F5-3F94-4E86-AA62-54A2395401D8}" type="pres">
      <dgm:prSet presAssocID="{BB77185F-F9D2-45E1-9450-3B89ADE09809}" presName="thickLine" presStyleLbl="alignNode1" presStyleIdx="2" presStyleCnt="4"/>
      <dgm:spPr/>
    </dgm:pt>
    <dgm:pt modelId="{2D8CBD06-20E9-4C61-BD46-F329D48EE3AD}" type="pres">
      <dgm:prSet presAssocID="{BB77185F-F9D2-45E1-9450-3B89ADE09809}" presName="horz1" presStyleCnt="0"/>
      <dgm:spPr/>
    </dgm:pt>
    <dgm:pt modelId="{669F7BBA-5FD9-4F97-A317-C53C23ACF486}" type="pres">
      <dgm:prSet presAssocID="{BB77185F-F9D2-45E1-9450-3B89ADE09809}" presName="tx1" presStyleLbl="revTx" presStyleIdx="2" presStyleCnt="4"/>
      <dgm:spPr/>
    </dgm:pt>
    <dgm:pt modelId="{4F29A0A8-82C4-484D-9B73-7C8876C7C118}" type="pres">
      <dgm:prSet presAssocID="{BB77185F-F9D2-45E1-9450-3B89ADE09809}" presName="vert1" presStyleCnt="0"/>
      <dgm:spPr/>
    </dgm:pt>
    <dgm:pt modelId="{B8CC5F38-932E-4337-ABB1-FDA733308154}" type="pres">
      <dgm:prSet presAssocID="{F55B53E5-69FB-47A8-BFDF-8B80BF6EFD82}" presName="thickLine" presStyleLbl="alignNode1" presStyleIdx="3" presStyleCnt="4"/>
      <dgm:spPr/>
    </dgm:pt>
    <dgm:pt modelId="{7B0F706F-BC65-4FAE-A99F-830DF3044F7F}" type="pres">
      <dgm:prSet presAssocID="{F55B53E5-69FB-47A8-BFDF-8B80BF6EFD82}" presName="horz1" presStyleCnt="0"/>
      <dgm:spPr/>
    </dgm:pt>
    <dgm:pt modelId="{5D1B77DD-046F-477A-AE3B-0931F339FE0B}" type="pres">
      <dgm:prSet presAssocID="{F55B53E5-69FB-47A8-BFDF-8B80BF6EFD82}" presName="tx1" presStyleLbl="revTx" presStyleIdx="3" presStyleCnt="4"/>
      <dgm:spPr/>
    </dgm:pt>
    <dgm:pt modelId="{30B7A8B9-B01C-44B5-9CF5-5802CA8B1FAD}" type="pres">
      <dgm:prSet presAssocID="{F55B53E5-69FB-47A8-BFDF-8B80BF6EFD82}" presName="vert1" presStyleCnt="0"/>
      <dgm:spPr/>
    </dgm:pt>
  </dgm:ptLst>
  <dgm:cxnLst>
    <dgm:cxn modelId="{5988874C-5DEA-4C86-A814-20D8AB507C57}" srcId="{28BDCE27-9CC4-488F-928B-A1952D8E46F0}" destId="{9828D7D3-B443-4D3F-B832-3872B8EF53D9}" srcOrd="1" destOrd="0" parTransId="{804A5DF5-44E0-465E-A1C6-AD3DA089A145}" sibTransId="{12E60877-F362-4CFE-AF35-6A9284799901}"/>
    <dgm:cxn modelId="{F2CC59BB-B37C-4790-B4D2-7DAAEEC4D0F6}" type="presOf" srcId="{9828D7D3-B443-4D3F-B832-3872B8EF53D9}" destId="{8C329C55-2699-45AE-818B-4F60368761F2}" srcOrd="0" destOrd="0" presId="urn:microsoft.com/office/officeart/2008/layout/LinedList"/>
    <dgm:cxn modelId="{8E1152CA-F157-46CE-A4AF-EDE198F6363F}" type="presOf" srcId="{28BDCE27-9CC4-488F-928B-A1952D8E46F0}" destId="{FE3B20CF-B8CC-4447-8226-464B3EC6BAE6}" srcOrd="0" destOrd="0" presId="urn:microsoft.com/office/officeart/2008/layout/LinedList"/>
    <dgm:cxn modelId="{42FF0832-5EF2-49F3-A956-F966148F0DAE}" type="presOf" srcId="{BB77185F-F9D2-45E1-9450-3B89ADE09809}" destId="{669F7BBA-5FD9-4F97-A317-C53C23ACF486}" srcOrd="0" destOrd="0" presId="urn:microsoft.com/office/officeart/2008/layout/LinedList"/>
    <dgm:cxn modelId="{3643E7AA-36CD-4C25-891C-53C896508DA4}" srcId="{28BDCE27-9CC4-488F-928B-A1952D8E46F0}" destId="{8098798C-63F9-45E7-A0B8-27115CDCCE97}" srcOrd="0" destOrd="0" parTransId="{45C5ED7B-DEBC-485F-94ED-F524113C6F65}" sibTransId="{A3E25DF9-C895-4898-B77B-B9749F795458}"/>
    <dgm:cxn modelId="{8574AF0F-CDA5-4076-BE66-3AD6DFE0184E}" type="presOf" srcId="{8098798C-63F9-45E7-A0B8-27115CDCCE97}" destId="{1A71D5BD-2E38-4D28-B8F9-0DE2C50C2E49}" srcOrd="0" destOrd="0" presId="urn:microsoft.com/office/officeart/2008/layout/LinedList"/>
    <dgm:cxn modelId="{927F53F6-B5CC-4FC0-BD53-98EACF35933A}" type="presOf" srcId="{F55B53E5-69FB-47A8-BFDF-8B80BF6EFD82}" destId="{5D1B77DD-046F-477A-AE3B-0931F339FE0B}" srcOrd="0" destOrd="0" presId="urn:microsoft.com/office/officeart/2008/layout/LinedList"/>
    <dgm:cxn modelId="{D1ED26D7-002D-48A2-996F-DD7A95C766A7}" srcId="{28BDCE27-9CC4-488F-928B-A1952D8E46F0}" destId="{BB77185F-F9D2-45E1-9450-3B89ADE09809}" srcOrd="2" destOrd="0" parTransId="{D9B251E4-F06C-401D-BAF6-D6AAA52A9C82}" sibTransId="{241C9428-9DC8-47CE-89BB-977A17E42713}"/>
    <dgm:cxn modelId="{7A71F39A-56F6-440E-9A5C-1A6AE87CF7E3}" srcId="{28BDCE27-9CC4-488F-928B-A1952D8E46F0}" destId="{F55B53E5-69FB-47A8-BFDF-8B80BF6EFD82}" srcOrd="3" destOrd="0" parTransId="{A403DB9F-B2F5-45CF-AD95-7E7BCC89C3DA}" sibTransId="{2002738A-8CFC-4AFE-9129-08EAB78CBBB2}"/>
    <dgm:cxn modelId="{6CAADD4E-F495-4160-8B7D-224278570EA5}" type="presParOf" srcId="{FE3B20CF-B8CC-4447-8226-464B3EC6BAE6}" destId="{2B8C4E03-5B82-4F98-A34B-44312211009C}" srcOrd="0" destOrd="0" presId="urn:microsoft.com/office/officeart/2008/layout/LinedList"/>
    <dgm:cxn modelId="{07C9608D-759E-4E10-8C42-24548EF923AC}" type="presParOf" srcId="{FE3B20CF-B8CC-4447-8226-464B3EC6BAE6}" destId="{574BDC32-F535-467B-8CC7-5D29AA6B2B19}" srcOrd="1" destOrd="0" presId="urn:microsoft.com/office/officeart/2008/layout/LinedList"/>
    <dgm:cxn modelId="{FC15A4BD-F93F-4164-A3B3-E559B08B3716}" type="presParOf" srcId="{574BDC32-F535-467B-8CC7-5D29AA6B2B19}" destId="{1A71D5BD-2E38-4D28-B8F9-0DE2C50C2E49}" srcOrd="0" destOrd="0" presId="urn:microsoft.com/office/officeart/2008/layout/LinedList"/>
    <dgm:cxn modelId="{0EC2EB2C-8267-4025-AD9D-A993496D72FD}" type="presParOf" srcId="{574BDC32-F535-467B-8CC7-5D29AA6B2B19}" destId="{A06273F3-747B-405B-8EAB-303E335DC3F3}" srcOrd="1" destOrd="0" presId="urn:microsoft.com/office/officeart/2008/layout/LinedList"/>
    <dgm:cxn modelId="{0162A337-9566-4E38-B12E-41F087BE1480}" type="presParOf" srcId="{FE3B20CF-B8CC-4447-8226-464B3EC6BAE6}" destId="{66963F7C-7754-4ED0-97A3-1341FECC182A}" srcOrd="2" destOrd="0" presId="urn:microsoft.com/office/officeart/2008/layout/LinedList"/>
    <dgm:cxn modelId="{197D1855-E414-49F7-91FB-E7C4C28E6E33}" type="presParOf" srcId="{FE3B20CF-B8CC-4447-8226-464B3EC6BAE6}" destId="{80A76040-9DBC-4DB5-9A43-DB19FFAA23BC}" srcOrd="3" destOrd="0" presId="urn:microsoft.com/office/officeart/2008/layout/LinedList"/>
    <dgm:cxn modelId="{1E8EECB4-45D0-4611-AC22-AE472606301F}" type="presParOf" srcId="{80A76040-9DBC-4DB5-9A43-DB19FFAA23BC}" destId="{8C329C55-2699-45AE-818B-4F60368761F2}" srcOrd="0" destOrd="0" presId="urn:microsoft.com/office/officeart/2008/layout/LinedList"/>
    <dgm:cxn modelId="{632F3F9D-7E6F-4B14-AD17-85A04BFAD871}" type="presParOf" srcId="{80A76040-9DBC-4DB5-9A43-DB19FFAA23BC}" destId="{F36D17E3-3357-4E11-9B68-E1F84CDDF95B}" srcOrd="1" destOrd="0" presId="urn:microsoft.com/office/officeart/2008/layout/LinedList"/>
    <dgm:cxn modelId="{E4F88754-D91D-4295-A196-42F50C9B1B59}" type="presParOf" srcId="{FE3B20CF-B8CC-4447-8226-464B3EC6BAE6}" destId="{81E653F5-3F94-4E86-AA62-54A2395401D8}" srcOrd="4" destOrd="0" presId="urn:microsoft.com/office/officeart/2008/layout/LinedList"/>
    <dgm:cxn modelId="{A8347FE7-C4B3-4C81-A5E0-E14FCEF00FEB}" type="presParOf" srcId="{FE3B20CF-B8CC-4447-8226-464B3EC6BAE6}" destId="{2D8CBD06-20E9-4C61-BD46-F329D48EE3AD}" srcOrd="5" destOrd="0" presId="urn:microsoft.com/office/officeart/2008/layout/LinedList"/>
    <dgm:cxn modelId="{1AF0EBAC-1ACB-4C34-A0CC-5D8FC39C302B}" type="presParOf" srcId="{2D8CBD06-20E9-4C61-BD46-F329D48EE3AD}" destId="{669F7BBA-5FD9-4F97-A317-C53C23ACF486}" srcOrd="0" destOrd="0" presId="urn:microsoft.com/office/officeart/2008/layout/LinedList"/>
    <dgm:cxn modelId="{0F82068E-631E-480E-AB73-CABB6BFC5C55}" type="presParOf" srcId="{2D8CBD06-20E9-4C61-BD46-F329D48EE3AD}" destId="{4F29A0A8-82C4-484D-9B73-7C8876C7C118}" srcOrd="1" destOrd="0" presId="urn:microsoft.com/office/officeart/2008/layout/LinedList"/>
    <dgm:cxn modelId="{8F897B91-45BC-4FF0-915D-F7F50410122C}" type="presParOf" srcId="{FE3B20CF-B8CC-4447-8226-464B3EC6BAE6}" destId="{B8CC5F38-932E-4337-ABB1-FDA733308154}" srcOrd="6" destOrd="0" presId="urn:microsoft.com/office/officeart/2008/layout/LinedList"/>
    <dgm:cxn modelId="{17FD5FB0-E9ED-4CA9-B9E1-685E6A97A526}" type="presParOf" srcId="{FE3B20CF-B8CC-4447-8226-464B3EC6BAE6}" destId="{7B0F706F-BC65-4FAE-A99F-830DF3044F7F}" srcOrd="7" destOrd="0" presId="urn:microsoft.com/office/officeart/2008/layout/LinedList"/>
    <dgm:cxn modelId="{7036B8D1-0919-46D6-8E0E-A6D0DDE62C55}" type="presParOf" srcId="{7B0F706F-BC65-4FAE-A99F-830DF3044F7F}" destId="{5D1B77DD-046F-477A-AE3B-0931F339FE0B}" srcOrd="0" destOrd="0" presId="urn:microsoft.com/office/officeart/2008/layout/LinedList"/>
    <dgm:cxn modelId="{C0AAB73F-B90F-4415-A150-5599D3B365A3}" type="presParOf" srcId="{7B0F706F-BC65-4FAE-A99F-830DF3044F7F}" destId="{30B7A8B9-B01C-44B5-9CF5-5802CA8B1FAD}"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C4E03-5B82-4F98-A34B-44312211009C}">
      <dsp:nvSpPr>
        <dsp:cNvPr id="0" name=""/>
        <dsp:cNvSpPr/>
      </dsp:nvSpPr>
      <dsp:spPr>
        <a:xfrm>
          <a:off x="0" y="0"/>
          <a:ext cx="9931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71D5BD-2E38-4D28-B8F9-0DE2C50C2E49}">
      <dsp:nvSpPr>
        <dsp:cNvPr id="0" name=""/>
        <dsp:cNvSpPr/>
      </dsp:nvSpPr>
      <dsp:spPr>
        <a:xfrm>
          <a:off x="0" y="0"/>
          <a:ext cx="9931400" cy="1122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s-ES" sz="2300" kern="1200" smtClean="0"/>
            <a:t>Es un servicio distribuido a nivel global que permite convertir los nombres de los sitios en las direcciones IP que les corresponde.</a:t>
          </a:r>
          <a:endParaRPr lang="es-ES" sz="2300" kern="1200"/>
        </a:p>
      </dsp:txBody>
      <dsp:txXfrm>
        <a:off x="0" y="0"/>
        <a:ext cx="9931400" cy="1122873"/>
      </dsp:txXfrm>
    </dsp:sp>
    <dsp:sp modelId="{66963F7C-7754-4ED0-97A3-1341FECC182A}">
      <dsp:nvSpPr>
        <dsp:cNvPr id="0" name=""/>
        <dsp:cNvSpPr/>
      </dsp:nvSpPr>
      <dsp:spPr>
        <a:xfrm>
          <a:off x="0" y="1122873"/>
          <a:ext cx="9931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329C55-2699-45AE-818B-4F60368761F2}">
      <dsp:nvSpPr>
        <dsp:cNvPr id="0" name=""/>
        <dsp:cNvSpPr/>
      </dsp:nvSpPr>
      <dsp:spPr>
        <a:xfrm>
          <a:off x="0" y="1122873"/>
          <a:ext cx="9931400" cy="1122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s-ES" sz="2300" kern="1200" smtClean="0"/>
            <a:t>Es un sistema de nomenclatura jerárquico que administra el espacio de nombres de dominio o DNS</a:t>
          </a:r>
          <a:endParaRPr lang="es-ES" sz="2300" kern="1200"/>
        </a:p>
      </dsp:txBody>
      <dsp:txXfrm>
        <a:off x="0" y="1122873"/>
        <a:ext cx="9931400" cy="1122873"/>
      </dsp:txXfrm>
    </dsp:sp>
    <dsp:sp modelId="{81E653F5-3F94-4E86-AA62-54A2395401D8}">
      <dsp:nvSpPr>
        <dsp:cNvPr id="0" name=""/>
        <dsp:cNvSpPr/>
      </dsp:nvSpPr>
      <dsp:spPr>
        <a:xfrm>
          <a:off x="0" y="2245747"/>
          <a:ext cx="9931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9F7BBA-5FD9-4F97-A317-C53C23ACF486}">
      <dsp:nvSpPr>
        <dsp:cNvPr id="0" name=""/>
        <dsp:cNvSpPr/>
      </dsp:nvSpPr>
      <dsp:spPr>
        <a:xfrm>
          <a:off x="0" y="2245747"/>
          <a:ext cx="9931400" cy="1122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s-ES" sz="2300" kern="1200" smtClean="0"/>
            <a:t>Cuando un usuario registra un dominio, se crea una entrada WHOIS en el registro correspondiente y queda almacenada en el DNS como un resource record. </a:t>
          </a:r>
          <a:endParaRPr lang="es-ES" sz="2300" kern="1200"/>
        </a:p>
      </dsp:txBody>
      <dsp:txXfrm>
        <a:off x="0" y="2245747"/>
        <a:ext cx="9931400" cy="1122873"/>
      </dsp:txXfrm>
    </dsp:sp>
    <dsp:sp modelId="{B8CC5F38-932E-4337-ABB1-FDA733308154}">
      <dsp:nvSpPr>
        <dsp:cNvPr id="0" name=""/>
        <dsp:cNvSpPr/>
      </dsp:nvSpPr>
      <dsp:spPr>
        <a:xfrm>
          <a:off x="0" y="3368621"/>
          <a:ext cx="9931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1B77DD-046F-477A-AE3B-0931F339FE0B}">
      <dsp:nvSpPr>
        <dsp:cNvPr id="0" name=""/>
        <dsp:cNvSpPr/>
      </dsp:nvSpPr>
      <dsp:spPr>
        <a:xfrm>
          <a:off x="0" y="3368621"/>
          <a:ext cx="9931400" cy="1122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lvl="0" algn="l" defTabSz="1022350" rtl="0">
            <a:lnSpc>
              <a:spcPct val="90000"/>
            </a:lnSpc>
            <a:spcBef>
              <a:spcPct val="0"/>
            </a:spcBef>
            <a:spcAft>
              <a:spcPct val="35000"/>
            </a:spcAft>
          </a:pPr>
          <a:r>
            <a:rPr lang="es-ES" sz="2300" kern="1200" smtClean="0"/>
            <a:t>La base de datos de un servidor DNS se convierte en la compilación de todos los registros de la zona del espacio de nombres de dominio que gestiona.</a:t>
          </a:r>
          <a:endParaRPr lang="es-ES" sz="2300" kern="1200"/>
        </a:p>
      </dsp:txBody>
      <dsp:txXfrm>
        <a:off x="0" y="3368621"/>
        <a:ext cx="9931400" cy="112287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s-ES" sz="4400" spc="-1" strike="noStrike">
                <a:solidFill>
                  <a:srgbClr val="000000"/>
                </a:solidFill>
                <a:latin typeface="Arial"/>
              </a:rPr>
              <a:t>Pulse para desplazar la diapositiva</a:t>
            </a:r>
            <a:endParaRPr b="0" lang="es-ES" sz="4400" spc="-1" strike="noStrike">
              <a:solidFill>
                <a:srgbClr val="000000"/>
              </a:solidFill>
              <a:latin typeface="Arial"/>
            </a:endParaRPr>
          </a:p>
        </p:txBody>
      </p:sp>
      <p:sp>
        <p:nvSpPr>
          <p:cNvPr id="1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13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140" name="PlaceHolder 4"/>
          <p:cNvSpPr>
            <a:spLocks noGrp="1"/>
          </p:cNvSpPr>
          <p:nvPr>
            <p:ph type="dt" idx="5"/>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141" name="PlaceHolder 5"/>
          <p:cNvSpPr>
            <a:spLocks noGrp="1"/>
          </p:cNvSpPr>
          <p:nvPr>
            <p:ph type="ftr" idx="6"/>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42" name="PlaceHolder 6"/>
          <p:cNvSpPr>
            <a:spLocks noGrp="1"/>
          </p:cNvSpPr>
          <p:nvPr>
            <p:ph type="sldNum" idx="7"/>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8CD4B958-E4AD-4F80-87BB-6D79EB7D2241}"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3520" cy="3083400"/>
          </a:xfrm>
          <a:prstGeom prst="rect">
            <a:avLst/>
          </a:prstGeom>
          <a:ln w="0">
            <a:noFill/>
          </a:ln>
        </p:spPr>
      </p:sp>
      <p:sp>
        <p:nvSpPr>
          <p:cNvPr id="31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pPr marL="216000" indent="0">
              <a:lnSpc>
                <a:spcPct val="100000"/>
              </a:lnSpc>
              <a:buNone/>
              <a:tabLst>
                <a:tab algn="l" pos="0"/>
              </a:tabLst>
            </a:pPr>
            <a:r>
              <a:rPr b="0" lang="es-ES" sz="1200" spc="-1" strike="noStrike">
                <a:solidFill>
                  <a:srgbClr val="000000"/>
                </a:solidFill>
                <a:latin typeface="+mn-lt"/>
                <a:ea typeface="+mn-ea"/>
              </a:rPr>
              <a:t>Bajo el dominio del nodo .edu tenemos también, por ejemplo, ub.edu, la uab.edu (en Alabama, Birmingham) y no la Autónoma de Barcelona que sería uab.cat porque no puede haber dos hijos con el mismo nombre.  </a:t>
            </a:r>
            <a:endParaRPr b="0" lang="es-ES" sz="1200" spc="-1" strike="noStrike">
              <a:solidFill>
                <a:srgbClr val="000000"/>
              </a:solidFill>
              <a:latin typeface="Arial"/>
            </a:endParaRPr>
          </a:p>
          <a:p>
            <a:pPr marL="216000" indent="0">
              <a:lnSpc>
                <a:spcPct val="100000"/>
              </a:lnSpc>
              <a:buNone/>
              <a:tabLst>
                <a:tab algn="l" pos="0"/>
              </a:tabLst>
            </a:pPr>
            <a:r>
              <a:rPr b="0" lang="es-ES" sz="1200" spc="-1" strike="noStrike">
                <a:solidFill>
                  <a:srgbClr val="000000"/>
                </a:solidFill>
                <a:latin typeface="+mn-lt"/>
                <a:ea typeface="+mn-ea"/>
              </a:rPr>
              <a:t>El dominio.upc.edu., es el sub-árbol por debajo del nodo upc.edu y es un sub-dominio del dominio .edu. El dominio fib.upc.edu. engloba todos los nodos que se encuentran por debajo del nodo padre fib.epc.edu. (con lo cual, todos los nombres acaban en fib.upc.edu.). </a:t>
            </a:r>
            <a:endParaRPr b="0" lang="es-ES" sz="1200" spc="-1" strike="noStrike">
              <a:solidFill>
                <a:srgbClr val="000000"/>
              </a:solidFill>
              <a:latin typeface="Arial"/>
            </a:endParaRPr>
          </a:p>
          <a:p>
            <a:pPr marL="216000" indent="0">
              <a:lnSpc>
                <a:spcPct val="100000"/>
              </a:lnSpc>
              <a:buNone/>
              <a:tabLst>
                <a:tab algn="l" pos="0"/>
              </a:tabLst>
            </a:pPr>
            <a:r>
              <a:rPr b="0" lang="es-ES" sz="1200" spc="-1" strike="noStrike">
                <a:solidFill>
                  <a:srgbClr val="000000"/>
                </a:solidFill>
                <a:latin typeface="+mn-lt"/>
                <a:ea typeface="+mn-ea"/>
              </a:rPr>
              <a:t>Este dominio es un sub-dominio de upc.edu. y de edu. Si tuviéramos un dominio gia.fib.upc.edu. sería un dominio que pertenecería a todos los dominios anteriores: gia.fib.upc.edu, .upc.edu. y .edu.</a:t>
            </a:r>
            <a:endParaRPr b="0" lang="es-ES" sz="1200" spc="-1" strike="noStrike">
              <a:solidFill>
                <a:srgbClr val="000000"/>
              </a:solidFill>
              <a:latin typeface="Arial"/>
            </a:endParaRPr>
          </a:p>
          <a:p>
            <a:pPr marL="216000" indent="0">
              <a:lnSpc>
                <a:spcPct val="100000"/>
              </a:lnSpc>
              <a:buNone/>
              <a:tabLst>
                <a:tab algn="l" pos="0"/>
              </a:tabLst>
            </a:pPr>
            <a:endParaRPr b="0" lang="es-ES" sz="1200" spc="-1" strike="noStrike">
              <a:solidFill>
                <a:srgbClr val="000000"/>
              </a:solidFill>
              <a:latin typeface="Arial"/>
            </a:endParaRPr>
          </a:p>
        </p:txBody>
      </p:sp>
      <p:sp>
        <p:nvSpPr>
          <p:cNvPr id="319" name="PlaceHolder 3"/>
          <p:cNvSpPr>
            <a:spLocks noGrp="1"/>
          </p:cNvSpPr>
          <p:nvPr>
            <p:ph type="sldNum" idx="9"/>
          </p:nvPr>
        </p:nvSpPr>
        <p:spPr>
          <a:xfrm>
            <a:off x="3884760" y="8685360"/>
            <a:ext cx="2968920" cy="455760"/>
          </a:xfrm>
          <a:prstGeom prst="rect">
            <a:avLst/>
          </a:prstGeom>
          <a:noFill/>
          <a:ln w="0">
            <a:noFill/>
          </a:ln>
        </p:spPr>
        <p:txBody>
          <a:bodyPr lIns="0" rIns="0" tIns="0" bIns="0" anchor="b">
            <a:noAutofit/>
          </a:bodyPr>
          <a:lstStyle>
            <a:lvl1pPr indent="0" algn="r">
              <a:lnSpc>
                <a:spcPct val="100000"/>
              </a:lnSpc>
              <a:buNone/>
              <a:tabLst>
                <a:tab algn="l" pos="0"/>
              </a:tabLst>
              <a:defRPr b="0" lang="es-ES" sz="1200" spc="-1" strike="noStrike">
                <a:solidFill>
                  <a:srgbClr val="000000"/>
                </a:solidFill>
                <a:latin typeface="+mn-lt"/>
                <a:ea typeface="+mn-ea"/>
              </a:defRPr>
            </a:lvl1pPr>
          </a:lstStyle>
          <a:p>
            <a:pPr indent="0" algn="r">
              <a:lnSpc>
                <a:spcPct val="100000"/>
              </a:lnSpc>
              <a:buNone/>
              <a:tabLst>
                <a:tab algn="l" pos="0"/>
              </a:tabLst>
            </a:pPr>
            <a:fld id="{9B31A042-A9D1-4B2E-B5D4-950B01FFC3D0}" type="slidenum">
              <a:rPr b="0" lang="es-E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3520" cy="3083400"/>
          </a:xfrm>
          <a:prstGeom prst="rect">
            <a:avLst/>
          </a:prstGeom>
          <a:ln w="0">
            <a:noFill/>
          </a:ln>
        </p:spPr>
      </p:sp>
      <p:sp>
        <p:nvSpPr>
          <p:cNvPr id="32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pPr marL="216000" indent="0">
              <a:lnSpc>
                <a:spcPct val="100000"/>
              </a:lnSpc>
              <a:buNone/>
              <a:tabLst>
                <a:tab algn="l" pos="0"/>
              </a:tabLst>
            </a:pPr>
            <a:r>
              <a:rPr b="0" lang="es-ES" sz="1200" spc="-1" strike="noStrike">
                <a:solidFill>
                  <a:srgbClr val="000000"/>
                </a:solidFill>
                <a:latin typeface="+mn-lt"/>
                <a:ea typeface="+mn-ea"/>
              </a:rPr>
              <a:t>Bajo el dominio del nodo .edu tenemos también, por ejemplo, ub.edu, la uab.edu (en Alabama, Birmingham) y no la Autónoma de Barcelona que sería uab.cat porque no puede haber dos hijos con el mismo nombre.  </a:t>
            </a:r>
            <a:endParaRPr b="0" lang="es-ES" sz="1200" spc="-1" strike="noStrike">
              <a:solidFill>
                <a:srgbClr val="000000"/>
              </a:solidFill>
              <a:latin typeface="Arial"/>
            </a:endParaRPr>
          </a:p>
          <a:p>
            <a:pPr marL="216000" indent="0">
              <a:lnSpc>
                <a:spcPct val="100000"/>
              </a:lnSpc>
              <a:buNone/>
              <a:tabLst>
                <a:tab algn="l" pos="0"/>
              </a:tabLst>
            </a:pPr>
            <a:r>
              <a:rPr b="0" lang="es-ES" sz="1200" spc="-1" strike="noStrike">
                <a:solidFill>
                  <a:srgbClr val="000000"/>
                </a:solidFill>
                <a:latin typeface="+mn-lt"/>
                <a:ea typeface="+mn-ea"/>
              </a:rPr>
              <a:t>El dominio.upc.edu., es el sub-árbol por debajo del nodo upc.edu y es un sub-dominio del dominio .edu. El dominio fib.upc.edu. engloba todos los nodos que se encuentran por debajo del nodo padre fib.epc.edu. (con lo cual, todos los nombres acaban en fib.upc.edu.). </a:t>
            </a:r>
            <a:endParaRPr b="0" lang="es-ES" sz="1200" spc="-1" strike="noStrike">
              <a:solidFill>
                <a:srgbClr val="000000"/>
              </a:solidFill>
              <a:latin typeface="Arial"/>
            </a:endParaRPr>
          </a:p>
          <a:p>
            <a:pPr marL="216000" indent="0">
              <a:lnSpc>
                <a:spcPct val="100000"/>
              </a:lnSpc>
              <a:buNone/>
              <a:tabLst>
                <a:tab algn="l" pos="0"/>
              </a:tabLst>
            </a:pPr>
            <a:r>
              <a:rPr b="0" lang="es-ES" sz="1200" spc="-1" strike="noStrike">
                <a:solidFill>
                  <a:srgbClr val="000000"/>
                </a:solidFill>
                <a:latin typeface="+mn-lt"/>
                <a:ea typeface="+mn-ea"/>
              </a:rPr>
              <a:t>Este dominio es un sub-dominio de upc.edu. y de edu. Si tuviéramos un dominio gia.fib.upc.edu. sería un dominio que pertenecería a todos los dominios anteriores: gia.fib.upc.edu, .upc.edu. y .edu.</a:t>
            </a:r>
            <a:endParaRPr b="0" lang="es-ES" sz="1200" spc="-1" strike="noStrike">
              <a:solidFill>
                <a:srgbClr val="000000"/>
              </a:solidFill>
              <a:latin typeface="Arial"/>
            </a:endParaRPr>
          </a:p>
          <a:p>
            <a:pPr marL="216000" indent="0">
              <a:lnSpc>
                <a:spcPct val="100000"/>
              </a:lnSpc>
              <a:buNone/>
              <a:tabLst>
                <a:tab algn="l" pos="0"/>
              </a:tabLst>
            </a:pPr>
            <a:endParaRPr b="0" lang="es-ES" sz="1200" spc="-1" strike="noStrike">
              <a:solidFill>
                <a:srgbClr val="000000"/>
              </a:solidFill>
              <a:latin typeface="Arial"/>
            </a:endParaRPr>
          </a:p>
        </p:txBody>
      </p:sp>
      <p:sp>
        <p:nvSpPr>
          <p:cNvPr id="322" name="PlaceHolder 3"/>
          <p:cNvSpPr>
            <a:spLocks noGrp="1"/>
          </p:cNvSpPr>
          <p:nvPr>
            <p:ph type="sldNum" idx="10"/>
          </p:nvPr>
        </p:nvSpPr>
        <p:spPr>
          <a:xfrm>
            <a:off x="3884760" y="8685360"/>
            <a:ext cx="2968920" cy="455760"/>
          </a:xfrm>
          <a:prstGeom prst="rect">
            <a:avLst/>
          </a:prstGeom>
          <a:noFill/>
          <a:ln w="0">
            <a:noFill/>
          </a:ln>
        </p:spPr>
        <p:txBody>
          <a:bodyPr lIns="0" rIns="0" tIns="0" bIns="0" anchor="b">
            <a:noAutofit/>
          </a:bodyPr>
          <a:lstStyle>
            <a:lvl1pPr indent="0" algn="r">
              <a:lnSpc>
                <a:spcPct val="100000"/>
              </a:lnSpc>
              <a:buNone/>
              <a:tabLst>
                <a:tab algn="l" pos="0"/>
              </a:tabLst>
              <a:defRPr b="0" lang="es-ES" sz="1200" spc="-1" strike="noStrike">
                <a:solidFill>
                  <a:srgbClr val="000000"/>
                </a:solidFill>
                <a:latin typeface="+mn-lt"/>
                <a:ea typeface="+mn-ea"/>
              </a:defRPr>
            </a:lvl1pPr>
          </a:lstStyle>
          <a:p>
            <a:pPr indent="0" algn="r">
              <a:lnSpc>
                <a:spcPct val="100000"/>
              </a:lnSpc>
              <a:buNone/>
              <a:tabLst>
                <a:tab algn="l" pos="0"/>
              </a:tabLst>
            </a:pPr>
            <a:fld id="{6B29B3CB-ADB9-4824-B6F4-6608B83BB213}" type="slidenum">
              <a:rPr b="0" lang="es-ES" sz="1200" spc="-1" strike="noStrike">
                <a:solidFill>
                  <a:srgbClr val="000000"/>
                </a:solidFill>
                <a:latin typeface="+mn-lt"/>
                <a:ea typeface="+mn-ea"/>
              </a:rPr>
              <a:t>&lt;número&gt;</a:t>
            </a:fld>
            <a:endParaRPr b="0" lang="es-E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2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3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D697EBD9-27A6-4FCD-B16C-627A37F3D3D4}"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1EA99DD-FD73-4488-A8A0-D5B1887D75B0}"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5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CD89C26-A0DB-43D1-AE53-67FA636674CA}"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190888F-0EE6-4E0D-9379-707B3006F546}"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4F85C87-31AD-4473-8E19-D481854ACB1D}"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4EDF25F-EF8E-4631-8C87-8913A0A4B9F4}"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6F83CC5-69E2-4B83-A24B-F2A511B3C24C}"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6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318D29C-2DDD-4103-BC53-6132C16E6AE8}"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D3A0513-982F-4100-80E9-B67EF5816F8F}"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907E7BF9-2456-4F19-81E9-C2FD9F3779B1}"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8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6EADD6A2-D535-4BA1-9A25-43760CF6839B}"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8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8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28AB7EF4-E7FE-45B8-903F-80E4F7957445}"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D240D139-B8F6-4101-BC37-A29ADED59D50}"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EC606262-F6EB-40CF-9534-B2167346D74A}"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4"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4"/>
          </p:nvPr>
        </p:nvSpPr>
        <p:spPr/>
        <p:txBody>
          <a:bodyPr/>
          <a:p>
            <a:fld id="{5D5C8BA8-FEBB-4CB7-A0FD-4572ECBA144F}"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0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0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B0D48BEF-AEAF-440E-B406-F07C0A3F10EC}"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1B5EF43B-3178-48BA-8B2F-4AC5ADD03BB2}"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9"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s-ES" sz="3200" spc="-1" strike="noStrike">
              <a:solidFill>
                <a:srgbClr val="000000"/>
              </a:solidFill>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4"/>
          </p:nvPr>
        </p:nvSpPr>
        <p:spPr/>
        <p:txBody>
          <a:bodyPr/>
          <a:p>
            <a:fld id="{414E363D-81B4-4B34-BB8F-B9753041610B}"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6BDCBEDA-FABB-43C2-B414-3710F700F13E}"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17"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0660C56D-8332-49FE-808A-DEBEF7A9753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1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1"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4"/>
          </p:nvPr>
        </p:nvSpPr>
        <p:spPr/>
        <p:txBody>
          <a:bodyPr/>
          <a:p>
            <a:fld id="{3F167961-EF03-4E8C-9812-6EB715511695}"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3"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4"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4"/>
          </p:nvPr>
        </p:nvSpPr>
        <p:spPr/>
        <p:txBody>
          <a:bodyPr/>
          <a:p>
            <a:fld id="{69065461-4A09-407B-ABB5-8A1FEF90A9ED}"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2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29"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4"/>
          </p:nvPr>
        </p:nvSpPr>
        <p:spPr/>
        <p:txBody>
          <a:bodyPr/>
          <a:p>
            <a:fld id="{8637F1AE-221B-46B5-96F8-C875B266A2C5}"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31"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2"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3"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4"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5"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136"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4"/>
          </p:nvPr>
        </p:nvSpPr>
        <p:spPr/>
        <p:txBody>
          <a:bodyPr/>
          <a:p>
            <a:fld id="{24186180-ECD7-4937-9DEF-2D9D8B15C93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Imagen 6" descr=""/>
          <p:cNvPicPr/>
          <p:nvPr/>
        </p:nvPicPr>
        <p:blipFill>
          <a:blip r:embed="rId2"/>
          <a:srcRect l="0" t="205" r="0" b="0"/>
          <a:stretch/>
        </p:blipFill>
        <p:spPr>
          <a:xfrm>
            <a:off x="2880" y="0"/>
            <a:ext cx="12186360" cy="6855120"/>
          </a:xfrm>
          <a:prstGeom prst="rect">
            <a:avLst/>
          </a:prstGeom>
          <a:ln w="0">
            <a:noFill/>
          </a:ln>
        </p:spPr>
      </p:pic>
      <p:sp>
        <p:nvSpPr>
          <p:cNvPr id="1" name="Conector recto 12"/>
          <p:cNvSpPr/>
          <p:nvPr/>
        </p:nvSpPr>
        <p:spPr>
          <a:xfrm>
            <a:off x="2444400" y="4076640"/>
            <a:ext cx="7302600" cy="360"/>
          </a:xfrm>
          <a:prstGeom prst="line">
            <a:avLst/>
          </a:prstGeom>
          <a:ln w="19050">
            <a:solidFill>
              <a:srgbClr val="ffffff"/>
            </a:solidFill>
          </a:ln>
        </p:spPr>
        <p:style>
          <a:lnRef idx="1">
            <a:schemeClr val="accent1"/>
          </a:lnRef>
          <a:fillRef idx="0">
            <a:schemeClr val="accent1"/>
          </a:fillRef>
          <a:effectRef idx="0">
            <a:schemeClr val="accent1"/>
          </a:effectRef>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pic>
        <p:nvPicPr>
          <p:cNvPr id="2" name="Imagen 14" descr=""/>
          <p:cNvPicPr/>
          <p:nvPr/>
        </p:nvPicPr>
        <p:blipFill>
          <a:blip r:embed="rId3"/>
          <a:stretch/>
        </p:blipFill>
        <p:spPr>
          <a:xfrm>
            <a:off x="4988520" y="5190480"/>
            <a:ext cx="2212200" cy="1128600"/>
          </a:xfrm>
          <a:prstGeom prst="rect">
            <a:avLst/>
          </a:prstGeom>
          <a:ln w="0">
            <a:noFill/>
          </a:ln>
        </p:spPr>
      </p:pic>
      <p:sp>
        <p:nvSpPr>
          <p:cNvPr id="3" name="Forma libre: forma 15"/>
          <p:cNvSpPr/>
          <p:nvPr/>
        </p:nvSpPr>
        <p:spPr>
          <a:xfrm flipH="1">
            <a:off x="11626200" y="460800"/>
            <a:ext cx="559800" cy="907920"/>
          </a:xfrm>
          <a:custGeom>
            <a:avLst/>
            <a:gdLst>
              <a:gd name="textAreaLeft" fmla="*/ 720 w 559800"/>
              <a:gd name="textAreaRight" fmla="*/ 561960 w 559800"/>
              <a:gd name="textAreaTop" fmla="*/ 0 h 907920"/>
              <a:gd name="textAreaBottom" fmla="*/ 909360 h 90792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4" name="Forma libre: forma 16"/>
          <p:cNvSpPr/>
          <p:nvPr/>
        </p:nvSpPr>
        <p:spPr>
          <a:xfrm>
            <a:off x="562680" y="5667120"/>
            <a:ext cx="559800" cy="907920"/>
          </a:xfrm>
          <a:custGeom>
            <a:avLst/>
            <a:gdLst>
              <a:gd name="textAreaLeft" fmla="*/ 0 w 559800"/>
              <a:gd name="textAreaRight" fmla="*/ 561240 w 559800"/>
              <a:gd name="textAreaTop" fmla="*/ 0 h 907920"/>
              <a:gd name="textAreaBottom" fmla="*/ 909360 h 90792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5" name="Forma libre: forma 17"/>
          <p:cNvSpPr/>
          <p:nvPr/>
        </p:nvSpPr>
        <p:spPr>
          <a:xfrm flipH="1">
            <a:off x="-2880" y="5059080"/>
            <a:ext cx="559800" cy="907920"/>
          </a:xfrm>
          <a:custGeom>
            <a:avLst/>
            <a:gdLst>
              <a:gd name="textAreaLeft" fmla="*/ 720 w 559800"/>
              <a:gd name="textAreaRight" fmla="*/ 561960 w 559800"/>
              <a:gd name="textAreaTop" fmla="*/ 0 h 907920"/>
              <a:gd name="textAreaBottom" fmla="*/ 909360 h 90792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6" name="Forma libre: forma 18"/>
          <p:cNvSpPr/>
          <p:nvPr/>
        </p:nvSpPr>
        <p:spPr>
          <a:xfrm>
            <a:off x="0" y="4148280"/>
            <a:ext cx="559800" cy="907920"/>
          </a:xfrm>
          <a:custGeom>
            <a:avLst/>
            <a:gdLst>
              <a:gd name="textAreaLeft" fmla="*/ 0 w 559800"/>
              <a:gd name="textAreaRight" fmla="*/ 561240 w 559800"/>
              <a:gd name="textAreaTop" fmla="*/ 0 h 907920"/>
              <a:gd name="textAreaBottom" fmla="*/ 909360 h 90792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Forma libre: forma 11"/>
          <p:cNvSpPr/>
          <p:nvPr/>
        </p:nvSpPr>
        <p:spPr>
          <a:xfrm>
            <a:off x="0" y="47880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46" name="Forma libre: forma 12"/>
          <p:cNvSpPr/>
          <p:nvPr/>
        </p:nvSpPr>
        <p:spPr>
          <a:xfrm>
            <a:off x="11717280" y="104436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47" name="Forma libre: forma 13"/>
          <p:cNvSpPr/>
          <p:nvPr/>
        </p:nvSpPr>
        <p:spPr>
          <a:xfrm flipH="1">
            <a:off x="11239560" y="1044360"/>
            <a:ext cx="471240" cy="764640"/>
          </a:xfrm>
          <a:custGeom>
            <a:avLst/>
            <a:gdLst>
              <a:gd name="textAreaLeft" fmla="*/ 720 w 471240"/>
              <a:gd name="textAreaRight" fmla="*/ 47340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48" name="Forma libre: forma 15"/>
          <p:cNvSpPr/>
          <p:nvPr/>
        </p:nvSpPr>
        <p:spPr>
          <a:xfrm flipH="1">
            <a:off x="11714760" y="276840"/>
            <a:ext cx="471240" cy="764640"/>
          </a:xfrm>
          <a:custGeom>
            <a:avLst/>
            <a:gdLst>
              <a:gd name="textAreaLeft" fmla="*/ 720 w 471240"/>
              <a:gd name="textAreaRight" fmla="*/ 47340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49" name="Forma libre: forma 17"/>
          <p:cNvSpPr/>
          <p:nvPr/>
        </p:nvSpPr>
        <p:spPr>
          <a:xfrm>
            <a:off x="11242440" y="-23724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pic>
        <p:nvPicPr>
          <p:cNvPr id="50" name="Imagen 18" descr=""/>
          <p:cNvPicPr/>
          <p:nvPr/>
        </p:nvPicPr>
        <p:blipFill>
          <a:blip r:embed="rId2"/>
          <a:stretch/>
        </p:blipFill>
        <p:spPr>
          <a:xfrm>
            <a:off x="10363320" y="6219360"/>
            <a:ext cx="1553760" cy="438120"/>
          </a:xfrm>
          <a:prstGeom prst="rect">
            <a:avLst/>
          </a:prstGeom>
          <a:ln w="0">
            <a:noFill/>
          </a:ln>
        </p:spPr>
      </p:pic>
      <p:sp>
        <p:nvSpPr>
          <p:cNvPr id="51" name="PlaceHolder 1"/>
          <p:cNvSpPr>
            <a:spLocks noGrp="1"/>
          </p:cNvSpPr>
          <p:nvPr>
            <p:ph type="ftr" idx="1"/>
          </p:nvPr>
        </p:nvSpPr>
        <p:spPr>
          <a:xfrm>
            <a:off x="1159920" y="6468840"/>
            <a:ext cx="7909200" cy="27756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r>
              <a:rPr b="0" lang="es-ES" sz="1100" spc="-1" strike="noStrike">
                <a:solidFill>
                  <a:srgbClr val="000000"/>
                </a:solidFill>
                <a:latin typeface="Arial"/>
              </a:rPr>
              <a:t>&lt;pie de página&gt;</a:t>
            </a:r>
            <a:endParaRPr b="0" lang="es-ES" sz="1100" spc="-1" strike="noStrike">
              <a:solidFill>
                <a:srgbClr val="000000"/>
              </a:solidFill>
              <a:latin typeface="Times New Roman"/>
            </a:endParaRPr>
          </a:p>
        </p:txBody>
      </p:sp>
      <p:sp>
        <p:nvSpPr>
          <p:cNvPr id="52" name="PlaceHolder 2"/>
          <p:cNvSpPr>
            <a:spLocks noGrp="1"/>
          </p:cNvSpPr>
          <p:nvPr>
            <p:ph type="sldNum" idx="2"/>
          </p:nvPr>
        </p:nvSpPr>
        <p:spPr>
          <a:xfrm>
            <a:off x="474120" y="6468840"/>
            <a:ext cx="682920" cy="36216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D9514411-7223-40C9-A334-296C51D9BF18}"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sp>
        <p:nvSpPr>
          <p:cNvPr id="53"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5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Forma libre: forma 11"/>
          <p:cNvSpPr/>
          <p:nvPr/>
        </p:nvSpPr>
        <p:spPr>
          <a:xfrm>
            <a:off x="0" y="47880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92" name="Forma libre: forma 12"/>
          <p:cNvSpPr/>
          <p:nvPr/>
        </p:nvSpPr>
        <p:spPr>
          <a:xfrm>
            <a:off x="11717280" y="104436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93" name="Forma libre: forma 13"/>
          <p:cNvSpPr/>
          <p:nvPr/>
        </p:nvSpPr>
        <p:spPr>
          <a:xfrm flipH="1">
            <a:off x="11239560" y="1044360"/>
            <a:ext cx="471240" cy="764640"/>
          </a:xfrm>
          <a:custGeom>
            <a:avLst/>
            <a:gdLst>
              <a:gd name="textAreaLeft" fmla="*/ 720 w 471240"/>
              <a:gd name="textAreaRight" fmla="*/ 47340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94" name="Forma libre: forma 15"/>
          <p:cNvSpPr/>
          <p:nvPr/>
        </p:nvSpPr>
        <p:spPr>
          <a:xfrm flipH="1">
            <a:off x="11714760" y="276840"/>
            <a:ext cx="471240" cy="764640"/>
          </a:xfrm>
          <a:custGeom>
            <a:avLst/>
            <a:gdLst>
              <a:gd name="textAreaLeft" fmla="*/ 720 w 471240"/>
              <a:gd name="textAreaRight" fmla="*/ 47340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1d70b7"/>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95" name="Forma libre: forma 17"/>
          <p:cNvSpPr/>
          <p:nvPr/>
        </p:nvSpPr>
        <p:spPr>
          <a:xfrm>
            <a:off x="11242440" y="-237240"/>
            <a:ext cx="471240" cy="764640"/>
          </a:xfrm>
          <a:custGeom>
            <a:avLst/>
            <a:gdLst>
              <a:gd name="textAreaLeft" fmla="*/ 0 w 471240"/>
              <a:gd name="textAreaRight" fmla="*/ 472680 w 471240"/>
              <a:gd name="textAreaTop" fmla="*/ 0 h 764640"/>
              <a:gd name="textAreaBottom" fmla="*/ 766080 h 764640"/>
            </a:gdLst>
            <a:ahLst/>
            <a:rect l="textAreaLeft" t="textAreaTop" r="textAreaRight" b="textAreaBottom"/>
            <a:pathLst>
              <a:path w="1257300" h="2035175">
                <a:moveTo>
                  <a:pt x="0" y="676275"/>
                </a:moveTo>
                <a:lnTo>
                  <a:pt x="1257300" y="0"/>
                </a:lnTo>
                <a:lnTo>
                  <a:pt x="1257300" y="1365250"/>
                </a:lnTo>
                <a:lnTo>
                  <a:pt x="0" y="2035175"/>
                </a:lnTo>
                <a:lnTo>
                  <a:pt x="0" y="676275"/>
                </a:lnTo>
                <a:close/>
              </a:path>
            </a:pathLst>
          </a:custGeom>
          <a:solidFill>
            <a:srgbClr val="93c01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pic>
        <p:nvPicPr>
          <p:cNvPr id="96" name="Imagen 18" descr=""/>
          <p:cNvPicPr/>
          <p:nvPr/>
        </p:nvPicPr>
        <p:blipFill>
          <a:blip r:embed="rId2"/>
          <a:stretch/>
        </p:blipFill>
        <p:spPr>
          <a:xfrm>
            <a:off x="10363320" y="6219360"/>
            <a:ext cx="1553760" cy="438120"/>
          </a:xfrm>
          <a:prstGeom prst="rect">
            <a:avLst/>
          </a:prstGeom>
          <a:ln w="0">
            <a:noFill/>
          </a:ln>
        </p:spPr>
      </p:pic>
      <p:sp>
        <p:nvSpPr>
          <p:cNvPr id="97" name="PlaceHolder 1"/>
          <p:cNvSpPr>
            <a:spLocks noGrp="1"/>
          </p:cNvSpPr>
          <p:nvPr>
            <p:ph type="ftr" idx="3"/>
          </p:nvPr>
        </p:nvSpPr>
        <p:spPr>
          <a:xfrm>
            <a:off x="1159920" y="6468840"/>
            <a:ext cx="7909200" cy="27756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r>
              <a:rPr b="0" lang="es-ES" sz="1100" spc="-1" strike="noStrike">
                <a:solidFill>
                  <a:srgbClr val="000000"/>
                </a:solidFill>
                <a:latin typeface="Arial"/>
              </a:rPr>
              <a:t>&lt;pie de página&gt;</a:t>
            </a:r>
            <a:endParaRPr b="0" lang="es-ES" sz="1100" spc="-1" strike="noStrike">
              <a:solidFill>
                <a:srgbClr val="000000"/>
              </a:solidFill>
              <a:latin typeface="Times New Roman"/>
            </a:endParaRPr>
          </a:p>
        </p:txBody>
      </p:sp>
      <p:sp>
        <p:nvSpPr>
          <p:cNvPr id="98" name="PlaceHolder 2"/>
          <p:cNvSpPr>
            <a:spLocks noGrp="1"/>
          </p:cNvSpPr>
          <p:nvPr>
            <p:ph type="sldNum" idx="4"/>
          </p:nvPr>
        </p:nvSpPr>
        <p:spPr>
          <a:xfrm>
            <a:off x="474120" y="6468840"/>
            <a:ext cx="682920" cy="36216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74539F58-5C75-47A3-A290-33D95DECF2C2}"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sp>
        <p:nvSpPr>
          <p:cNvPr id="99"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s-ES" sz="4400" spc="-1" strike="noStrike">
                <a:solidFill>
                  <a:srgbClr val="000000"/>
                </a:solidFill>
                <a:latin typeface="Arial"/>
              </a:rPr>
              <a:t>Pulse para editar el formato del texto de título</a:t>
            </a:r>
            <a:endParaRPr b="0" lang="es-ES" sz="4400" spc="-1" strike="noStrike">
              <a:solidFill>
                <a:srgbClr val="000000"/>
              </a:solidFill>
              <a:latin typeface="Arial"/>
            </a:endParaRPr>
          </a:p>
        </p:txBody>
      </p:sp>
      <p:sp>
        <p:nvSpPr>
          <p:cNvPr id="100"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3200" spc="-1" strike="noStrike">
                <a:solidFill>
                  <a:srgbClr val="000000"/>
                </a:solidFill>
                <a:latin typeface="Arial"/>
              </a:rPr>
              <a:t>Pulse para editar el formato de texto del esquema</a:t>
            </a:r>
            <a:endParaRPr b="0" lang="es-E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2800" spc="-1" strike="noStrike">
                <a:solidFill>
                  <a:srgbClr val="000000"/>
                </a:solidFill>
                <a:latin typeface="Arial"/>
              </a:rPr>
              <a:t>Segundo nivel del esquema</a:t>
            </a:r>
            <a:endParaRPr b="0" lang="es-E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2400" spc="-1" strike="noStrike">
                <a:solidFill>
                  <a:srgbClr val="000000"/>
                </a:solidFill>
                <a:latin typeface="Arial"/>
              </a:rPr>
              <a:t>Tercer nivel del esquema</a:t>
            </a:r>
            <a:endParaRPr b="0" lang="es-E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2000" spc="-1" strike="noStrike">
                <a:solidFill>
                  <a:srgbClr val="000000"/>
                </a:solidFill>
                <a:latin typeface="Arial"/>
              </a:rPr>
              <a:t>Cuarto nivel del esquema</a:t>
            </a:r>
            <a:endParaRPr b="0" lang="es-E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rial"/>
              </a:rPr>
              <a:t>Quinto nivel del esquema</a:t>
            </a:r>
            <a:endParaRPr b="0" lang="es-E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rial"/>
              </a:rPr>
              <a:t>Sexto nivel del esquema</a:t>
            </a:r>
            <a:endParaRPr b="0" lang="es-E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rial"/>
              </a:rPr>
              <a:t>Séptimo nivel del esquema</a:t>
            </a:r>
            <a:endParaRPr b="0" lang="es-E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www.ifp.es/" TargetMode="External"/><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hyperlink" Target="https://datatracker.ietf.org/doc/html/rfc6895" TargetMode="External"/><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hyperlink" Target="http://www.upc.edu/" TargetMode="External"/><Relationship Id="rId2" Type="http://schemas.openxmlformats.org/officeDocument/2006/relationships/hyperlink" Target="http://www.fib.upc,edu/" TargetMode="External"/><Relationship Id="rId3" Type="http://schemas.openxmlformats.org/officeDocument/2006/relationships/hyperlink" Target="http://www.eetac.upc.edu/" TargetMode="External"/><Relationship Id="rId4"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hyperlink" Target="https://www.youtube.com/watch?v=Allly1Ydglk" TargetMode="External"/><Relationship Id="rId2" Type="http://schemas.openxmlformats.org/officeDocument/2006/relationships/hyperlink" Target="https://www.youtube.com/watch?v=SRfU9meXlC8" TargetMode="External"/><Relationship Id="rId3" Type="http://schemas.openxmlformats.org/officeDocument/2006/relationships/hyperlink" Target="https://www.cloudflare.com/es-es/learning/dns/what-is-dns" TargetMode="External"/><Relationship Id="rId4"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hyperlink" Target="https://www.nslookup.io/" TargetMode="External"/><Relationship Id="rId2" Type="http://schemas.openxmlformats.org/officeDocument/2006/relationships/hyperlink" Target="https://dnslookup.es/" TargetMode="External"/><Relationship Id="rId3"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2444760" y="2235240"/>
            <a:ext cx="7299720" cy="1753200"/>
          </a:xfrm>
          <a:prstGeom prst="rect">
            <a:avLst/>
          </a:prstGeom>
          <a:noFill/>
          <a:ln w="0">
            <a:noFill/>
          </a:ln>
        </p:spPr>
        <p:txBody>
          <a:bodyPr lIns="90000" rIns="90000" tIns="45000" bIns="45000" anchor="b">
            <a:noAutofit/>
          </a:bodyPr>
          <a:p>
            <a:pPr indent="0" algn="ctr">
              <a:lnSpc>
                <a:spcPct val="90000"/>
              </a:lnSpc>
              <a:buNone/>
              <a:tabLst>
                <a:tab algn="l" pos="0"/>
              </a:tabLst>
            </a:pPr>
            <a:r>
              <a:rPr b="1" lang="es-ES" sz="3200" spc="-1" strike="noStrike">
                <a:solidFill>
                  <a:srgbClr val="ffffff"/>
                </a:solidFill>
                <a:latin typeface="Arial"/>
              </a:rPr>
              <a:t> </a:t>
            </a:r>
            <a:br>
              <a:rPr sz="3200"/>
            </a:br>
            <a:r>
              <a:rPr b="1" lang="es-ES" sz="3200" spc="-1" strike="noStrike">
                <a:solidFill>
                  <a:srgbClr val="ffffff"/>
                </a:solidFill>
                <a:latin typeface="Arial"/>
              </a:rPr>
              <a:t>Servicios en Red</a:t>
            </a:r>
            <a:br>
              <a:rPr sz="3200"/>
            </a:br>
            <a:r>
              <a:rPr b="1" lang="es-ES" sz="3200" spc="-1" strike="noStrike">
                <a:solidFill>
                  <a:srgbClr val="ffffff"/>
                </a:solidFill>
                <a:latin typeface="Arial"/>
              </a:rPr>
              <a:t>DNS</a:t>
            </a:r>
            <a:endParaRPr b="0" lang="es-E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¿Qué es el DNS?</a:t>
            </a:r>
            <a:endParaRPr b="0" lang="es-ES" sz="3000" spc="-1" strike="noStrike">
              <a:solidFill>
                <a:srgbClr val="000000"/>
              </a:solidFill>
              <a:latin typeface="Arial"/>
            </a:endParaRPr>
          </a:p>
        </p:txBody>
      </p:sp>
      <p:sp>
        <p:nvSpPr>
          <p:cNvPr id="145" name="PlaceHolder 2"/>
          <p:cNvSpPr>
            <a:spLocks noGrp="1"/>
          </p:cNvSpPr>
          <p:nvPr>
            <p:ph/>
          </p:nvPr>
        </p:nvSpPr>
        <p:spPr>
          <a:xfrm>
            <a:off x="838080" y="1566360"/>
            <a:ext cx="9928440" cy="4488480"/>
          </a:xfrm>
          <a:prstGeom prst="rect">
            <a:avLst/>
          </a:prstGeom>
          <a:noFill/>
          <a:ln w="0">
            <a:noFill/>
          </a:ln>
        </p:spPr>
        <p:txBody>
          <a:bodyPr lIns="90000" rIns="90000" tIns="45000" bIns="45000" anchor="t">
            <a:noAutofit/>
          </a:bodyPr>
          <a:p>
            <a:pPr indent="0">
              <a:lnSpc>
                <a:spcPct val="90000"/>
              </a:lnSpc>
              <a:spcBef>
                <a:spcPts val="1001"/>
              </a:spcBef>
              <a:buNone/>
              <a:tabLst>
                <a:tab algn="l" pos="0"/>
              </a:tabLst>
            </a:pPr>
            <a:r>
              <a:rPr b="0" lang="es-ES" sz="2000" spc="-1" strike="noStrike">
                <a:solidFill>
                  <a:srgbClr val="000000"/>
                </a:solidFill>
                <a:latin typeface="Arial"/>
              </a:rPr>
              <a:t>Cuando un usuario accede a un sitio web en Internet, se ejecutan una serie de peticiones internas que acaban traduciendo el nombre de la página a una dirección IP del servidor donde se almacena.</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Arial"/>
              </a:rPr>
              <a:t>Por ejemplo:</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u="sng">
                <a:solidFill>
                  <a:srgbClr val="0563c1"/>
                </a:solidFill>
                <a:uFillTx/>
                <a:latin typeface="Arial"/>
                <a:hlinkClick r:id="rId1"/>
              </a:rPr>
              <a:t>www.ifp.es</a:t>
            </a:r>
            <a:r>
              <a:rPr b="0" lang="es-ES" sz="2000" spc="-1" strike="noStrike">
                <a:solidFill>
                  <a:srgbClr val="000000"/>
                </a:solidFill>
                <a:latin typeface="Arial"/>
              </a:rPr>
              <a:t> tiene la IP: 213.192.253.78</a:t>
            </a:r>
            <a:endParaRPr b="0" lang="es-ES" sz="2000" spc="-1" strike="noStrike">
              <a:solidFill>
                <a:srgbClr val="000000"/>
              </a:solidFill>
              <a:latin typeface="Arial"/>
            </a:endParaRPr>
          </a:p>
        </p:txBody>
      </p:sp>
      <p:sp>
        <p:nvSpPr>
          <p:cNvPr id="146" name="Rectángulo 3"/>
          <p:cNvSpPr/>
          <p:nvPr/>
        </p:nvSpPr>
        <p:spPr>
          <a:xfrm>
            <a:off x="2752560" y="4360320"/>
            <a:ext cx="8282160" cy="2009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rgbClr val="ff0000"/>
                </a:solidFill>
                <a:latin typeface="Calibri"/>
                <a:ea typeface="DejaVu Sans"/>
              </a:rPr>
              <a:t>Es una base de datos distribuida con información sobre hosts y servicios, que permite un control local de los 'segmentos' de la base de datos y, a su vez, cada segmento es accesible a toda la red a través de un esquema cliente-servidor. </a:t>
            </a:r>
            <a:endParaRPr b="0" lang="es-ES" sz="1800" spc="-1" strike="noStrike">
              <a:solidFill>
                <a:srgbClr val="000000"/>
              </a:solidFill>
              <a:latin typeface="Arial"/>
            </a:endParaRPr>
          </a:p>
          <a:p>
            <a:pPr>
              <a:lnSpc>
                <a:spcPct val="100000"/>
              </a:lnSpc>
            </a:pPr>
            <a:endParaRPr b="0" lang="es-ES" sz="1800" spc="-1" strike="noStrike">
              <a:solidFill>
                <a:srgbClr val="000000"/>
              </a:solidFill>
              <a:latin typeface="Arial"/>
            </a:endParaRPr>
          </a:p>
          <a:p>
            <a:pPr>
              <a:lnSpc>
                <a:spcPct val="100000"/>
              </a:lnSpc>
            </a:pPr>
            <a:r>
              <a:rPr b="0" lang="es-ES" sz="1800" spc="-1" strike="noStrike">
                <a:solidFill>
                  <a:srgbClr val="ff0000"/>
                </a:solidFill>
                <a:latin typeface="Calibri"/>
                <a:ea typeface="DejaVu Sans"/>
              </a:rPr>
              <a:t>El sistema alcanza robustez y rendimiento mediante replicación y caching.</a:t>
            </a:r>
            <a:endParaRPr b="0" lang="es-ES" sz="1800" spc="-1" strike="noStrike">
              <a:solidFill>
                <a:srgbClr val="000000"/>
              </a:solidFill>
              <a:latin typeface="Arial"/>
            </a:endParaRPr>
          </a:p>
        </p:txBody>
      </p:sp>
      <p:sp>
        <p:nvSpPr>
          <p:cNvPr id="4" name="PlaceHolder 3"/>
          <p:cNvSpPr>
            <a:spLocks noGrp="1"/>
          </p:cNvSpPr>
          <p:nvPr>
            <p:ph type="sldNum" idx="2"/>
          </p:nvPr>
        </p:nvSpPr>
        <p:spPr/>
        <p:txBody>
          <a:bodyPr/>
          <a:p>
            <a:fld id="{8FB5ECC4-E084-435D-BCF2-89397EE27A39}"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¿Qué es el DNS?</a:t>
            </a:r>
            <a:endParaRPr b="0" lang="es-ES" sz="3000" spc="-1" strike="noStrike">
              <a:solidFill>
                <a:srgbClr val="000000"/>
              </a:solidFill>
              <a:latin typeface="Arial"/>
            </a:endParaRPr>
          </a:p>
        </p:txBody>
      </p:sp>
      <p:graphicFrame>
        <p:nvGraphicFramePr>
          <p:cNvPr id="1" name="Diagram1"/>
          <p:cNvGraphicFramePr/>
          <p:nvPr>
            <p:extLst>
              <p:ext uri="{D42A27DB-BD31-4B8C-83A1-F6EECF244321}">
                <p14:modId xmlns:p14="http://schemas.microsoft.com/office/powerpoint/2010/main" val="4111059555"/>
              </p:ext>
            </p:extLst>
          </p:nvPr>
        </p:nvGraphicFramePr>
        <p:xfrm>
          <a:off x="838080" y="1566360"/>
          <a:ext cx="9928440" cy="44884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PlaceHolder 2"/>
          <p:cNvSpPr>
            <a:spLocks noGrp="1"/>
          </p:cNvSpPr>
          <p:nvPr>
            <p:ph type="sldNum" idx="2"/>
          </p:nvPr>
        </p:nvSpPr>
        <p:spPr/>
        <p:txBody>
          <a:bodyPr/>
          <a:p>
            <a:fld id="{613C7A6A-75CB-46E2-AF01-468697B724D2}"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2" descr="Resultado de imagen de dns"/>
          <p:cNvPicPr/>
          <p:nvPr/>
        </p:nvPicPr>
        <p:blipFill>
          <a:blip r:embed="rId1"/>
          <a:stretch/>
        </p:blipFill>
        <p:spPr>
          <a:xfrm>
            <a:off x="1964160" y="134640"/>
            <a:ext cx="8260920" cy="6586200"/>
          </a:xfrm>
          <a:prstGeom prst="rect">
            <a:avLst/>
          </a:prstGeom>
          <a:ln w="0">
            <a:noFill/>
          </a:ln>
        </p:spPr>
      </p:pic>
      <p:sp>
        <p:nvSpPr>
          <p:cNvPr id="2" name="PlaceHolder 1"/>
          <p:cNvSpPr>
            <a:spLocks noGrp="1"/>
          </p:cNvSpPr>
          <p:nvPr>
            <p:ph type="sldNum" idx="2"/>
          </p:nvPr>
        </p:nvSpPr>
        <p:spPr/>
        <p:txBody>
          <a:bodyPr/>
          <a:p>
            <a:fld id="{383B46F6-92BE-450E-807E-DEF5498FF7E2}"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Algo de historia</a:t>
            </a:r>
            <a:endParaRPr b="0" lang="es-ES" sz="3000" spc="-1" strike="noStrike">
              <a:solidFill>
                <a:srgbClr val="000000"/>
              </a:solidFill>
              <a:latin typeface="Arial"/>
            </a:endParaRPr>
          </a:p>
        </p:txBody>
      </p:sp>
      <p:sp>
        <p:nvSpPr>
          <p:cNvPr id="150" name="PlaceHolder 2"/>
          <p:cNvSpPr>
            <a:spLocks noGrp="1"/>
          </p:cNvSpPr>
          <p:nvPr>
            <p:ph/>
          </p:nvPr>
        </p:nvSpPr>
        <p:spPr>
          <a:xfrm>
            <a:off x="838080" y="1566360"/>
            <a:ext cx="9928440" cy="4488480"/>
          </a:xfrm>
          <a:prstGeom prst="rect">
            <a:avLst/>
          </a:prstGeom>
          <a:solidFill>
            <a:srgbClr val="ffffff"/>
          </a:solidFill>
          <a:ln w="12600">
            <a:solidFill>
              <a:srgbClr val="5b9bd5"/>
            </a:solidFill>
            <a:miter/>
          </a:ln>
        </p:spPr>
        <p:txBody>
          <a:bodyPr lIns="90000" rIns="90000" tIns="45000" bIns="45000" anchor="t">
            <a:noAutofit/>
          </a:bodyPr>
          <a:p>
            <a:pPr indent="0">
              <a:lnSpc>
                <a:spcPct val="90000"/>
              </a:lnSpc>
              <a:spcBef>
                <a:spcPts val="1001"/>
              </a:spcBef>
              <a:buNone/>
              <a:tabLst>
                <a:tab algn="l" pos="0"/>
              </a:tabLst>
            </a:pPr>
            <a:r>
              <a:rPr b="0" lang="es-ES" sz="2000" spc="-1" strike="noStrike">
                <a:solidFill>
                  <a:srgbClr val="000000"/>
                </a:solidFill>
                <a:latin typeface="Arial"/>
              </a:rPr>
              <a:t>En los años 80, se creó el sistema de nombres de dominio que sustituyó al formato anterior de resolución, muy propenso a errores y que se basaba en el archivo local </a:t>
            </a:r>
            <a:r>
              <a:rPr b="0" lang="es-ES" sz="2000" spc="-1" strike="noStrike">
                <a:solidFill>
                  <a:srgbClr val="ff0000"/>
                </a:solidFill>
                <a:latin typeface="Arial"/>
              </a:rPr>
              <a:t>hosts</a:t>
            </a:r>
            <a:r>
              <a:rPr b="0" lang="es-ES" sz="2000" spc="-1" strike="noStrike">
                <a:solidFill>
                  <a:srgbClr val="000000"/>
                </a:solidFill>
                <a:latin typeface="Arial"/>
              </a:rPr>
              <a:t>.</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Arial"/>
              </a:rPr>
              <a:t>Este archivo </a:t>
            </a:r>
            <a:r>
              <a:rPr b="0" lang="es-ES" sz="2000" spc="-1" strike="noStrike">
                <a:solidFill>
                  <a:srgbClr val="ff0000"/>
                </a:solidFill>
                <a:latin typeface="Arial"/>
              </a:rPr>
              <a:t>hosts</a:t>
            </a:r>
            <a:r>
              <a:rPr b="0" i="1" lang="es-ES" sz="2000" spc="-1" strike="noStrike">
                <a:solidFill>
                  <a:srgbClr val="000000"/>
                </a:solidFill>
                <a:latin typeface="Arial"/>
              </a:rPr>
              <a:t> </a:t>
            </a:r>
            <a:r>
              <a:rPr b="0" lang="es-ES" sz="2000" spc="-1" strike="noStrike">
                <a:solidFill>
                  <a:srgbClr val="000000"/>
                </a:solidFill>
                <a:latin typeface="Arial"/>
              </a:rPr>
              <a:t>aún puede encontrarse en: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los sistemas basados en UNIX, en el directorio </a:t>
            </a:r>
            <a:r>
              <a:rPr b="0" lang="es-ES" sz="2000" spc="-1" strike="noStrike">
                <a:solidFill>
                  <a:srgbClr val="ff0000"/>
                </a:solidFill>
                <a:latin typeface="Arial"/>
              </a:rPr>
              <a:t>/etc/</a:t>
            </a:r>
            <a:r>
              <a:rPr b="0" lang="es-ES" sz="2000" spc="-1" strike="noStrike">
                <a:solidFill>
                  <a:srgbClr val="000000"/>
                </a:solidFill>
                <a:latin typeface="Arial"/>
              </a:rPr>
              <a:t> y,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en sistemas Windows, en </a:t>
            </a:r>
            <a:r>
              <a:rPr b="0" lang="es-ES" sz="2000" spc="-1" strike="noStrike">
                <a:solidFill>
                  <a:srgbClr val="ff0000"/>
                </a:solidFill>
                <a:latin typeface="Arial"/>
              </a:rPr>
              <a:t>%SystemRoot%\system32\drivers\etc</a:t>
            </a:r>
            <a:r>
              <a:rPr b="0" lang="es-ES" sz="2000" spc="-1" strike="noStrike">
                <a:solidFill>
                  <a:srgbClr val="000000"/>
                </a:solidFill>
                <a:latin typeface="Arial"/>
              </a:rPr>
              <a:t>.</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Arial"/>
              </a:rPr>
              <a:t>Comenzó a popularizarse a finales de los 90. </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BC070191-4B59-47F8-B6D7-08D39EE67403}"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Archivo hosts</a:t>
            </a:r>
            <a:endParaRPr b="0" lang="es-ES" sz="3000" spc="-1" strike="noStrike">
              <a:solidFill>
                <a:srgbClr val="000000"/>
              </a:solidFill>
              <a:latin typeface="Arial"/>
            </a:endParaRPr>
          </a:p>
        </p:txBody>
      </p:sp>
      <p:pic>
        <p:nvPicPr>
          <p:cNvPr id="152" name="Imagen 6" descr=""/>
          <p:cNvPicPr/>
          <p:nvPr/>
        </p:nvPicPr>
        <p:blipFill>
          <a:blip r:embed="rId1"/>
          <a:stretch/>
        </p:blipFill>
        <p:spPr>
          <a:xfrm>
            <a:off x="375840" y="1481760"/>
            <a:ext cx="6846480" cy="2645280"/>
          </a:xfrm>
          <a:prstGeom prst="rect">
            <a:avLst/>
          </a:prstGeom>
          <a:ln w="0">
            <a:noFill/>
          </a:ln>
        </p:spPr>
      </p:pic>
      <p:pic>
        <p:nvPicPr>
          <p:cNvPr id="153" name="Imagen 7" descr=""/>
          <p:cNvPicPr/>
          <p:nvPr/>
        </p:nvPicPr>
        <p:blipFill>
          <a:blip r:embed="rId2"/>
          <a:stretch/>
        </p:blipFill>
        <p:spPr>
          <a:xfrm>
            <a:off x="5328360" y="3913200"/>
            <a:ext cx="6707520" cy="2769480"/>
          </a:xfrm>
          <a:prstGeom prst="rect">
            <a:avLst/>
          </a:prstGeom>
          <a:ln w="0">
            <a:noFill/>
          </a:ln>
        </p:spPr>
      </p:pic>
      <p:sp>
        <p:nvSpPr>
          <p:cNvPr id="3" name="PlaceHolder 2"/>
          <p:cNvSpPr>
            <a:spLocks noGrp="1"/>
          </p:cNvSpPr>
          <p:nvPr>
            <p:ph type="sldNum" idx="2"/>
          </p:nvPr>
        </p:nvSpPr>
        <p:spPr/>
        <p:txBody>
          <a:bodyPr/>
          <a:p>
            <a:fld id="{970F1981-7679-4E59-98B6-3E822B7C61BF}"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a:t>
            </a:r>
            <a:endParaRPr b="0" lang="es-ES" sz="3000" spc="-1" strike="noStrike">
              <a:solidFill>
                <a:srgbClr val="000000"/>
              </a:solidFill>
              <a:latin typeface="Arial"/>
            </a:endParaRPr>
          </a:p>
        </p:txBody>
      </p:sp>
      <p:grpSp>
        <p:nvGrpSpPr>
          <p:cNvPr id="155" name="Diagrama 1"/>
          <p:cNvGrpSpPr/>
          <p:nvPr/>
        </p:nvGrpSpPr>
        <p:grpSpPr>
          <a:xfrm>
            <a:off x="720000" y="900000"/>
            <a:ext cx="10800000" cy="5757480"/>
            <a:chOff x="720000" y="900000"/>
            <a:chExt cx="10800000" cy="5757480"/>
          </a:xfrm>
        </p:grpSpPr>
        <p:sp>
          <p:nvSpPr>
            <p:cNvPr id="156" name=""/>
            <p:cNvSpPr/>
            <p:nvPr/>
          </p:nvSpPr>
          <p:spPr>
            <a:xfrm>
              <a:off x="720000" y="900000"/>
              <a:ext cx="10797120" cy="575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57" name=""/>
            <p:cNvSpPr/>
            <p:nvPr/>
          </p:nvSpPr>
          <p:spPr>
            <a:xfrm>
              <a:off x="720000" y="900360"/>
              <a:ext cx="10800000" cy="720"/>
            </a:xfrm>
            <a:prstGeom prst="line">
              <a:avLst/>
            </a:prstGeom>
            <a:ln>
              <a:solidFill>
                <a:srgbClr val="4472c4"/>
              </a:solidFill>
            </a:ln>
          </p:spPr>
          <p:style>
            <a:lnRef idx="2"/>
            <a:fillRef idx="0"/>
            <a:effectRef idx="0"/>
            <a:fontRef idx="minor"/>
          </p:style>
          <p:txBody>
            <a:bodyPr lIns="90000" rIns="90000" tIns="-44280" bIns="-44280" anchor="t" anchorCtr="1">
              <a:noAutofit/>
            </a:bodyPr>
            <a:p>
              <a:endParaRPr b="0" lang="es-ES" sz="1800" spc="-1" strike="noStrike">
                <a:solidFill>
                  <a:srgbClr val="000000"/>
                </a:solidFill>
                <a:latin typeface="Arial"/>
                <a:ea typeface="DejaVu Sans"/>
              </a:endParaRPr>
            </a:p>
          </p:txBody>
        </p:sp>
        <p:sp>
          <p:nvSpPr>
            <p:cNvPr id="158" name=""/>
            <p:cNvSpPr/>
            <p:nvPr/>
          </p:nvSpPr>
          <p:spPr>
            <a:xfrm>
              <a:off x="720000" y="900720"/>
              <a:ext cx="10797120" cy="1149120"/>
            </a:xfrm>
            <a:prstGeom prst="rect">
              <a:avLst/>
            </a:prstGeom>
            <a:noFill/>
            <a:ln w="0">
              <a:noFill/>
            </a:ln>
          </p:spPr>
          <p:style>
            <a:lnRef idx="0"/>
            <a:fillRef idx="0"/>
            <a:effectRef idx="0"/>
            <a:fontRef idx="minor"/>
          </p:style>
          <p:txBody>
            <a:bodyPr numCol="1" spcCol="1440" lIns="95400" rIns="95400" tIns="95400" bIns="95400" anchor="t">
              <a:noAutofit/>
            </a:bodyPr>
            <a:p>
              <a:pPr>
                <a:lnSpc>
                  <a:spcPct val="90000"/>
                </a:lnSpc>
                <a:spcAft>
                  <a:spcPts val="876"/>
                </a:spcAft>
              </a:pPr>
              <a:r>
                <a:rPr b="0" lang="es-ES" sz="2500" spc="-1" strike="noStrike">
                  <a:solidFill>
                    <a:srgbClr val="000000"/>
                  </a:solidFill>
                  <a:latin typeface="Calibri"/>
                  <a:ea typeface="DejaVu Sans"/>
                </a:rPr>
                <a:t>El servicio de DNS se encuentra en la capa de aplicación del modelo OSI. </a:t>
              </a:r>
              <a:endParaRPr b="0" lang="es-ES" sz="2500" spc="-1" strike="noStrike">
                <a:solidFill>
                  <a:srgbClr val="000000"/>
                </a:solidFill>
                <a:latin typeface="Arial"/>
              </a:endParaRPr>
            </a:p>
          </p:txBody>
        </p:sp>
        <p:sp>
          <p:nvSpPr>
            <p:cNvPr id="159" name=""/>
            <p:cNvSpPr/>
            <p:nvPr/>
          </p:nvSpPr>
          <p:spPr>
            <a:xfrm>
              <a:off x="720000" y="2052360"/>
              <a:ext cx="10800000" cy="720"/>
            </a:xfrm>
            <a:prstGeom prst="line">
              <a:avLst/>
            </a:prstGeom>
            <a:ln>
              <a:solidFill>
                <a:srgbClr val="4472c4"/>
              </a:solidFill>
            </a:ln>
          </p:spPr>
          <p:style>
            <a:lnRef idx="2"/>
            <a:fillRef idx="0"/>
            <a:effectRef idx="0"/>
            <a:fontRef idx="minor"/>
          </p:style>
          <p:txBody>
            <a:bodyPr lIns="90000" rIns="90000" tIns="-44280" bIns="-44280" anchor="t" anchorCtr="1">
              <a:noAutofit/>
            </a:bodyPr>
            <a:p>
              <a:endParaRPr b="0" lang="es-ES" sz="1800" spc="-1" strike="noStrike">
                <a:solidFill>
                  <a:srgbClr val="000000"/>
                </a:solidFill>
                <a:latin typeface="Arial"/>
                <a:ea typeface="DejaVu Sans"/>
              </a:endParaRPr>
            </a:p>
          </p:txBody>
        </p:sp>
        <p:sp>
          <p:nvSpPr>
            <p:cNvPr id="160" name=""/>
            <p:cNvSpPr/>
            <p:nvPr/>
          </p:nvSpPr>
          <p:spPr>
            <a:xfrm>
              <a:off x="720000" y="2052360"/>
              <a:ext cx="10797120" cy="1149120"/>
            </a:xfrm>
            <a:prstGeom prst="rect">
              <a:avLst/>
            </a:prstGeom>
            <a:noFill/>
            <a:ln w="0">
              <a:noFill/>
            </a:ln>
          </p:spPr>
          <p:style>
            <a:lnRef idx="0"/>
            <a:fillRef idx="0"/>
            <a:effectRef idx="0"/>
            <a:fontRef idx="minor"/>
          </p:style>
          <p:txBody>
            <a:bodyPr numCol="1" spcCol="1440" lIns="95400" rIns="95400" tIns="95400" bIns="95400" anchor="t">
              <a:noAutofit/>
            </a:bodyPr>
            <a:p>
              <a:pPr>
                <a:lnSpc>
                  <a:spcPct val="90000"/>
                </a:lnSpc>
                <a:spcAft>
                  <a:spcPts val="876"/>
                </a:spcAft>
              </a:pPr>
              <a:r>
                <a:rPr b="0" lang="es-ES" sz="2500" spc="-1" strike="noStrike">
                  <a:solidFill>
                    <a:srgbClr val="000000"/>
                  </a:solidFill>
                  <a:latin typeface="Calibri"/>
                  <a:ea typeface="DejaVu Sans"/>
                </a:rPr>
                <a:t>La capa más cercana al usuario y contiene todos los protocolos de alto nivel como SMTP, DNS y HTTP.</a:t>
              </a:r>
              <a:endParaRPr b="0" lang="es-ES" sz="2500" spc="-1" strike="noStrike">
                <a:solidFill>
                  <a:srgbClr val="000000"/>
                </a:solidFill>
                <a:latin typeface="Arial"/>
              </a:endParaRPr>
            </a:p>
          </p:txBody>
        </p:sp>
        <p:sp>
          <p:nvSpPr>
            <p:cNvPr id="161" name=""/>
            <p:cNvSpPr/>
            <p:nvPr/>
          </p:nvSpPr>
          <p:spPr>
            <a:xfrm>
              <a:off x="720000" y="3204000"/>
              <a:ext cx="1080000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62" name=""/>
            <p:cNvSpPr/>
            <p:nvPr/>
          </p:nvSpPr>
          <p:spPr>
            <a:xfrm>
              <a:off x="720000" y="3204720"/>
              <a:ext cx="10797120" cy="1148760"/>
            </a:xfrm>
            <a:prstGeom prst="rect">
              <a:avLst/>
            </a:prstGeom>
            <a:noFill/>
            <a:ln w="0">
              <a:noFill/>
            </a:ln>
          </p:spPr>
          <p:style>
            <a:lnRef idx="0"/>
            <a:fillRef idx="0"/>
            <a:effectRef idx="0"/>
            <a:fontRef idx="minor"/>
          </p:style>
          <p:txBody>
            <a:bodyPr numCol="1" spcCol="1440" lIns="95400" rIns="95400" tIns="95400" bIns="95400" anchor="t">
              <a:noAutofit/>
            </a:bodyPr>
            <a:p>
              <a:pPr>
                <a:lnSpc>
                  <a:spcPct val="90000"/>
                </a:lnSpc>
                <a:spcAft>
                  <a:spcPts val="876"/>
                </a:spcAft>
              </a:pPr>
              <a:r>
                <a:rPr b="0" lang="es-ES" sz="2500" spc="-1" strike="noStrike">
                  <a:solidFill>
                    <a:srgbClr val="000000"/>
                  </a:solidFill>
                  <a:latin typeface="Calibri"/>
                  <a:ea typeface="DejaVu Sans"/>
                </a:rPr>
                <a:t>Este protocolo de red emplea la capa de transporte TCP, UDP y utiliza el puerto 53.</a:t>
              </a:r>
              <a:endParaRPr b="0" lang="es-ES" sz="2500" spc="-1" strike="noStrike">
                <a:solidFill>
                  <a:srgbClr val="000000"/>
                </a:solidFill>
                <a:latin typeface="Arial"/>
              </a:endParaRPr>
            </a:p>
          </p:txBody>
        </p:sp>
        <p:sp>
          <p:nvSpPr>
            <p:cNvPr id="163" name=""/>
            <p:cNvSpPr/>
            <p:nvPr/>
          </p:nvSpPr>
          <p:spPr>
            <a:xfrm>
              <a:off x="720000" y="4356000"/>
              <a:ext cx="1080000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64" name=""/>
            <p:cNvSpPr/>
            <p:nvPr/>
          </p:nvSpPr>
          <p:spPr>
            <a:xfrm>
              <a:off x="720000" y="4356720"/>
              <a:ext cx="10797120" cy="1148760"/>
            </a:xfrm>
            <a:prstGeom prst="rect">
              <a:avLst/>
            </a:prstGeom>
            <a:noFill/>
            <a:ln w="0">
              <a:noFill/>
            </a:ln>
          </p:spPr>
          <p:style>
            <a:lnRef idx="0"/>
            <a:fillRef idx="0"/>
            <a:effectRef idx="0"/>
            <a:fontRef idx="minor"/>
          </p:style>
          <p:txBody>
            <a:bodyPr numCol="1" spcCol="1440" lIns="95400" rIns="95400" tIns="95400" bIns="95400" anchor="t">
              <a:noAutofit/>
            </a:bodyPr>
            <a:p>
              <a:pPr>
                <a:lnSpc>
                  <a:spcPct val="90000"/>
                </a:lnSpc>
                <a:spcAft>
                  <a:spcPts val="876"/>
                </a:spcAft>
              </a:pPr>
              <a:r>
                <a:rPr b="0" lang="es-ES" sz="2500" spc="-1" strike="noStrike">
                  <a:solidFill>
                    <a:srgbClr val="000000"/>
                  </a:solidFill>
                  <a:latin typeface="Calibri"/>
                  <a:ea typeface="DejaVu Sans"/>
                </a:rPr>
                <a:t>Normalmente la petición se hace a través de UDP y se utiliza TCP solo si el tamaño de los datos de la respuesta excede los 512 bytes.</a:t>
              </a:r>
              <a:endParaRPr b="0" lang="es-ES" sz="2500" spc="-1" strike="noStrike">
                <a:solidFill>
                  <a:srgbClr val="000000"/>
                </a:solidFill>
                <a:latin typeface="Arial"/>
              </a:endParaRPr>
            </a:p>
          </p:txBody>
        </p:sp>
        <p:sp>
          <p:nvSpPr>
            <p:cNvPr id="165" name=""/>
            <p:cNvSpPr/>
            <p:nvPr/>
          </p:nvSpPr>
          <p:spPr>
            <a:xfrm>
              <a:off x="720000" y="5508000"/>
              <a:ext cx="1080000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66" name=""/>
            <p:cNvSpPr/>
            <p:nvPr/>
          </p:nvSpPr>
          <p:spPr>
            <a:xfrm>
              <a:off x="720000" y="5508000"/>
              <a:ext cx="10797120" cy="1149120"/>
            </a:xfrm>
            <a:prstGeom prst="rect">
              <a:avLst/>
            </a:prstGeom>
            <a:noFill/>
            <a:ln w="0">
              <a:noFill/>
            </a:ln>
          </p:spPr>
          <p:style>
            <a:lnRef idx="0"/>
            <a:fillRef idx="0"/>
            <a:effectRef idx="0"/>
            <a:fontRef idx="minor"/>
          </p:style>
          <p:txBody>
            <a:bodyPr numCol="1" spcCol="1440" lIns="95400" rIns="95400" tIns="95400" bIns="95400" anchor="t">
              <a:noAutofit/>
            </a:bodyPr>
            <a:p>
              <a:pPr>
                <a:lnSpc>
                  <a:spcPct val="90000"/>
                </a:lnSpc>
                <a:spcAft>
                  <a:spcPts val="876"/>
                </a:spcAft>
              </a:pPr>
              <a:r>
                <a:rPr b="0" lang="es-ES" sz="2500" spc="-1" strike="noStrike">
                  <a:solidFill>
                    <a:srgbClr val="000000"/>
                  </a:solidFill>
                  <a:latin typeface="Calibri"/>
                  <a:ea typeface="DejaVu Sans"/>
                </a:rPr>
                <a:t>Existen diferentes RFC de IETF para el servicio de DNS. El más actual es el RFC6895:  </a:t>
              </a:r>
              <a:r>
                <a:rPr b="0" lang="es-ES" sz="2500" spc="-1" strike="noStrike" u="sng">
                  <a:solidFill>
                    <a:srgbClr val="0563c1"/>
                  </a:solidFill>
                  <a:uFillTx/>
                  <a:latin typeface="Calibri"/>
                  <a:ea typeface="DejaVu Sans"/>
                  <a:hlinkClick r:id="rId1"/>
                </a:rPr>
                <a:t>https://datatracker.ietf.org/doc/html/rfc6895</a:t>
              </a:r>
              <a:r>
                <a:rPr b="0" lang="es-ES" sz="2500" spc="-1" strike="noStrike">
                  <a:solidFill>
                    <a:srgbClr val="000000"/>
                  </a:solidFill>
                  <a:latin typeface="Calibri"/>
                  <a:ea typeface="DejaVu Sans"/>
                </a:rPr>
                <a:t> </a:t>
              </a:r>
              <a:endParaRPr b="0" lang="es-ES" sz="2500" spc="-1" strike="noStrike">
                <a:solidFill>
                  <a:srgbClr val="000000"/>
                </a:solidFill>
                <a:latin typeface="Arial"/>
              </a:endParaRPr>
            </a:p>
          </p:txBody>
        </p:sp>
      </p:grpSp>
      <p:sp>
        <p:nvSpPr>
          <p:cNvPr id="3" name="PlaceHolder 2"/>
          <p:cNvSpPr>
            <a:spLocks noGrp="1"/>
          </p:cNvSpPr>
          <p:nvPr>
            <p:ph type="sldNum" idx="2"/>
          </p:nvPr>
        </p:nvSpPr>
        <p:spPr/>
        <p:txBody>
          <a:bodyPr/>
          <a:p>
            <a:fld id="{5899ED3D-6684-488D-B26B-1B2067AAAD87}"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Ventajas </a:t>
            </a:r>
            <a:endParaRPr b="0" lang="es-ES" sz="3000" spc="-1" strike="noStrike">
              <a:solidFill>
                <a:srgbClr val="000000"/>
              </a:solidFill>
              <a:latin typeface="Arial"/>
            </a:endParaRPr>
          </a:p>
        </p:txBody>
      </p:sp>
      <p:grpSp>
        <p:nvGrpSpPr>
          <p:cNvPr id="168" name="Diagram2"/>
          <p:cNvGrpSpPr/>
          <p:nvPr/>
        </p:nvGrpSpPr>
        <p:grpSpPr>
          <a:xfrm>
            <a:off x="655200" y="1080000"/>
            <a:ext cx="10501920" cy="4799160"/>
            <a:chOff x="655200" y="1080000"/>
            <a:chExt cx="10501920" cy="4799160"/>
          </a:xfrm>
        </p:grpSpPr>
        <p:sp>
          <p:nvSpPr>
            <p:cNvPr id="169" name=""/>
            <p:cNvSpPr/>
            <p:nvPr/>
          </p:nvSpPr>
          <p:spPr>
            <a:xfrm>
              <a:off x="655200" y="1080000"/>
              <a:ext cx="10501920" cy="4799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70" name=""/>
            <p:cNvSpPr/>
            <p:nvPr/>
          </p:nvSpPr>
          <p:spPr>
            <a:xfrm>
              <a:off x="655200" y="1080000"/>
              <a:ext cx="1010736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71" name=""/>
            <p:cNvSpPr/>
            <p:nvPr/>
          </p:nvSpPr>
          <p:spPr>
            <a:xfrm>
              <a:off x="655200" y="1080000"/>
              <a:ext cx="10105920" cy="910800"/>
            </a:xfrm>
            <a:prstGeom prst="rect">
              <a:avLst/>
            </a:prstGeom>
            <a:noFill/>
            <a:ln w="0">
              <a:noFill/>
            </a:ln>
          </p:spPr>
          <p:style>
            <a:lnRef idx="0"/>
            <a:fillRef idx="0"/>
            <a:effectRef idx="0"/>
            <a:fontRef idx="minor"/>
          </p:style>
          <p:txBody>
            <a:bodyPr numCol="1" spcCol="1440" lIns="72360" rIns="72360" tIns="72360" bIns="72360" anchor="t">
              <a:noAutofit/>
            </a:bodyPr>
            <a:p>
              <a:pPr>
                <a:lnSpc>
                  <a:spcPct val="90000"/>
                </a:lnSpc>
                <a:spcAft>
                  <a:spcPts val="666"/>
                </a:spcAft>
              </a:pPr>
              <a:r>
                <a:rPr b="0" lang="es-ES" sz="1900" spc="-1" strike="noStrike">
                  <a:solidFill>
                    <a:srgbClr val="000000"/>
                  </a:solidFill>
                  <a:latin typeface="Arial"/>
                  <a:ea typeface="DejaVu Sans"/>
                </a:rPr>
                <a:t>Elimina los problemas del sistema basados en el fichero HOSTS.TXT</a:t>
              </a:r>
              <a:endParaRPr b="0" lang="es-ES" sz="1900" spc="-1" strike="noStrike">
                <a:solidFill>
                  <a:srgbClr val="000000"/>
                </a:solidFill>
                <a:latin typeface="Arial"/>
              </a:endParaRPr>
            </a:p>
          </p:txBody>
        </p:sp>
        <p:sp>
          <p:nvSpPr>
            <p:cNvPr id="172" name=""/>
            <p:cNvSpPr/>
            <p:nvPr/>
          </p:nvSpPr>
          <p:spPr>
            <a:xfrm>
              <a:off x="655200" y="1991880"/>
              <a:ext cx="1010736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73" name=""/>
            <p:cNvSpPr/>
            <p:nvPr/>
          </p:nvSpPr>
          <p:spPr>
            <a:xfrm>
              <a:off x="655200" y="1992240"/>
              <a:ext cx="10105920" cy="910800"/>
            </a:xfrm>
            <a:prstGeom prst="rect">
              <a:avLst/>
            </a:prstGeom>
            <a:noFill/>
            <a:ln w="0">
              <a:noFill/>
            </a:ln>
          </p:spPr>
          <p:style>
            <a:lnRef idx="0"/>
            <a:fillRef idx="0"/>
            <a:effectRef idx="0"/>
            <a:fontRef idx="minor"/>
          </p:style>
          <p:txBody>
            <a:bodyPr numCol="1" spcCol="1440" lIns="72360" rIns="72360" tIns="72360" bIns="72360" anchor="t">
              <a:noAutofit/>
            </a:bodyPr>
            <a:p>
              <a:pPr>
                <a:lnSpc>
                  <a:spcPct val="90000"/>
                </a:lnSpc>
                <a:spcAft>
                  <a:spcPts val="666"/>
                </a:spcAft>
              </a:pPr>
              <a:r>
                <a:rPr b="0" lang="es-ES" sz="1900" spc="-1" strike="noStrike">
                  <a:solidFill>
                    <a:srgbClr val="000000"/>
                  </a:solidFill>
                  <a:latin typeface="Arial"/>
                  <a:ea typeface="DejaVu Sans"/>
                </a:rPr>
                <a:t>Al ser  jerárquico (el espacio de nombres) permite "particionar" y gestionar los diferentes subdominios de modo independiente.</a:t>
              </a:r>
              <a:endParaRPr b="0" lang="es-ES" sz="1900" spc="-1" strike="noStrike">
                <a:solidFill>
                  <a:srgbClr val="000000"/>
                </a:solidFill>
                <a:latin typeface="Arial"/>
              </a:endParaRPr>
            </a:p>
          </p:txBody>
        </p:sp>
        <p:sp>
          <p:nvSpPr>
            <p:cNvPr id="174" name=""/>
            <p:cNvSpPr/>
            <p:nvPr/>
          </p:nvSpPr>
          <p:spPr>
            <a:xfrm>
              <a:off x="655200" y="2904120"/>
              <a:ext cx="10107360" cy="720"/>
            </a:xfrm>
            <a:prstGeom prst="line">
              <a:avLst/>
            </a:prstGeom>
            <a:ln>
              <a:solidFill>
                <a:srgbClr val="4472c4"/>
              </a:solidFill>
            </a:ln>
          </p:spPr>
          <p:style>
            <a:lnRef idx="2"/>
            <a:fillRef idx="0"/>
            <a:effectRef idx="0"/>
            <a:fontRef idx="minor"/>
          </p:style>
          <p:txBody>
            <a:bodyPr lIns="90000" rIns="90000" tIns="-44280" bIns="-44280" anchor="t" anchorCtr="1">
              <a:noAutofit/>
            </a:bodyPr>
            <a:p>
              <a:endParaRPr b="0" lang="es-ES" sz="1800" spc="-1" strike="noStrike">
                <a:solidFill>
                  <a:srgbClr val="000000"/>
                </a:solidFill>
                <a:latin typeface="Arial"/>
                <a:ea typeface="DejaVu Sans"/>
              </a:endParaRPr>
            </a:p>
          </p:txBody>
        </p:sp>
        <p:sp>
          <p:nvSpPr>
            <p:cNvPr id="175" name=""/>
            <p:cNvSpPr/>
            <p:nvPr/>
          </p:nvSpPr>
          <p:spPr>
            <a:xfrm>
              <a:off x="655200" y="2904120"/>
              <a:ext cx="10105920" cy="911160"/>
            </a:xfrm>
            <a:prstGeom prst="rect">
              <a:avLst/>
            </a:prstGeom>
            <a:noFill/>
            <a:ln w="0">
              <a:noFill/>
            </a:ln>
          </p:spPr>
          <p:style>
            <a:lnRef idx="0"/>
            <a:fillRef idx="0"/>
            <a:effectRef idx="0"/>
            <a:fontRef idx="minor"/>
          </p:style>
          <p:txBody>
            <a:bodyPr numCol="1" spcCol="1440" lIns="72360" rIns="72360" tIns="72360" bIns="72360" anchor="t">
              <a:noAutofit/>
            </a:bodyPr>
            <a:p>
              <a:pPr>
                <a:lnSpc>
                  <a:spcPct val="90000"/>
                </a:lnSpc>
                <a:spcAft>
                  <a:spcPts val="666"/>
                </a:spcAft>
              </a:pPr>
              <a:r>
                <a:rPr b="0" lang="es-ES" sz="1900" spc="-1" strike="noStrike">
                  <a:solidFill>
                    <a:srgbClr val="000000"/>
                  </a:solidFill>
                  <a:latin typeface="Arial"/>
                  <a:ea typeface="DejaVu Sans"/>
                </a:rPr>
                <a:t>También resuelve el problema de las colisiones o nombres duplicados porque garantiza que todos los nombres hermanos o hijos de un mismo nodo tengan etiquetas o nombres diferentes.</a:t>
              </a:r>
              <a:br>
                <a:rPr sz="1900"/>
              </a:br>
              <a:r>
                <a:rPr b="0" lang="es-ES" sz="1900" spc="-1" strike="noStrike">
                  <a:solidFill>
                    <a:srgbClr val="000000"/>
                  </a:solidFill>
                  <a:latin typeface="Arial"/>
                  <a:ea typeface="DejaVu Sans"/>
                </a:rPr>
                <a:t> </a:t>
              </a:r>
              <a:endParaRPr b="0" lang="es-ES" sz="1900" spc="-1" strike="noStrike">
                <a:solidFill>
                  <a:srgbClr val="000000"/>
                </a:solidFill>
                <a:latin typeface="Arial"/>
              </a:endParaRPr>
            </a:p>
          </p:txBody>
        </p:sp>
        <p:sp>
          <p:nvSpPr>
            <p:cNvPr id="176" name=""/>
            <p:cNvSpPr/>
            <p:nvPr/>
          </p:nvSpPr>
          <p:spPr>
            <a:xfrm>
              <a:off x="655200" y="3816360"/>
              <a:ext cx="1010736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177" name=""/>
            <p:cNvSpPr/>
            <p:nvPr/>
          </p:nvSpPr>
          <p:spPr>
            <a:xfrm>
              <a:off x="655200" y="3816720"/>
              <a:ext cx="10105920" cy="910800"/>
            </a:xfrm>
            <a:prstGeom prst="rect">
              <a:avLst/>
            </a:prstGeom>
            <a:noFill/>
            <a:ln w="0">
              <a:noFill/>
            </a:ln>
          </p:spPr>
          <p:style>
            <a:lnRef idx="0"/>
            <a:fillRef idx="0"/>
            <a:effectRef idx="0"/>
            <a:fontRef idx="minor"/>
          </p:style>
          <p:txBody>
            <a:bodyPr numCol="1" spcCol="1440" lIns="72360" rIns="72360" tIns="72360" bIns="72360" anchor="t">
              <a:noAutofit/>
            </a:bodyPr>
            <a:p>
              <a:pPr>
                <a:lnSpc>
                  <a:spcPct val="90000"/>
                </a:lnSpc>
                <a:spcAft>
                  <a:spcPts val="666"/>
                </a:spcAft>
              </a:pPr>
              <a:r>
                <a:rPr b="0" lang="es-ES" sz="1900" spc="-1" strike="noStrike">
                  <a:solidFill>
                    <a:srgbClr val="000000"/>
                  </a:solidFill>
                  <a:latin typeface="Arial"/>
                  <a:ea typeface="DejaVu Sans"/>
                </a:rPr>
                <a:t>Esto es, no puede haber dos nodos con el mismo FQDN, aunque pueden tener la misma etiqueta pero sin causar ambigüedades.</a:t>
              </a:r>
              <a:endParaRPr b="0" lang="es-ES" sz="1900" spc="-1" strike="noStrike">
                <a:solidFill>
                  <a:srgbClr val="000000"/>
                </a:solidFill>
                <a:latin typeface="Arial"/>
              </a:endParaRPr>
            </a:p>
          </p:txBody>
        </p:sp>
      </p:grpSp>
      <p:sp>
        <p:nvSpPr>
          <p:cNvPr id="178" name="Rectángulo 5"/>
          <p:cNvSpPr/>
          <p:nvPr/>
        </p:nvSpPr>
        <p:spPr>
          <a:xfrm>
            <a:off x="1274760" y="5387040"/>
            <a:ext cx="10062720" cy="363960"/>
          </a:xfrm>
          <a:prstGeom prst="rect">
            <a:avLst/>
          </a:prstGeom>
          <a:noFill/>
          <a:ln w="0">
            <a:noFill/>
          </a:ln>
        </p:spPr>
        <p:style>
          <a:lnRef idx="0"/>
          <a:fillRef idx="0"/>
          <a:effectRef idx="0"/>
          <a:fontRef idx="minor"/>
        </p:style>
        <p:txBody>
          <a:bodyPr lIns="90000" rIns="90000" tIns="45000" bIns="45000" anchor="t">
            <a:spAutoFit/>
          </a:bodyPr>
          <a:p>
            <a:pPr marL="457200">
              <a:lnSpc>
                <a:spcPct val="100000"/>
              </a:lnSpc>
              <a:tabLst>
                <a:tab algn="l" pos="0"/>
              </a:tabLst>
            </a:pPr>
            <a:r>
              <a:rPr b="0" lang="es-ES" sz="1800" spc="-1" strike="noStrike">
                <a:solidFill>
                  <a:srgbClr val="000000"/>
                </a:solidFill>
                <a:latin typeface="Calibri"/>
                <a:ea typeface="DejaVu Sans"/>
              </a:rPr>
              <a:t>Por ejemplo: </a:t>
            </a:r>
            <a:r>
              <a:rPr b="0" lang="es-ES" sz="1800" spc="-1" strike="noStrike" u="sng">
                <a:solidFill>
                  <a:srgbClr val="0563c1"/>
                </a:solidFill>
                <a:uFillTx/>
                <a:latin typeface="Calibri"/>
                <a:ea typeface="DejaVu Sans"/>
                <a:hlinkClick r:id="rId1"/>
              </a:rPr>
              <a:t>www.upc.edu</a:t>
            </a:r>
            <a:r>
              <a:rPr b="0" lang="es-ES" sz="1800" spc="-1" strike="noStrike">
                <a:solidFill>
                  <a:srgbClr val="000000"/>
                </a:solidFill>
                <a:latin typeface="Calibri"/>
                <a:ea typeface="DejaVu Sans"/>
              </a:rPr>
              <a:t>., </a:t>
            </a:r>
            <a:r>
              <a:rPr b="0" lang="es-ES" sz="1800" spc="-1" strike="noStrike" u="sng">
                <a:solidFill>
                  <a:srgbClr val="0563c1"/>
                </a:solidFill>
                <a:uFillTx/>
                <a:latin typeface="Calibri"/>
                <a:ea typeface="DejaVu Sans"/>
                <a:hlinkClick r:id="rId2"/>
              </a:rPr>
              <a:t>www.fib.upc,edu</a:t>
            </a:r>
            <a:r>
              <a:rPr b="0" lang="es-ES" sz="1800" spc="-1" strike="noStrike">
                <a:solidFill>
                  <a:srgbClr val="000000"/>
                </a:solidFill>
                <a:latin typeface="Calibri"/>
                <a:ea typeface="DejaVu Sans"/>
              </a:rPr>
              <a:t>., </a:t>
            </a:r>
            <a:r>
              <a:rPr b="0" lang="es-ES" sz="1800" spc="-1" strike="noStrike" u="sng">
                <a:solidFill>
                  <a:srgbClr val="0563c1"/>
                </a:solidFill>
                <a:uFillTx/>
                <a:latin typeface="Calibri"/>
                <a:ea typeface="DejaVu Sans"/>
                <a:hlinkClick r:id="rId3"/>
              </a:rPr>
              <a:t>www.eetac.upc.edu</a:t>
            </a:r>
            <a:r>
              <a:rPr b="0" lang="es-ES" sz="1800" spc="-1" strike="noStrike">
                <a:solidFill>
                  <a:srgbClr val="000000"/>
                </a:solidFill>
                <a:latin typeface="Calibri"/>
                <a:ea typeface="DejaVu Sans"/>
              </a:rPr>
              <a:t>.</a:t>
            </a:r>
            <a:endParaRPr b="0" lang="es-ES" sz="1800" spc="-1" strike="noStrike">
              <a:solidFill>
                <a:srgbClr val="000000"/>
              </a:solidFill>
              <a:latin typeface="Arial"/>
            </a:endParaRPr>
          </a:p>
        </p:txBody>
      </p:sp>
      <p:sp>
        <p:nvSpPr>
          <p:cNvPr id="3" name="PlaceHolder 2"/>
          <p:cNvSpPr>
            <a:spLocks noGrp="1"/>
          </p:cNvSpPr>
          <p:nvPr>
            <p:ph type="sldNum" idx="2"/>
          </p:nvPr>
        </p:nvSpPr>
        <p:spPr/>
        <p:txBody>
          <a:bodyPr/>
          <a:p>
            <a:fld id="{94F9504A-FA37-4065-AEE4-726E0A9005D2}"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Peticiones DNS</a:t>
            </a:r>
            <a:endParaRPr b="0" lang="es-ES" sz="3000" spc="-1" strike="noStrike">
              <a:solidFill>
                <a:srgbClr val="000000"/>
              </a:solidFill>
              <a:latin typeface="Arial"/>
            </a:endParaRPr>
          </a:p>
        </p:txBody>
      </p:sp>
      <p:grpSp>
        <p:nvGrpSpPr>
          <p:cNvPr id="180" name="Diagrama 3"/>
          <p:cNvGrpSpPr/>
          <p:nvPr/>
        </p:nvGrpSpPr>
        <p:grpSpPr>
          <a:xfrm>
            <a:off x="838080" y="277200"/>
            <a:ext cx="9928440" cy="6380280"/>
            <a:chOff x="838080" y="277200"/>
            <a:chExt cx="9928440" cy="6380280"/>
          </a:xfrm>
        </p:grpSpPr>
        <p:sp>
          <p:nvSpPr>
            <p:cNvPr id="181" name=""/>
            <p:cNvSpPr/>
            <p:nvPr/>
          </p:nvSpPr>
          <p:spPr>
            <a:xfrm>
              <a:off x="838080" y="277200"/>
              <a:ext cx="9928440" cy="6380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82" name=""/>
            <p:cNvSpPr/>
            <p:nvPr/>
          </p:nvSpPr>
          <p:spPr>
            <a:xfrm>
              <a:off x="840240" y="1912680"/>
              <a:ext cx="2412000" cy="3108960"/>
            </a:xfrm>
            <a:prstGeom prst="roundRect">
              <a:avLst>
                <a:gd name="adj" fmla="val 10000"/>
              </a:avLst>
            </a:prstGeom>
            <a:solidFill>
              <a:schemeClr val="accent5">
                <a:hueOff val="0"/>
                <a:satOff val="0"/>
                <a:lumOff val="0"/>
                <a:alphaOff val="0"/>
              </a:schemeClr>
            </a:solidFill>
            <a:ln>
              <a:solidFill>
                <a:srgbClr val="ffffff"/>
              </a:solidFill>
            </a:ln>
          </p:spPr>
          <p:style>
            <a:lnRef idx="2"/>
            <a:fillRef idx="0"/>
            <a:effectRef idx="0"/>
            <a:fontRef idx="minor"/>
          </p:style>
          <p:txBody>
            <a:bodyPr numCol="1" spcCol="1440" lIns="135360" rIns="64800" tIns="135360" bIns="135720" anchor="ctr">
              <a:noAutofit/>
            </a:bodyPr>
            <a:p>
              <a:pPr algn="ctr">
                <a:lnSpc>
                  <a:spcPct val="90000"/>
                </a:lnSpc>
                <a:spcAft>
                  <a:spcPts val="595"/>
                </a:spcAft>
              </a:pPr>
              <a:r>
                <a:rPr b="0" lang="es-ES" sz="1700" spc="-1" strike="noStrike">
                  <a:solidFill>
                    <a:srgbClr val="ffffff"/>
                  </a:solidFill>
                  <a:latin typeface="Calibri"/>
                  <a:ea typeface="DejaVu Sans"/>
                </a:rPr>
                <a:t>Se introduce la dirección de una página web (URL) en el campo de búsqueda del navegador </a:t>
              </a:r>
              <a:endParaRPr b="0" lang="es-ES" sz="1700" spc="-1" strike="noStrike">
                <a:solidFill>
                  <a:srgbClr val="000000"/>
                </a:solidFill>
                <a:latin typeface="Arial"/>
              </a:endParaRPr>
            </a:p>
          </p:txBody>
        </p:sp>
        <p:sp>
          <p:nvSpPr>
            <p:cNvPr id="183" name=""/>
            <p:cNvSpPr/>
            <p:nvPr/>
          </p:nvSpPr>
          <p:spPr>
            <a:xfrm>
              <a:off x="3496680" y="3138120"/>
              <a:ext cx="509040" cy="658440"/>
            </a:xfrm>
            <a:prstGeom prst="rightArrow">
              <a:avLst>
                <a:gd name="adj1" fmla="val 60000"/>
                <a:gd name="adj2" fmla="val 50000"/>
              </a:avLst>
            </a:prstGeom>
            <a:solidFill>
              <a:schemeClr val="accent5">
                <a:hueOff val="0"/>
                <a:satOff val="0"/>
                <a:lumOff val="0"/>
                <a:alphaOff val="0"/>
              </a:schemeClr>
            </a:solid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84" name=""/>
            <p:cNvSpPr/>
            <p:nvPr/>
          </p:nvSpPr>
          <p:spPr>
            <a:xfrm>
              <a:off x="4221000" y="1420200"/>
              <a:ext cx="3162960" cy="4093920"/>
            </a:xfrm>
            <a:prstGeom prst="roundRect">
              <a:avLst>
                <a:gd name="adj" fmla="val 10000"/>
              </a:avLst>
            </a:prstGeom>
            <a:solidFill>
              <a:schemeClr val="accent5">
                <a:hueOff val="-3379271"/>
                <a:satOff val="-8710"/>
                <a:lumOff val="-5883"/>
                <a:alphaOff val="0"/>
              </a:schemeClr>
            </a:solidFill>
            <a:ln>
              <a:solidFill>
                <a:srgbClr val="ffffff"/>
              </a:solidFill>
            </a:ln>
          </p:spPr>
          <p:style>
            <a:lnRef idx="2"/>
            <a:fillRef idx="0"/>
            <a:effectRef idx="0"/>
            <a:fontRef idx="minor"/>
          </p:style>
          <p:txBody>
            <a:bodyPr numCol="1" spcCol="1440" lIns="157680" rIns="64800" tIns="157680" bIns="157320" anchor="ctr">
              <a:noAutofit/>
            </a:bodyPr>
            <a:p>
              <a:pPr algn="ctr">
                <a:lnSpc>
                  <a:spcPct val="90000"/>
                </a:lnSpc>
                <a:spcAft>
                  <a:spcPts val="595"/>
                </a:spcAft>
              </a:pPr>
              <a:r>
                <a:rPr b="0" lang="es-ES" sz="1700" spc="-1" strike="noStrike">
                  <a:solidFill>
                    <a:srgbClr val="ffffff"/>
                  </a:solidFill>
                  <a:latin typeface="Calibri"/>
                  <a:ea typeface="DejaVu Sans"/>
                </a:rPr>
                <a:t>Éste realiza una petición al resolver, </a:t>
              </a:r>
              <a:endParaRPr b="0" lang="es-ES" sz="1700" spc="-1" strike="noStrike">
                <a:solidFill>
                  <a:srgbClr val="000000"/>
                </a:solidFill>
                <a:latin typeface="Arial"/>
              </a:endParaRPr>
            </a:p>
            <a:p>
              <a:pPr algn="ctr">
                <a:lnSpc>
                  <a:spcPct val="90000"/>
                </a:lnSpc>
                <a:spcAft>
                  <a:spcPts val="595"/>
                </a:spcAft>
              </a:pPr>
              <a:r>
                <a:rPr b="0" lang="es-ES" sz="1700" spc="-1" strike="noStrike">
                  <a:solidFill>
                    <a:srgbClr val="ffffff"/>
                  </a:solidFill>
                  <a:latin typeface="Calibri"/>
                  <a:ea typeface="DejaVu Sans"/>
                </a:rPr>
                <a:t>que almacena en caché direcciones IP ya solicitadas anteriormente, </a:t>
              </a:r>
              <a:endParaRPr b="0" lang="es-ES" sz="1700" spc="-1" strike="noStrike">
                <a:solidFill>
                  <a:srgbClr val="000000"/>
                </a:solidFill>
                <a:latin typeface="Arial"/>
              </a:endParaRPr>
            </a:p>
            <a:p>
              <a:pPr algn="ctr">
                <a:lnSpc>
                  <a:spcPct val="90000"/>
                </a:lnSpc>
                <a:spcAft>
                  <a:spcPts val="595"/>
                </a:spcAft>
              </a:pPr>
              <a:r>
                <a:rPr b="0" lang="es-ES" sz="1700" spc="-1" strike="noStrike">
                  <a:solidFill>
                    <a:srgbClr val="ffffff"/>
                  </a:solidFill>
                  <a:latin typeface="Calibri"/>
                  <a:ea typeface="DejaVu Sans"/>
                </a:rPr>
                <a:t>y las proporciona al cliente (navegador, programa de correo) cuando la solicita.</a:t>
              </a:r>
              <a:endParaRPr b="0" lang="es-ES" sz="1700" spc="-1" strike="noStrike">
                <a:solidFill>
                  <a:srgbClr val="000000"/>
                </a:solidFill>
                <a:latin typeface="Arial"/>
              </a:endParaRPr>
            </a:p>
          </p:txBody>
        </p:sp>
        <p:sp>
          <p:nvSpPr>
            <p:cNvPr id="185" name=""/>
            <p:cNvSpPr/>
            <p:nvPr/>
          </p:nvSpPr>
          <p:spPr>
            <a:xfrm>
              <a:off x="7628400" y="3138120"/>
              <a:ext cx="509040" cy="658440"/>
            </a:xfrm>
            <a:prstGeom prst="rightArrow">
              <a:avLst>
                <a:gd name="adj1" fmla="val 60000"/>
                <a:gd name="adj2" fmla="val 50000"/>
              </a:avLst>
            </a:prstGeom>
            <a:solidFill>
              <a:schemeClr val="accent5">
                <a:hueOff val="-6758543"/>
                <a:satOff val="-17419"/>
                <a:lumOff val="-11765"/>
                <a:alphaOff val="0"/>
              </a:schemeClr>
            </a:solid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86" name=""/>
            <p:cNvSpPr/>
            <p:nvPr/>
          </p:nvSpPr>
          <p:spPr>
            <a:xfrm>
              <a:off x="8352720" y="1912680"/>
              <a:ext cx="2412000" cy="3108960"/>
            </a:xfrm>
            <a:prstGeom prst="roundRect">
              <a:avLst>
                <a:gd name="adj" fmla="val 10000"/>
              </a:avLst>
            </a:prstGeom>
            <a:solidFill>
              <a:schemeClr val="accent5">
                <a:hueOff val="-6758543"/>
                <a:satOff val="-17419"/>
                <a:lumOff val="-11765"/>
                <a:alphaOff val="0"/>
              </a:schemeClr>
            </a:solidFill>
            <a:ln>
              <a:solidFill>
                <a:srgbClr val="ffffff"/>
              </a:solidFill>
            </a:ln>
          </p:spPr>
          <p:style>
            <a:lnRef idx="2"/>
            <a:fillRef idx="0"/>
            <a:effectRef idx="0"/>
            <a:fontRef idx="minor"/>
          </p:style>
          <p:txBody>
            <a:bodyPr numCol="1" spcCol="1440" lIns="135360" rIns="64800" tIns="135360" bIns="135720" anchor="ctr">
              <a:noAutofit/>
            </a:bodyPr>
            <a:p>
              <a:pPr algn="ctr">
                <a:lnSpc>
                  <a:spcPct val="90000"/>
                </a:lnSpc>
                <a:spcAft>
                  <a:spcPts val="595"/>
                </a:spcAft>
              </a:pPr>
              <a:r>
                <a:rPr b="0" lang="es-ES" sz="1700" spc="-1" strike="noStrike">
                  <a:solidFill>
                    <a:srgbClr val="ffffff"/>
                  </a:solidFill>
                  <a:latin typeface="Calibri"/>
                  <a:ea typeface="DejaVu Sans"/>
                </a:rPr>
                <a:t>Si la dirección IP solicitada no se encuentra en la caché del resolver, se redirige la petición al servidor DNS que corresponda, que, en general, se trata del servidor DNS del proveedor de Internet.</a:t>
              </a:r>
              <a:endParaRPr b="0" lang="es-ES" sz="1700" spc="-1" strike="noStrike">
                <a:solidFill>
                  <a:srgbClr val="000000"/>
                </a:solidFill>
                <a:latin typeface="Arial"/>
              </a:endParaRPr>
            </a:p>
          </p:txBody>
        </p:sp>
      </p:grpSp>
      <p:sp>
        <p:nvSpPr>
          <p:cNvPr id="3" name="PlaceHolder 2"/>
          <p:cNvSpPr>
            <a:spLocks noGrp="1"/>
          </p:cNvSpPr>
          <p:nvPr>
            <p:ph type="sldNum" idx="2"/>
          </p:nvPr>
        </p:nvSpPr>
        <p:spPr/>
        <p:txBody>
          <a:bodyPr/>
          <a:p>
            <a:fld id="{D1D176B9-309D-423E-8E3F-AB03917EBE33}"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
          <p:cNvSpPr/>
          <p:nvPr/>
        </p:nvSpPr>
        <p:spPr>
          <a:xfrm>
            <a:off x="2160000" y="2160000"/>
            <a:ext cx="7379640" cy="53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2400" spc="-1" strike="noStrike" u="sng">
                <a:solidFill>
                  <a:srgbClr val="0563c1"/>
                </a:solidFill>
                <a:uFillTx/>
                <a:latin typeface="Times New Roman"/>
                <a:hlinkClick r:id="rId1"/>
              </a:rPr>
              <a:t>https://www.youtube.com/watch?v=Allly1Ydglk</a:t>
            </a:r>
            <a:endParaRPr b="0" lang="es-ES" sz="2400" spc="-1" strike="noStrike">
              <a:solidFill>
                <a:srgbClr val="000000"/>
              </a:solidFill>
              <a:latin typeface="Arial"/>
            </a:endParaRPr>
          </a:p>
        </p:txBody>
      </p:sp>
      <p:sp>
        <p:nvSpPr>
          <p:cNvPr id="188" name=""/>
          <p:cNvSpPr/>
          <p:nvPr/>
        </p:nvSpPr>
        <p:spPr>
          <a:xfrm>
            <a:off x="8460000" y="2160000"/>
            <a:ext cx="899640" cy="539640"/>
          </a:xfrm>
          <a:prstGeom prst="rect">
            <a:avLst/>
          </a:prstGeom>
          <a:solidFill>
            <a:srgbClr val="ffffff"/>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8min</a:t>
            </a:r>
            <a:endParaRPr b="0" lang="es-ES" sz="1800" spc="-1" strike="noStrike">
              <a:solidFill>
                <a:srgbClr val="000000"/>
              </a:solidFill>
              <a:latin typeface="Arial"/>
            </a:endParaRPr>
          </a:p>
        </p:txBody>
      </p:sp>
      <p:sp>
        <p:nvSpPr>
          <p:cNvPr id="189" name=""/>
          <p:cNvSpPr/>
          <p:nvPr/>
        </p:nvSpPr>
        <p:spPr>
          <a:xfrm>
            <a:off x="2160000" y="3240000"/>
            <a:ext cx="5579640" cy="34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u="sng">
                <a:solidFill>
                  <a:srgbClr val="0563c1"/>
                </a:solidFill>
                <a:uFillTx/>
                <a:latin typeface="Arial"/>
                <a:hlinkClick r:id="rId2"/>
              </a:rPr>
              <a:t>https://www.youtube.com/watch?v=SRfU9meXlC8</a:t>
            </a:r>
            <a:r>
              <a:rPr b="0" lang="es-ES" sz="1800" spc="-1" strike="noStrike">
                <a:solidFill>
                  <a:srgbClr val="000000"/>
                </a:solidFill>
                <a:latin typeface="Arial"/>
              </a:rPr>
              <a:t> </a:t>
            </a:r>
            <a:endParaRPr b="0" lang="es-ES" sz="1800" spc="-1" strike="noStrike">
              <a:solidFill>
                <a:srgbClr val="000000"/>
              </a:solidFill>
              <a:latin typeface="Arial"/>
            </a:endParaRPr>
          </a:p>
        </p:txBody>
      </p:sp>
      <p:sp>
        <p:nvSpPr>
          <p:cNvPr id="190" name=""/>
          <p:cNvSpPr/>
          <p:nvPr/>
        </p:nvSpPr>
        <p:spPr>
          <a:xfrm>
            <a:off x="8460000" y="3060000"/>
            <a:ext cx="899640" cy="539640"/>
          </a:xfrm>
          <a:prstGeom prst="rect">
            <a:avLst/>
          </a:prstGeom>
          <a:solidFill>
            <a:srgbClr val="ffffff"/>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9min</a:t>
            </a:r>
            <a:endParaRPr b="0" lang="es-ES" sz="1800" spc="-1" strike="noStrike">
              <a:solidFill>
                <a:srgbClr val="000000"/>
              </a:solidFill>
              <a:latin typeface="Arial"/>
            </a:endParaRPr>
          </a:p>
        </p:txBody>
      </p:sp>
      <p:sp>
        <p:nvSpPr>
          <p:cNvPr id="191" name=""/>
          <p:cNvSpPr/>
          <p:nvPr/>
        </p:nvSpPr>
        <p:spPr>
          <a:xfrm>
            <a:off x="2227320" y="4320000"/>
            <a:ext cx="6052320" cy="34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800" spc="-1" strike="noStrike" u="sng">
                <a:solidFill>
                  <a:srgbClr val="0563c1"/>
                </a:solidFill>
                <a:uFillTx/>
                <a:latin typeface="Arial"/>
                <a:hlinkClick r:id="rId3"/>
              </a:rPr>
              <a:t>https://www.cloudflare.com/es-es/learning/dns/what-is-dns</a:t>
            </a:r>
            <a:r>
              <a:rPr b="0" lang="es-ES" sz="1800" spc="-1" strike="noStrike">
                <a:solidFill>
                  <a:srgbClr val="000000"/>
                </a:solidFill>
                <a:latin typeface="Arial"/>
              </a:rPr>
              <a:t> </a:t>
            </a:r>
            <a:endParaRPr b="0" lang="es-ES" sz="1800" spc="-1" strike="noStrike">
              <a:solidFill>
                <a:srgbClr val="000000"/>
              </a:solidFill>
              <a:latin typeface="Arial"/>
            </a:endParaRPr>
          </a:p>
        </p:txBody>
      </p:sp>
      <p:sp>
        <p:nvSpPr>
          <p:cNvPr id="2" name="PlaceHolder 1"/>
          <p:cNvSpPr>
            <a:spLocks noGrp="1"/>
          </p:cNvSpPr>
          <p:nvPr>
            <p:ph type="sldNum" idx="2"/>
          </p:nvPr>
        </p:nvSpPr>
        <p:spPr/>
        <p:txBody>
          <a:bodyPr/>
          <a:p>
            <a:fld id="{244D12B6-4406-42BB-AE85-C9FDE88E1A22}"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Tipos de servidores</a:t>
            </a:r>
            <a:endParaRPr b="0" lang="es-ES" sz="3000" spc="-1" strike="noStrike">
              <a:solidFill>
                <a:srgbClr val="000000"/>
              </a:solidFill>
              <a:latin typeface="Arial"/>
            </a:endParaRPr>
          </a:p>
        </p:txBody>
      </p:sp>
      <p:grpSp>
        <p:nvGrpSpPr>
          <p:cNvPr id="193" name="Diagram3"/>
          <p:cNvGrpSpPr/>
          <p:nvPr/>
        </p:nvGrpSpPr>
        <p:grpSpPr>
          <a:xfrm>
            <a:off x="838080" y="-263880"/>
            <a:ext cx="10510560" cy="6615360"/>
            <a:chOff x="838080" y="-263880"/>
            <a:chExt cx="10510560" cy="6615360"/>
          </a:xfrm>
        </p:grpSpPr>
        <p:sp>
          <p:nvSpPr>
            <p:cNvPr id="194" name=""/>
            <p:cNvSpPr/>
            <p:nvPr/>
          </p:nvSpPr>
          <p:spPr>
            <a:xfrm>
              <a:off x="838080" y="-263880"/>
              <a:ext cx="10510560" cy="661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95" name=""/>
            <p:cNvSpPr/>
            <p:nvPr/>
          </p:nvSpPr>
          <p:spPr>
            <a:xfrm>
              <a:off x="6094800" y="2504520"/>
              <a:ext cx="4115520" cy="474840"/>
            </a:xfrm>
            <a:custGeom>
              <a:avLst/>
              <a:gdLst>
                <a:gd name="textAreaLeft" fmla="*/ 0 w 4115520"/>
                <a:gd name="textAreaRight" fmla="*/ 4116600 w 4115520"/>
                <a:gd name="textAreaTop" fmla="*/ 0 h 474840"/>
                <a:gd name="textAreaBottom" fmla="*/ 475920 h 474840"/>
              </a:gdLst>
              <a:ahLst/>
              <a:rect l="textAreaLeft" t="textAreaTop" r="textAreaRight" b="textAreaBottom"/>
              <a:pathLst>
                <a:path w="4117037" h="476351">
                  <a:moveTo>
                    <a:pt x="0" y="0"/>
                  </a:moveTo>
                  <a:lnTo>
                    <a:pt x="0" y="238175"/>
                  </a:lnTo>
                  <a:lnTo>
                    <a:pt x="4117037" y="238175"/>
                  </a:lnTo>
                  <a:lnTo>
                    <a:pt x="4117037" y="476351"/>
                  </a:lnTo>
                </a:path>
              </a:pathLst>
            </a:custGeom>
            <a:noFill/>
            <a:ln>
              <a:solidFill>
                <a:srgbClr val="364354"/>
              </a:solidFill>
            </a:ln>
          </p:spPr>
          <p:style>
            <a:lnRef idx="2"/>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96" name=""/>
            <p:cNvSpPr/>
            <p:nvPr/>
          </p:nvSpPr>
          <p:spPr>
            <a:xfrm>
              <a:off x="6094800" y="2504520"/>
              <a:ext cx="1370880" cy="474840"/>
            </a:xfrm>
            <a:custGeom>
              <a:avLst/>
              <a:gdLst>
                <a:gd name="textAreaLeft" fmla="*/ 0 w 1370880"/>
                <a:gd name="textAreaRight" fmla="*/ 1371960 w 1370880"/>
                <a:gd name="textAreaTop" fmla="*/ 0 h 474840"/>
                <a:gd name="textAreaBottom" fmla="*/ 475920 h 474840"/>
              </a:gdLst>
              <a:ahLst/>
              <a:rect l="textAreaLeft" t="textAreaTop" r="textAreaRight" b="textAreaBottom"/>
              <a:pathLst>
                <a:path w="1372345" h="476351">
                  <a:moveTo>
                    <a:pt x="0" y="0"/>
                  </a:moveTo>
                  <a:lnTo>
                    <a:pt x="0" y="238175"/>
                  </a:lnTo>
                  <a:lnTo>
                    <a:pt x="1372345" y="238175"/>
                  </a:lnTo>
                  <a:lnTo>
                    <a:pt x="1372345" y="476351"/>
                  </a:lnTo>
                </a:path>
              </a:pathLst>
            </a:custGeom>
            <a:noFill/>
            <a:ln>
              <a:solidFill>
                <a:srgbClr val="364354"/>
              </a:solidFill>
            </a:ln>
          </p:spPr>
          <p:style>
            <a:lnRef idx="2"/>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97" name=""/>
            <p:cNvSpPr/>
            <p:nvPr/>
          </p:nvSpPr>
          <p:spPr>
            <a:xfrm>
              <a:off x="4722480" y="2504520"/>
              <a:ext cx="1370880" cy="474840"/>
            </a:xfrm>
            <a:custGeom>
              <a:avLst/>
              <a:gdLst>
                <a:gd name="textAreaLeft" fmla="*/ 0 w 1370880"/>
                <a:gd name="textAreaRight" fmla="*/ 1371960 w 1370880"/>
                <a:gd name="textAreaTop" fmla="*/ 0 h 474840"/>
                <a:gd name="textAreaBottom" fmla="*/ 475920 h 474840"/>
              </a:gdLst>
              <a:ahLst/>
              <a:rect l="textAreaLeft" t="textAreaTop" r="textAreaRight" b="textAreaBottom"/>
              <a:pathLst>
                <a:path w="1372345" h="476351">
                  <a:moveTo>
                    <a:pt x="1372345" y="0"/>
                  </a:moveTo>
                  <a:lnTo>
                    <a:pt x="1372345" y="238175"/>
                  </a:lnTo>
                  <a:lnTo>
                    <a:pt x="0" y="238175"/>
                  </a:lnTo>
                  <a:lnTo>
                    <a:pt x="0" y="476351"/>
                  </a:lnTo>
                </a:path>
              </a:pathLst>
            </a:custGeom>
            <a:noFill/>
            <a:ln>
              <a:solidFill>
                <a:srgbClr val="364354"/>
              </a:solidFill>
            </a:ln>
          </p:spPr>
          <p:style>
            <a:lnRef idx="2"/>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98" name=""/>
            <p:cNvSpPr/>
            <p:nvPr/>
          </p:nvSpPr>
          <p:spPr>
            <a:xfrm>
              <a:off x="1977840" y="2504520"/>
              <a:ext cx="4115520" cy="474840"/>
            </a:xfrm>
            <a:custGeom>
              <a:avLst/>
              <a:gdLst>
                <a:gd name="textAreaLeft" fmla="*/ 0 w 4115520"/>
                <a:gd name="textAreaRight" fmla="*/ 4116600 w 4115520"/>
                <a:gd name="textAreaTop" fmla="*/ 0 h 474840"/>
                <a:gd name="textAreaBottom" fmla="*/ 475920 h 474840"/>
              </a:gdLst>
              <a:ahLst/>
              <a:rect l="textAreaLeft" t="textAreaTop" r="textAreaRight" b="textAreaBottom"/>
              <a:pathLst>
                <a:path w="4117037" h="476351">
                  <a:moveTo>
                    <a:pt x="4117037" y="0"/>
                  </a:moveTo>
                  <a:lnTo>
                    <a:pt x="4117037" y="238175"/>
                  </a:lnTo>
                  <a:lnTo>
                    <a:pt x="0" y="238175"/>
                  </a:lnTo>
                  <a:lnTo>
                    <a:pt x="0" y="476351"/>
                  </a:lnTo>
                </a:path>
              </a:pathLst>
            </a:custGeom>
            <a:noFill/>
            <a:ln>
              <a:solidFill>
                <a:srgbClr val="364354"/>
              </a:solidFill>
            </a:ln>
          </p:spPr>
          <p:style>
            <a:lnRef idx="2"/>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199" name=""/>
            <p:cNvSpPr/>
            <p:nvPr/>
          </p:nvSpPr>
          <p:spPr>
            <a:xfrm>
              <a:off x="4960440" y="1370160"/>
              <a:ext cx="2266920" cy="1132560"/>
            </a:xfrm>
            <a:prstGeom prst="rect">
              <a:avLst/>
            </a:prstGeom>
            <a:solidFill>
              <a:schemeClr val="lt1">
                <a:hueOff val="0"/>
                <a:satOff val="0"/>
                <a:lumOff val="0"/>
                <a:alphaOff val="0"/>
              </a:schemeClr>
            </a:solidFill>
            <a:ln>
              <a:solidFill>
                <a:srgbClr val="3d4c60"/>
              </a:solidFill>
            </a:ln>
          </p:spPr>
          <p:style>
            <a:lnRef idx="2"/>
            <a:fillRef idx="0"/>
            <a:effectRef idx="0"/>
            <a:fontRef idx="minor"/>
          </p:style>
          <p:txBody>
            <a:bodyPr numCol="1" spcCol="1440" lIns="16560" rIns="16560" tIns="16560" bIns="16560" anchor="ctr">
              <a:noAutofit/>
            </a:bodyPr>
            <a:p>
              <a:pPr algn="ctr">
                <a:lnSpc>
                  <a:spcPct val="90000"/>
                </a:lnSpc>
                <a:spcAft>
                  <a:spcPts val="910"/>
                </a:spcAft>
              </a:pPr>
              <a:r>
                <a:rPr b="0" lang="es-ES" sz="2600" spc="-1" strike="noStrike">
                  <a:solidFill>
                    <a:schemeClr val="dk2"/>
                  </a:solidFill>
                  <a:latin typeface="Arial"/>
                  <a:ea typeface="DejaVu Sans"/>
                </a:rPr>
                <a:t>4 categorías de servidores DNS </a:t>
              </a:r>
              <a:endParaRPr b="0" lang="es-ES" sz="2600" spc="-1" strike="noStrike">
                <a:solidFill>
                  <a:srgbClr val="000000"/>
                </a:solidFill>
                <a:latin typeface="Arial"/>
              </a:endParaRPr>
            </a:p>
          </p:txBody>
        </p:sp>
        <p:sp>
          <p:nvSpPr>
            <p:cNvPr id="200" name=""/>
            <p:cNvSpPr/>
            <p:nvPr/>
          </p:nvSpPr>
          <p:spPr>
            <a:xfrm>
              <a:off x="843480" y="2980800"/>
              <a:ext cx="2266920" cy="1132560"/>
            </a:xfrm>
            <a:prstGeom prst="rect">
              <a:avLst/>
            </a:prstGeom>
            <a:solidFill>
              <a:schemeClr val="lt1">
                <a:hueOff val="0"/>
                <a:satOff val="0"/>
                <a:lumOff val="0"/>
                <a:alphaOff val="0"/>
              </a:schemeClr>
            </a:solidFill>
            <a:ln>
              <a:solidFill>
                <a:srgbClr val="3d4c60"/>
              </a:solidFill>
            </a:ln>
          </p:spPr>
          <p:style>
            <a:lnRef idx="2"/>
            <a:fillRef idx="0"/>
            <a:effectRef idx="0"/>
            <a:fontRef idx="minor"/>
          </p:style>
          <p:txBody>
            <a:bodyPr numCol="1" spcCol="1440" lIns="16560" rIns="16560" tIns="16560" bIns="16560" anchor="ctr">
              <a:noAutofit/>
            </a:bodyPr>
            <a:p>
              <a:pPr algn="ctr">
                <a:lnSpc>
                  <a:spcPct val="90000"/>
                </a:lnSpc>
                <a:spcAft>
                  <a:spcPts val="910"/>
                </a:spcAft>
              </a:pPr>
              <a:r>
                <a:rPr b="0" lang="es-ES" sz="2600" spc="-1" strike="noStrike">
                  <a:solidFill>
                    <a:schemeClr val="dk2"/>
                  </a:solidFill>
                  <a:latin typeface="Arial"/>
                  <a:ea typeface="DejaVu Sans"/>
                </a:rPr>
                <a:t>solucionadores </a:t>
              </a:r>
              <a:r>
                <a:rPr b="1" lang="es-ES" sz="2600" spc="-1" strike="noStrike">
                  <a:solidFill>
                    <a:schemeClr val="dk2"/>
                  </a:solidFill>
                  <a:latin typeface="Arial"/>
                  <a:ea typeface="DejaVu Sans"/>
                </a:rPr>
                <a:t>recursivos </a:t>
              </a:r>
              <a:endParaRPr b="0" lang="es-ES" sz="2600" spc="-1" strike="noStrike">
                <a:solidFill>
                  <a:srgbClr val="000000"/>
                </a:solidFill>
                <a:latin typeface="Arial"/>
              </a:endParaRPr>
            </a:p>
          </p:txBody>
        </p:sp>
        <p:sp>
          <p:nvSpPr>
            <p:cNvPr id="201" name=""/>
            <p:cNvSpPr/>
            <p:nvPr/>
          </p:nvSpPr>
          <p:spPr>
            <a:xfrm>
              <a:off x="3588120" y="2980800"/>
              <a:ext cx="2266920" cy="1132560"/>
            </a:xfrm>
            <a:prstGeom prst="rect">
              <a:avLst/>
            </a:prstGeom>
            <a:solidFill>
              <a:schemeClr val="lt1">
                <a:hueOff val="0"/>
                <a:satOff val="0"/>
                <a:lumOff val="0"/>
                <a:alphaOff val="0"/>
              </a:schemeClr>
            </a:solidFill>
            <a:ln>
              <a:solidFill>
                <a:srgbClr val="3d4c60"/>
              </a:solidFill>
            </a:ln>
          </p:spPr>
          <p:style>
            <a:lnRef idx="2"/>
            <a:fillRef idx="0"/>
            <a:effectRef idx="0"/>
            <a:fontRef idx="minor"/>
          </p:style>
          <p:txBody>
            <a:bodyPr numCol="1" spcCol="1440" lIns="16560" rIns="16560" tIns="16560" bIns="16560" anchor="ctr">
              <a:noAutofit/>
            </a:bodyPr>
            <a:p>
              <a:pPr algn="ctr">
                <a:lnSpc>
                  <a:spcPct val="90000"/>
                </a:lnSpc>
                <a:spcAft>
                  <a:spcPts val="910"/>
                </a:spcAft>
              </a:pPr>
              <a:r>
                <a:rPr b="0" lang="es-ES" sz="2600" spc="-1" strike="noStrike">
                  <a:solidFill>
                    <a:schemeClr val="dk2"/>
                  </a:solidFill>
                  <a:latin typeface="Arial"/>
                  <a:ea typeface="DejaVu Sans"/>
                </a:rPr>
                <a:t>servidores de </a:t>
              </a:r>
              <a:r>
                <a:rPr b="1" lang="es-ES" sz="2600" spc="-1" strike="noStrike">
                  <a:solidFill>
                    <a:schemeClr val="dk2"/>
                  </a:solidFill>
                  <a:latin typeface="Arial"/>
                  <a:ea typeface="DejaVu Sans"/>
                </a:rPr>
                <a:t>nombres raíz</a:t>
              </a:r>
              <a:r>
                <a:rPr b="0" lang="es-ES" sz="2600" spc="-1" strike="noStrike">
                  <a:solidFill>
                    <a:schemeClr val="dk2"/>
                  </a:solidFill>
                  <a:latin typeface="Arial"/>
                  <a:ea typeface="DejaVu Sans"/>
                </a:rPr>
                <a:t> </a:t>
              </a:r>
              <a:endParaRPr b="0" lang="es-ES" sz="2600" spc="-1" strike="noStrike">
                <a:solidFill>
                  <a:srgbClr val="000000"/>
                </a:solidFill>
                <a:latin typeface="Arial"/>
              </a:endParaRPr>
            </a:p>
          </p:txBody>
        </p:sp>
        <p:sp>
          <p:nvSpPr>
            <p:cNvPr id="202" name=""/>
            <p:cNvSpPr/>
            <p:nvPr/>
          </p:nvSpPr>
          <p:spPr>
            <a:xfrm>
              <a:off x="6332760" y="2980800"/>
              <a:ext cx="2266920" cy="1132560"/>
            </a:xfrm>
            <a:prstGeom prst="rect">
              <a:avLst/>
            </a:prstGeom>
            <a:solidFill>
              <a:schemeClr val="lt1">
                <a:hueOff val="0"/>
                <a:satOff val="0"/>
                <a:lumOff val="0"/>
                <a:alphaOff val="0"/>
              </a:schemeClr>
            </a:solidFill>
            <a:ln>
              <a:solidFill>
                <a:srgbClr val="3d4c60"/>
              </a:solidFill>
            </a:ln>
          </p:spPr>
          <p:style>
            <a:lnRef idx="2"/>
            <a:fillRef idx="0"/>
            <a:effectRef idx="0"/>
            <a:fontRef idx="minor"/>
          </p:style>
          <p:txBody>
            <a:bodyPr numCol="1" spcCol="1440" lIns="16560" rIns="16560" tIns="16560" bIns="16560" anchor="ctr">
              <a:noAutofit/>
            </a:bodyPr>
            <a:p>
              <a:pPr algn="ctr">
                <a:lnSpc>
                  <a:spcPct val="90000"/>
                </a:lnSpc>
                <a:spcAft>
                  <a:spcPts val="910"/>
                </a:spcAft>
              </a:pPr>
              <a:r>
                <a:rPr b="0" lang="es-ES" sz="2600" spc="-1" strike="noStrike">
                  <a:solidFill>
                    <a:schemeClr val="dk2"/>
                  </a:solidFill>
                  <a:latin typeface="Arial"/>
                  <a:ea typeface="DejaVu Sans"/>
                </a:rPr>
                <a:t>servidores de </a:t>
              </a:r>
              <a:r>
                <a:rPr b="1" lang="es-ES" sz="2600" spc="-1" strike="noStrike">
                  <a:solidFill>
                    <a:schemeClr val="dk2"/>
                  </a:solidFill>
                  <a:latin typeface="Arial"/>
                  <a:ea typeface="DejaVu Sans"/>
                </a:rPr>
                <a:t>nombres TLD</a:t>
              </a:r>
              <a:endParaRPr b="0" lang="es-ES" sz="2600" spc="-1" strike="noStrike">
                <a:solidFill>
                  <a:srgbClr val="000000"/>
                </a:solidFill>
                <a:latin typeface="Arial"/>
              </a:endParaRPr>
            </a:p>
          </p:txBody>
        </p:sp>
        <p:sp>
          <p:nvSpPr>
            <p:cNvPr id="203" name=""/>
            <p:cNvSpPr/>
            <p:nvPr/>
          </p:nvSpPr>
          <p:spPr>
            <a:xfrm>
              <a:off x="9077760" y="2980800"/>
              <a:ext cx="2266920" cy="1132560"/>
            </a:xfrm>
            <a:prstGeom prst="rect">
              <a:avLst/>
            </a:prstGeom>
            <a:solidFill>
              <a:schemeClr val="lt1">
                <a:hueOff val="0"/>
                <a:satOff val="0"/>
                <a:lumOff val="0"/>
                <a:alphaOff val="0"/>
              </a:schemeClr>
            </a:solidFill>
            <a:ln>
              <a:solidFill>
                <a:srgbClr val="3d4c60"/>
              </a:solidFill>
            </a:ln>
          </p:spPr>
          <p:style>
            <a:lnRef idx="2"/>
            <a:fillRef idx="0"/>
            <a:effectRef idx="0"/>
            <a:fontRef idx="minor"/>
          </p:style>
          <p:txBody>
            <a:bodyPr numCol="1" spcCol="1440" lIns="16560" rIns="16560" tIns="16560" bIns="16560" anchor="ctr">
              <a:noAutofit/>
            </a:bodyPr>
            <a:p>
              <a:pPr algn="ctr">
                <a:lnSpc>
                  <a:spcPct val="90000"/>
                </a:lnSpc>
                <a:spcAft>
                  <a:spcPts val="910"/>
                </a:spcAft>
              </a:pPr>
              <a:r>
                <a:rPr b="0" lang="es-ES" sz="2600" spc="-1" strike="noStrike">
                  <a:solidFill>
                    <a:schemeClr val="dk2"/>
                  </a:solidFill>
                  <a:latin typeface="Arial"/>
                  <a:ea typeface="DejaVu Sans"/>
                </a:rPr>
                <a:t>servidores de </a:t>
              </a:r>
              <a:r>
                <a:rPr b="1" lang="es-ES" sz="2600" spc="-1" strike="noStrike">
                  <a:solidFill>
                    <a:schemeClr val="dk2"/>
                  </a:solidFill>
                  <a:latin typeface="Arial"/>
                  <a:ea typeface="DejaVu Sans"/>
                </a:rPr>
                <a:t>nombres autoritativos </a:t>
              </a:r>
              <a:endParaRPr b="0" lang="es-ES" sz="2600" spc="-1" strike="noStrike">
                <a:solidFill>
                  <a:srgbClr val="000000"/>
                </a:solidFill>
                <a:latin typeface="Arial"/>
              </a:endParaRPr>
            </a:p>
          </p:txBody>
        </p:sp>
      </p:grpSp>
      <p:sp>
        <p:nvSpPr>
          <p:cNvPr id="204" name=""/>
          <p:cNvSpPr/>
          <p:nvPr/>
        </p:nvSpPr>
        <p:spPr>
          <a:xfrm>
            <a:off x="874080" y="4464000"/>
            <a:ext cx="2221560" cy="1439640"/>
          </a:xfrm>
          <a:prstGeom prst="rect">
            <a:avLst/>
          </a:prstGeom>
          <a:solidFill>
            <a:srgbClr val="ff69b4"/>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Servidor que recibe las consultas de los clientes</a:t>
            </a:r>
            <a:endParaRPr b="0" lang="es-ES" sz="1800" spc="-1" strike="noStrike">
              <a:solidFill>
                <a:srgbClr val="000000"/>
              </a:solidFill>
              <a:latin typeface="Arial"/>
            </a:endParaRPr>
          </a:p>
          <a:p>
            <a:pPr algn="ctr">
              <a:lnSpc>
                <a:spcPct val="100000"/>
              </a:lnSpc>
            </a:pPr>
            <a:r>
              <a:rPr b="0" lang="es-ES" sz="1800" spc="-1" strike="noStrike">
                <a:solidFill>
                  <a:srgbClr val="000000"/>
                </a:solidFill>
                <a:latin typeface="Arial"/>
                <a:ea typeface="DejaVu Sans"/>
              </a:rPr>
              <a:t>(Bibliotecario) </a:t>
            </a:r>
            <a:endParaRPr b="0" lang="es-ES" sz="1800" spc="-1" strike="noStrike">
              <a:solidFill>
                <a:srgbClr val="000000"/>
              </a:solidFill>
              <a:latin typeface="Arial"/>
            </a:endParaRPr>
          </a:p>
        </p:txBody>
      </p:sp>
      <p:sp>
        <p:nvSpPr>
          <p:cNvPr id="205" name=""/>
          <p:cNvSpPr/>
          <p:nvPr/>
        </p:nvSpPr>
        <p:spPr>
          <a:xfrm>
            <a:off x="3600000" y="4464000"/>
            <a:ext cx="2339640" cy="1439640"/>
          </a:xfrm>
          <a:prstGeom prst="rect">
            <a:avLst/>
          </a:prstGeom>
          <a:solidFill>
            <a:srgbClr val="40e0d0"/>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Los 13 «servidores» DNS principales a nivel mundial</a:t>
            </a:r>
            <a:endParaRPr b="0" lang="es-ES" sz="1800" spc="-1" strike="noStrike">
              <a:solidFill>
                <a:srgbClr val="000000"/>
              </a:solidFill>
              <a:latin typeface="Arial"/>
            </a:endParaRPr>
          </a:p>
          <a:p>
            <a:pPr algn="ctr">
              <a:lnSpc>
                <a:spcPct val="100000"/>
              </a:lnSpc>
            </a:pPr>
            <a:r>
              <a:rPr b="0" lang="es-ES" sz="1800" spc="-1" strike="noStrike">
                <a:solidFill>
                  <a:srgbClr val="000000"/>
                </a:solidFill>
                <a:latin typeface="Arial"/>
                <a:ea typeface="DejaVu Sans"/>
              </a:rPr>
              <a:t>(Índice de libros en una biblioteca)</a:t>
            </a:r>
            <a:endParaRPr b="0" lang="es-ES" sz="1800" spc="-1" strike="noStrike">
              <a:solidFill>
                <a:srgbClr val="000000"/>
              </a:solidFill>
              <a:latin typeface="Arial"/>
            </a:endParaRPr>
          </a:p>
        </p:txBody>
      </p:sp>
      <p:sp>
        <p:nvSpPr>
          <p:cNvPr id="206" name=""/>
          <p:cNvSpPr/>
          <p:nvPr/>
        </p:nvSpPr>
        <p:spPr>
          <a:xfrm>
            <a:off x="6336000" y="4464000"/>
            <a:ext cx="2159640" cy="1439640"/>
          </a:xfrm>
          <a:prstGeom prst="rect">
            <a:avLst/>
          </a:prstGeom>
          <a:solidFill>
            <a:srgbClr val="9acd32"/>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(Estantería de libros en una biblioteca)</a:t>
            </a:r>
            <a:endParaRPr b="0" lang="es-ES" sz="1800" spc="-1" strike="noStrike">
              <a:solidFill>
                <a:srgbClr val="000000"/>
              </a:solidFill>
              <a:latin typeface="Arial"/>
            </a:endParaRPr>
          </a:p>
          <a:p>
            <a:pPr algn="ctr">
              <a:lnSpc>
                <a:spcPct val="100000"/>
              </a:lnSpc>
            </a:pPr>
            <a:endParaRPr b="0" lang="es-ES" sz="1800" spc="-1" strike="noStrike">
              <a:solidFill>
                <a:srgbClr val="000000"/>
              </a:solidFill>
              <a:latin typeface="Arial"/>
            </a:endParaRPr>
          </a:p>
          <a:p>
            <a:pPr algn="ctr">
              <a:lnSpc>
                <a:spcPct val="100000"/>
              </a:lnSpc>
            </a:pPr>
            <a:r>
              <a:rPr b="0" lang="es-ES" sz="1800" spc="-1" strike="noStrike">
                <a:solidFill>
                  <a:srgbClr val="000000"/>
                </a:solidFill>
                <a:latin typeface="Arial"/>
                <a:ea typeface="DejaVu Sans"/>
              </a:rPr>
              <a:t>Ej: .com .net .edu</a:t>
            </a:r>
            <a:endParaRPr b="0" lang="es-ES" sz="1800" spc="-1" strike="noStrike">
              <a:solidFill>
                <a:srgbClr val="000000"/>
              </a:solidFill>
              <a:latin typeface="Arial"/>
            </a:endParaRPr>
          </a:p>
        </p:txBody>
      </p:sp>
      <p:sp>
        <p:nvSpPr>
          <p:cNvPr id="207" name=""/>
          <p:cNvSpPr/>
          <p:nvPr/>
        </p:nvSpPr>
        <p:spPr>
          <a:xfrm>
            <a:off x="9036000" y="4464000"/>
            <a:ext cx="2348640" cy="1439640"/>
          </a:xfrm>
          <a:prstGeom prst="rect">
            <a:avLst/>
          </a:prstGeom>
          <a:solidFill>
            <a:srgbClr val="ffa07a"/>
          </a:solidFill>
          <a:ln w="0">
            <a:solidFill>
              <a:srgbClr val="203864"/>
            </a:solidFill>
          </a:ln>
        </p:spPr>
        <p:style>
          <a:lnRef idx="0"/>
          <a:fillRef idx="0"/>
          <a:effectRef idx="0"/>
          <a:fontRef idx="minor"/>
        </p:style>
        <p:txBody>
          <a:bodyPr lIns="90000" rIns="90000" tIns="45000" bIns="45000" anchor="ctr">
            <a:noAutofit/>
          </a:bodyPr>
          <a:p>
            <a:pPr algn="ctr">
              <a:lnSpc>
                <a:spcPct val="100000"/>
              </a:lnSpc>
            </a:pPr>
            <a:r>
              <a:rPr b="0" lang="es-ES" sz="1800" spc="-1" strike="noStrike">
                <a:solidFill>
                  <a:srgbClr val="000000"/>
                </a:solidFill>
                <a:latin typeface="Arial"/>
                <a:ea typeface="DejaVu Sans"/>
              </a:rPr>
              <a:t>SOA (Diccionario en una estantería, donde consultar la definición de un nombre específico)</a:t>
            </a:r>
            <a:endParaRPr b="0" lang="es-ES" sz="1800" spc="-1" strike="noStrike">
              <a:solidFill>
                <a:srgbClr val="000000"/>
              </a:solidFill>
              <a:latin typeface="Arial"/>
            </a:endParaRPr>
          </a:p>
        </p:txBody>
      </p:sp>
      <p:sp>
        <p:nvSpPr>
          <p:cNvPr id="3" name="PlaceHolder 2"/>
          <p:cNvSpPr>
            <a:spLocks noGrp="1"/>
          </p:cNvSpPr>
          <p:nvPr>
            <p:ph type="sldNum" idx="2"/>
          </p:nvPr>
        </p:nvSpPr>
        <p:spPr/>
        <p:txBody>
          <a:bodyPr/>
          <a:p>
            <a:fld id="{2A28E8E1-B42D-4F76-920D-3DEDE30E9C2C}"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p:nvPr/>
        </p:nvSpPr>
        <p:spPr>
          <a:xfrm>
            <a:off x="1508040" y="1440000"/>
            <a:ext cx="8391600" cy="13924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624"/>
              </a:spcBef>
              <a:spcAft>
                <a:spcPts val="425"/>
              </a:spcAft>
              <a:buClr>
                <a:srgbClr val="000000"/>
              </a:buClr>
              <a:buSzPct val="45000"/>
              <a:buFont typeface="Wingdings" charset="2"/>
              <a:buChar char=""/>
            </a:pPr>
            <a:r>
              <a:rPr b="0" lang="es-ES" sz="1600" spc="-1" strike="noStrike">
                <a:solidFill>
                  <a:srgbClr val="000000"/>
                </a:solidFill>
                <a:latin typeface="Arial"/>
              </a:rPr>
              <a:t>Cada uno desempeña un papel diferente.</a:t>
            </a:r>
            <a:endParaRPr b="0" lang="es-ES" sz="16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1600" spc="-1" strike="noStrike">
                <a:solidFill>
                  <a:srgbClr val="000000"/>
                </a:solidFill>
                <a:latin typeface="Arial"/>
              </a:rPr>
              <a:t>Se encuentran en diferentes ubicaciones dentro del proceso de una consulta de DNS. </a:t>
            </a:r>
            <a:endParaRPr b="0" lang="es-ES" sz="16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1600" spc="-1" strike="noStrike">
                <a:solidFill>
                  <a:srgbClr val="000000"/>
                </a:solidFill>
                <a:latin typeface="Arial"/>
              </a:rPr>
              <a:t>El solucionador recursivo está al inicio de la consulta DNS</a:t>
            </a:r>
            <a:endParaRPr b="0" lang="es-ES" sz="1600" spc="-1" strike="noStrike">
              <a:solidFill>
                <a:srgbClr val="000000"/>
              </a:solidFill>
              <a:latin typeface="Arial"/>
            </a:endParaRPr>
          </a:p>
          <a:p>
            <a:pPr marL="216000" indent="-216000">
              <a:lnSpc>
                <a:spcPct val="100000"/>
              </a:lnSpc>
              <a:spcBef>
                <a:spcPts val="624"/>
              </a:spcBef>
              <a:spcAft>
                <a:spcPts val="425"/>
              </a:spcAft>
              <a:buClr>
                <a:srgbClr val="000000"/>
              </a:buClr>
              <a:buSzPct val="45000"/>
              <a:buFont typeface="Wingdings" charset="2"/>
              <a:buChar char=""/>
            </a:pPr>
            <a:r>
              <a:rPr b="0" lang="es-ES" sz="1600" spc="-1" strike="noStrike">
                <a:solidFill>
                  <a:srgbClr val="000000"/>
                </a:solidFill>
                <a:latin typeface="Arial"/>
              </a:rPr>
              <a:t>El servidor de nombres autoritativo al fina</a:t>
            </a:r>
            <a:endParaRPr b="0" lang="es-ES" sz="1600" spc="-1" strike="noStrike">
              <a:solidFill>
                <a:srgbClr val="000000"/>
              </a:solidFill>
              <a:latin typeface="Arial"/>
            </a:endParaRPr>
          </a:p>
        </p:txBody>
      </p:sp>
      <p:sp>
        <p:nvSpPr>
          <p:cNvPr id="209" name="PlaceHolder 5"/>
          <p:cNvSpPr/>
          <p:nvPr/>
        </p:nvSpPr>
        <p:spPr>
          <a:xfrm>
            <a:off x="838080" y="365040"/>
            <a:ext cx="9928440" cy="813240"/>
          </a:xfrm>
          <a:prstGeom prst="rect">
            <a:avLst/>
          </a:prstGeom>
          <a:noFill/>
          <a:ln w="0">
            <a:noFill/>
          </a:ln>
        </p:spPr>
        <p:style>
          <a:lnRef idx="0"/>
          <a:fillRef idx="0"/>
          <a:effectRef idx="0"/>
          <a:fontRef idx="minor"/>
        </p:style>
        <p:txBody>
          <a:bodyPr lIns="90000" rIns="90000" tIns="45000" bIns="45000" anchor="t">
            <a:noAutofit/>
          </a:bodyPr>
          <a:p>
            <a:pPr>
              <a:lnSpc>
                <a:spcPct val="90000"/>
              </a:lnSpc>
              <a:tabLst>
                <a:tab algn="l" pos="0"/>
              </a:tabLst>
            </a:pPr>
            <a:r>
              <a:rPr b="1" lang="es-ES" sz="3000" spc="-1" strike="noStrike">
                <a:solidFill>
                  <a:srgbClr val="000000"/>
                </a:solidFill>
                <a:latin typeface="Arial"/>
              </a:rPr>
              <a:t>Servidor de DNS autoritativo  -  </a:t>
            </a:r>
            <a:br>
              <a:rPr sz="3000"/>
            </a:br>
            <a:r>
              <a:rPr b="1" lang="es-ES" sz="3000" spc="-1" strike="noStrike">
                <a:solidFill>
                  <a:srgbClr val="000000"/>
                </a:solidFill>
                <a:latin typeface="Arial"/>
              </a:rPr>
              <a:t>                                  -   Solucionador de DNS recursivo</a:t>
            </a:r>
            <a:endParaRPr b="0" lang="es-ES" sz="3000" spc="-1" strike="noStrike">
              <a:solidFill>
                <a:srgbClr val="000000"/>
              </a:solidFill>
              <a:latin typeface="Arial"/>
            </a:endParaRPr>
          </a:p>
        </p:txBody>
      </p:sp>
      <p:sp>
        <p:nvSpPr>
          <p:cNvPr id="210" name=""/>
          <p:cNvSpPr/>
          <p:nvPr/>
        </p:nvSpPr>
        <p:spPr>
          <a:xfrm>
            <a:off x="6120000" y="3240000"/>
            <a:ext cx="5939640" cy="323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Solucionador recursivo - </a:t>
            </a:r>
            <a:r>
              <a:rPr b="0" lang="es-ES" sz="1600" spc="-1" strike="noStrike">
                <a:solidFill>
                  <a:srgbClr val="000000"/>
                </a:solidFill>
                <a:latin typeface="Arial"/>
              </a:rPr>
              <a:t>el equipo que responde a una solicitud recursiva del cliente y dedica tiempo a detectar el registro DNS. </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Realiza una serie de solicitudes hasta que alcanza al servidor de nombres DNS autoritativo - SOA para el registro solicitado (o se vuelve inactivo o devuelve un error si no se encuentra ningún registro). No siempre tienen que hacer varias solicitudes dado que se almacenan en caché lo que ayuda la búsqueda DNS.</a:t>
            </a:r>
            <a:endParaRPr b="0" lang="es-ES" sz="1600" spc="-1" strike="noStrike">
              <a:solidFill>
                <a:srgbClr val="000000"/>
              </a:solidFill>
              <a:latin typeface="Arial"/>
            </a:endParaRPr>
          </a:p>
        </p:txBody>
      </p:sp>
      <p:sp>
        <p:nvSpPr>
          <p:cNvPr id="211" name=""/>
          <p:cNvSpPr/>
          <p:nvPr/>
        </p:nvSpPr>
        <p:spPr>
          <a:xfrm>
            <a:off x="399960" y="3338640"/>
            <a:ext cx="5579640" cy="269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Servidor DNS autoritativo - </a:t>
            </a:r>
            <a:r>
              <a:rPr b="0" lang="es-ES" sz="1600" spc="-1" strike="noStrike">
                <a:solidFill>
                  <a:srgbClr val="000000"/>
                </a:solidFill>
                <a:latin typeface="Arial"/>
              </a:rPr>
              <a:t>servidor que contiene  realmente registros de recursos DNS y es responsable de los mismos. </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El servidor al final de la cadena de búsqueda DNS que responderá con el registro del recurso consultado. </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Un servidor de nombres autoritativo puede satisfacer solicitudes de sus propios datos sin necesidad de consultar a otros recursos, ya que es la fuente final de verdad para ciertos registros DNS.</a:t>
            </a:r>
            <a:endParaRPr b="0" lang="es-ES" sz="1600" spc="-1" strike="noStrike">
              <a:solidFill>
                <a:srgbClr val="000000"/>
              </a:solidFill>
              <a:latin typeface="Arial"/>
            </a:endParaRPr>
          </a:p>
        </p:txBody>
      </p:sp>
      <p:sp>
        <p:nvSpPr>
          <p:cNvPr id="2" name="PlaceHolder 1"/>
          <p:cNvSpPr>
            <a:spLocks noGrp="1"/>
          </p:cNvSpPr>
          <p:nvPr>
            <p:ph type="sldNum" idx="2"/>
          </p:nvPr>
        </p:nvSpPr>
        <p:spPr/>
        <p:txBody>
          <a:bodyPr/>
          <a:p>
            <a:fld id="{82F69DEB-ACDD-433C-9CE6-C9B1A7642759}"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6"/>
          <p:cNvSpPr/>
          <p:nvPr/>
        </p:nvSpPr>
        <p:spPr>
          <a:xfrm>
            <a:off x="838080" y="365040"/>
            <a:ext cx="9928440" cy="813240"/>
          </a:xfrm>
          <a:prstGeom prst="rect">
            <a:avLst/>
          </a:prstGeom>
          <a:noFill/>
          <a:ln w="0">
            <a:noFill/>
          </a:ln>
        </p:spPr>
        <p:style>
          <a:lnRef idx="0"/>
          <a:fillRef idx="0"/>
          <a:effectRef idx="0"/>
          <a:fontRef idx="minor"/>
        </p:style>
        <p:txBody>
          <a:bodyPr lIns="90000" rIns="90000" tIns="45000" bIns="45000" anchor="t">
            <a:noAutofit/>
          </a:bodyPr>
          <a:p>
            <a:pPr>
              <a:lnSpc>
                <a:spcPct val="90000"/>
              </a:lnSpc>
              <a:tabLst>
                <a:tab algn="l" pos="0"/>
              </a:tabLst>
            </a:pPr>
            <a:r>
              <a:rPr b="1" lang="es-ES" sz="3000" spc="-1" strike="noStrike">
                <a:solidFill>
                  <a:srgbClr val="000000"/>
                </a:solidFill>
                <a:latin typeface="Arial"/>
              </a:rPr>
              <a:t>Secuencia de negociación del DNS</a:t>
            </a:r>
            <a:endParaRPr b="0" lang="es-ES" sz="3000" spc="-1" strike="noStrike">
              <a:solidFill>
                <a:srgbClr val="000000"/>
              </a:solidFill>
              <a:latin typeface="Arial"/>
            </a:endParaRPr>
          </a:p>
        </p:txBody>
      </p:sp>
      <p:pic>
        <p:nvPicPr>
          <p:cNvPr id="213" name="" descr=""/>
          <p:cNvPicPr/>
          <p:nvPr/>
        </p:nvPicPr>
        <p:blipFill>
          <a:blip r:embed="rId1"/>
          <a:stretch/>
        </p:blipFill>
        <p:spPr>
          <a:xfrm>
            <a:off x="10440" y="1612800"/>
            <a:ext cx="12191400" cy="3632040"/>
          </a:xfrm>
          <a:prstGeom prst="rect">
            <a:avLst/>
          </a:prstGeom>
          <a:ln w="0">
            <a:noFill/>
          </a:ln>
        </p:spPr>
      </p:pic>
      <p:sp>
        <p:nvSpPr>
          <p:cNvPr id="2" name="PlaceHolder 1"/>
          <p:cNvSpPr>
            <a:spLocks noGrp="1"/>
          </p:cNvSpPr>
          <p:nvPr>
            <p:ph type="sldNum" idx="2"/>
          </p:nvPr>
        </p:nvSpPr>
        <p:spPr/>
        <p:txBody>
          <a:bodyPr/>
          <a:p>
            <a:fld id="{36A50CF0-60E2-4BF9-B722-3F7693F654FA}"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Peticiones DNS</a:t>
            </a:r>
            <a:endParaRPr b="0" lang="es-ES" sz="3000" spc="-1" strike="noStrike">
              <a:solidFill>
                <a:srgbClr val="000000"/>
              </a:solidFill>
              <a:latin typeface="Arial"/>
            </a:endParaRPr>
          </a:p>
        </p:txBody>
      </p:sp>
      <p:sp>
        <p:nvSpPr>
          <p:cNvPr id="215" name="PlaceHolder 2"/>
          <p:cNvSpPr>
            <a:spLocks noGrp="1"/>
          </p:cNvSpPr>
          <p:nvPr>
            <p:ph type="sldNum" idx="8"/>
          </p:nvPr>
        </p:nvSpPr>
        <p:spPr>
          <a:xfrm>
            <a:off x="474120" y="6468840"/>
            <a:ext cx="682920" cy="362160"/>
          </a:xfrm>
          <a:prstGeom prst="rect">
            <a:avLst/>
          </a:prstGeom>
          <a:noFill/>
          <a:ln w="0">
            <a:noFill/>
          </a:ln>
        </p:spPr>
        <p:txBody>
          <a:bodyPr lIns="90000" rIns="90000" tIns="45000" bIns="45000" anchor="t">
            <a:noAutofit/>
          </a:bodyPr>
          <a:lstStyle>
            <a:lvl1pPr indent="0">
              <a:lnSpc>
                <a:spcPct val="100000"/>
              </a:lnSpc>
              <a:buNone/>
              <a:tabLst>
                <a:tab algn="l" pos="0"/>
              </a:tabLst>
              <a:defRPr b="0" lang="es-ES" sz="1100" spc="-1" strike="noStrike">
                <a:solidFill>
                  <a:srgbClr val="000000"/>
                </a:solidFill>
                <a:latin typeface="Arial"/>
              </a:defRPr>
            </a:lvl1pPr>
          </a:lstStyle>
          <a:p>
            <a:pPr indent="0">
              <a:lnSpc>
                <a:spcPct val="100000"/>
              </a:lnSpc>
              <a:buNone/>
              <a:tabLst>
                <a:tab algn="l" pos="0"/>
              </a:tabLst>
            </a:pPr>
            <a:fld id="{12D6C96F-8646-45A2-9397-42EDC7C1DA11}" type="slidenum">
              <a:rPr b="0" lang="es-ES" sz="1100" spc="-1" strike="noStrike">
                <a:solidFill>
                  <a:srgbClr val="000000"/>
                </a:solidFill>
                <a:latin typeface="Arial"/>
              </a:rPr>
              <a:t>&lt;número&gt;</a:t>
            </a:fld>
            <a:endParaRPr b="0" lang="es-ES" sz="1100" spc="-1" strike="noStrike">
              <a:solidFill>
                <a:srgbClr val="000000"/>
              </a:solidFill>
              <a:latin typeface="Times New Roman"/>
            </a:endParaRPr>
          </a:p>
        </p:txBody>
      </p:sp>
      <p:grpSp>
        <p:nvGrpSpPr>
          <p:cNvPr id="216" name="Diagram4"/>
          <p:cNvGrpSpPr/>
          <p:nvPr/>
        </p:nvGrpSpPr>
        <p:grpSpPr>
          <a:xfrm>
            <a:off x="0" y="1620000"/>
            <a:ext cx="11910240" cy="5211360"/>
            <a:chOff x="0" y="1620000"/>
            <a:chExt cx="11910240" cy="5211360"/>
          </a:xfrm>
        </p:grpSpPr>
        <p:sp>
          <p:nvSpPr>
            <p:cNvPr id="217" name=""/>
            <p:cNvSpPr/>
            <p:nvPr/>
          </p:nvSpPr>
          <p:spPr>
            <a:xfrm>
              <a:off x="0" y="1620000"/>
              <a:ext cx="11907360" cy="5211360"/>
            </a:xfrm>
            <a:prstGeom prst="rect">
              <a:avLst/>
            </a:prstGeom>
            <a:solidFill>
              <a:srgbClr val="ffffff"/>
            </a:solidFill>
            <a:ln w="0">
              <a:solidFill>
                <a:srgbClr val="ffffff"/>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18" name=""/>
            <p:cNvSpPr/>
            <p:nvPr/>
          </p:nvSpPr>
          <p:spPr>
            <a:xfrm>
              <a:off x="0" y="1621440"/>
              <a:ext cx="1191024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19" name=""/>
            <p:cNvSpPr/>
            <p:nvPr/>
          </p:nvSpPr>
          <p:spPr>
            <a:xfrm>
              <a:off x="0" y="1621800"/>
              <a:ext cx="1460880" cy="95220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839"/>
                </a:spcAft>
              </a:pPr>
              <a:r>
                <a:rPr b="0" lang="es-ES" sz="1800" spc="-1" strike="noStrike">
                  <a:solidFill>
                    <a:srgbClr val="000000"/>
                  </a:solidFill>
                  <a:latin typeface="Arial"/>
                  <a:ea typeface="DejaVu Sans"/>
                </a:rPr>
                <a:t>Recursiva</a:t>
              </a:r>
              <a:endParaRPr b="0" lang="es-ES" sz="1800" spc="-1" strike="noStrike">
                <a:solidFill>
                  <a:srgbClr val="000000"/>
                </a:solidFill>
                <a:latin typeface="Arial"/>
              </a:endParaRPr>
            </a:p>
          </p:txBody>
        </p:sp>
        <p:sp>
          <p:nvSpPr>
            <p:cNvPr id="220" name=""/>
            <p:cNvSpPr/>
            <p:nvPr/>
          </p:nvSpPr>
          <p:spPr>
            <a:xfrm>
              <a:off x="1641960" y="1652400"/>
              <a:ext cx="9347040" cy="61020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r>
                <a:rPr b="0" lang="es-ES" sz="1800" spc="-1" strike="noStrike">
                  <a:solidFill>
                    <a:srgbClr val="ff1493"/>
                  </a:solidFill>
                  <a:latin typeface="Arial"/>
                  <a:ea typeface="DejaVu Sans"/>
                </a:rPr>
                <a:t>El servidor DNS que la recibe siempre devuelve la respuesta. </a:t>
              </a:r>
              <a:endParaRPr b="0" lang="es-ES" sz="1800" spc="-1" strike="noStrike">
                <a:solidFill>
                  <a:srgbClr val="000000"/>
                </a:solidFill>
                <a:latin typeface="Arial"/>
              </a:endParaRPr>
            </a:p>
          </p:txBody>
        </p:sp>
        <p:sp>
          <p:nvSpPr>
            <p:cNvPr id="221" name=""/>
            <p:cNvSpPr/>
            <p:nvPr/>
          </p:nvSpPr>
          <p:spPr>
            <a:xfrm>
              <a:off x="1463040" y="226548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22" name=""/>
            <p:cNvSpPr/>
            <p:nvPr/>
          </p:nvSpPr>
          <p:spPr>
            <a:xfrm>
              <a:off x="1641960" y="2296080"/>
              <a:ext cx="9347040" cy="61056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r>
                <a:rPr b="0" lang="es-ES" sz="1800" spc="-1" strike="noStrike">
                  <a:solidFill>
                    <a:srgbClr val="ff1493"/>
                  </a:solidFill>
                  <a:latin typeface="Arial"/>
                  <a:ea typeface="DejaVu Sans"/>
                </a:rPr>
                <a:t>Si es necesario, hace consultas a otros servidores, que pueden ser recursivas o no. </a:t>
              </a:r>
              <a:endParaRPr b="0" lang="es-ES" sz="1800" spc="-1" strike="noStrike">
                <a:solidFill>
                  <a:srgbClr val="000000"/>
                </a:solidFill>
                <a:latin typeface="Arial"/>
              </a:endParaRPr>
            </a:p>
          </p:txBody>
        </p:sp>
        <p:sp>
          <p:nvSpPr>
            <p:cNvPr id="223" name=""/>
            <p:cNvSpPr/>
            <p:nvPr/>
          </p:nvSpPr>
          <p:spPr>
            <a:xfrm>
              <a:off x="1463040" y="290880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24" name=""/>
            <p:cNvSpPr/>
            <p:nvPr/>
          </p:nvSpPr>
          <p:spPr>
            <a:xfrm>
              <a:off x="1641960" y="2939400"/>
              <a:ext cx="9347040" cy="61056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r>
                <a:rPr b="0" lang="es-ES" sz="1800" spc="-1" strike="noStrike">
                  <a:solidFill>
                    <a:srgbClr val="000000"/>
                  </a:solidFill>
                  <a:latin typeface="Arial"/>
                  <a:ea typeface="DejaVu Sans"/>
                </a:rPr>
                <a:t>Para el cliente es muy bueno porque se queda esperando mientras que el servidor recorre todo el árbol DNS.</a:t>
              </a:r>
              <a:endParaRPr b="0" lang="es-ES" sz="1800" spc="-1" strike="noStrike">
                <a:solidFill>
                  <a:srgbClr val="000000"/>
                </a:solidFill>
                <a:latin typeface="Arial"/>
              </a:endParaRPr>
            </a:p>
          </p:txBody>
        </p:sp>
        <p:sp>
          <p:nvSpPr>
            <p:cNvPr id="225" name=""/>
            <p:cNvSpPr/>
            <p:nvPr/>
          </p:nvSpPr>
          <p:spPr>
            <a:xfrm>
              <a:off x="1463040" y="355248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26" name=""/>
            <p:cNvSpPr/>
            <p:nvPr/>
          </p:nvSpPr>
          <p:spPr>
            <a:xfrm>
              <a:off x="1641960" y="3583080"/>
              <a:ext cx="9347040" cy="61056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r>
                <a:rPr b="0" lang="es-ES" sz="1800" spc="-1" strike="noStrike">
                  <a:solidFill>
                    <a:srgbClr val="000000"/>
                  </a:solidFill>
                  <a:latin typeface="Arial"/>
                  <a:ea typeface="DejaVu Sans"/>
                </a:rPr>
                <a:t>Para el servidor es malo, porque son costosas y el servidor puede negarse a aceptar ese tipo de consultas. </a:t>
              </a:r>
              <a:endParaRPr b="0" lang="es-ES" sz="1800" spc="-1" strike="noStrike">
                <a:solidFill>
                  <a:srgbClr val="000000"/>
                </a:solidFill>
                <a:latin typeface="Arial"/>
              </a:endParaRPr>
            </a:p>
          </p:txBody>
        </p:sp>
        <p:sp>
          <p:nvSpPr>
            <p:cNvPr id="227" name=""/>
            <p:cNvSpPr/>
            <p:nvPr/>
          </p:nvSpPr>
          <p:spPr>
            <a:xfrm>
              <a:off x="1463040" y="419616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28" name=""/>
            <p:cNvSpPr/>
            <p:nvPr/>
          </p:nvSpPr>
          <p:spPr>
            <a:xfrm>
              <a:off x="0" y="4226400"/>
              <a:ext cx="11910240" cy="720"/>
            </a:xfrm>
            <a:prstGeom prst="line">
              <a:avLst/>
            </a:prstGeom>
            <a:ln w="0">
              <a:solidFill>
                <a:srgbClr val="ffffff"/>
              </a:solidFill>
            </a:ln>
          </p:spPr>
          <p:style>
            <a:lnRef idx="2"/>
            <a:fillRef idx="0"/>
            <a:effectRef idx="0"/>
            <a:fontRef idx="minor"/>
          </p:style>
          <p:txBody>
            <a:bodyPr lIns="90000" rIns="90000" tIns="-44280" bIns="-44280" anchor="t" anchorCtr="1">
              <a:noAutofit/>
            </a:bodyPr>
            <a:p>
              <a:endParaRPr b="0" lang="es-ES" sz="1800" spc="-1" strike="noStrike">
                <a:solidFill>
                  <a:srgbClr val="000000"/>
                </a:solidFill>
                <a:latin typeface="Arial"/>
                <a:ea typeface="DejaVu Sans"/>
              </a:endParaRPr>
            </a:p>
          </p:txBody>
        </p:sp>
        <p:sp>
          <p:nvSpPr>
            <p:cNvPr id="229" name=""/>
            <p:cNvSpPr/>
            <p:nvPr/>
          </p:nvSpPr>
          <p:spPr>
            <a:xfrm>
              <a:off x="0" y="4227120"/>
              <a:ext cx="1577520" cy="182412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839"/>
                </a:spcAft>
              </a:pPr>
              <a:endParaRPr b="0" lang="es-ES" sz="1800" spc="-1" strike="noStrike">
                <a:solidFill>
                  <a:srgbClr val="000000"/>
                </a:solidFill>
                <a:latin typeface="Arial"/>
              </a:endParaRPr>
            </a:p>
            <a:p>
              <a:pPr>
                <a:lnSpc>
                  <a:spcPct val="90000"/>
                </a:lnSpc>
                <a:spcAft>
                  <a:spcPts val="839"/>
                </a:spcAft>
              </a:pPr>
              <a:endParaRPr b="0" lang="es-ES" sz="1800" spc="-1" strike="noStrike">
                <a:solidFill>
                  <a:srgbClr val="000000"/>
                </a:solidFill>
                <a:latin typeface="Arial"/>
              </a:endParaRPr>
            </a:p>
            <a:p>
              <a:pPr>
                <a:lnSpc>
                  <a:spcPct val="90000"/>
                </a:lnSpc>
                <a:spcAft>
                  <a:spcPts val="839"/>
                </a:spcAft>
              </a:pPr>
              <a:r>
                <a:rPr b="0" lang="es-ES" sz="1800" spc="-1" strike="noStrike">
                  <a:solidFill>
                    <a:srgbClr val="000000"/>
                  </a:solidFill>
                  <a:latin typeface="Arial"/>
                  <a:ea typeface="DejaVu Sans"/>
                </a:rPr>
                <a:t>Iterativa</a:t>
              </a:r>
              <a:endParaRPr b="0" lang="es-ES" sz="1800" spc="-1" strike="noStrike">
                <a:solidFill>
                  <a:srgbClr val="000000"/>
                </a:solidFill>
                <a:latin typeface="Arial"/>
              </a:endParaRPr>
            </a:p>
          </p:txBody>
        </p:sp>
        <p:sp>
          <p:nvSpPr>
            <p:cNvPr id="230" name=""/>
            <p:cNvSpPr/>
            <p:nvPr/>
          </p:nvSpPr>
          <p:spPr>
            <a:xfrm>
              <a:off x="1758960" y="4287240"/>
              <a:ext cx="9347040" cy="120960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endParaRPr b="0" lang="es-ES" sz="1800" spc="-1" strike="noStrike">
                <a:solidFill>
                  <a:srgbClr val="000000"/>
                </a:solidFill>
                <a:latin typeface="Arial"/>
              </a:endParaRPr>
            </a:p>
            <a:p>
              <a:pPr>
                <a:lnSpc>
                  <a:spcPct val="90000"/>
                </a:lnSpc>
                <a:spcAft>
                  <a:spcPts val="524"/>
                </a:spcAft>
              </a:pPr>
              <a:r>
                <a:rPr b="0" lang="es-ES" sz="1800" spc="-1" strike="noStrike">
                  <a:solidFill>
                    <a:srgbClr val="000000"/>
                  </a:solidFill>
                  <a:latin typeface="Arial"/>
                  <a:ea typeface="DejaVu Sans"/>
                </a:rPr>
                <a:t>El servidor que recibe una petición </a:t>
              </a:r>
              <a:r>
                <a:rPr b="0" lang="es-ES" sz="1800" spc="-1" strike="noStrike">
                  <a:solidFill>
                    <a:srgbClr val="0000ff"/>
                  </a:solidFill>
                  <a:latin typeface="Arial"/>
                  <a:ea typeface="DejaVu Sans"/>
                </a:rPr>
                <a:t>proporciona la info si la conoce, en caso contrario, indica en qué otro servidor se puede encontrar</a:t>
              </a:r>
              <a:r>
                <a:rPr b="0" lang="es-ES" sz="1800" spc="-1" strike="noStrike">
                  <a:solidFill>
                    <a:srgbClr val="000000"/>
                  </a:solidFill>
                  <a:latin typeface="Arial"/>
                  <a:ea typeface="DejaVu Sans"/>
                </a:rPr>
                <a:t>, o sea, envía una referencia con un RR de tipo NS con la identidad de otro servidor de nombres “más cercano” a la respuesta. </a:t>
              </a:r>
              <a:endParaRPr b="0" lang="es-ES" sz="1800" spc="-1" strike="noStrike">
                <a:solidFill>
                  <a:srgbClr val="000000"/>
                </a:solidFill>
                <a:latin typeface="Arial"/>
              </a:endParaRPr>
            </a:p>
          </p:txBody>
        </p:sp>
        <p:sp>
          <p:nvSpPr>
            <p:cNvPr id="231" name=""/>
            <p:cNvSpPr/>
            <p:nvPr/>
          </p:nvSpPr>
          <p:spPr>
            <a:xfrm>
              <a:off x="1580400" y="549936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32" name=""/>
            <p:cNvSpPr/>
            <p:nvPr/>
          </p:nvSpPr>
          <p:spPr>
            <a:xfrm>
              <a:off x="1758960" y="5560200"/>
              <a:ext cx="9347040" cy="1209240"/>
            </a:xfrm>
            <a:prstGeom prst="rect">
              <a:avLst/>
            </a:prstGeom>
            <a:solidFill>
              <a:srgbClr val="ffffff"/>
            </a:solidFill>
            <a:ln w="0">
              <a:solidFill>
                <a:srgbClr val="ffffff"/>
              </a:solidFill>
            </a:ln>
          </p:spPr>
          <p:style>
            <a:lnRef idx="0"/>
            <a:fillRef idx="0"/>
            <a:effectRef idx="0"/>
            <a:fontRef idx="minor"/>
          </p:style>
          <p:txBody>
            <a:bodyPr numCol="1" spcCol="1440" lIns="90000" rIns="90000" tIns="91440" bIns="91440" anchor="t">
              <a:noAutofit/>
            </a:bodyPr>
            <a:p>
              <a:pPr>
                <a:lnSpc>
                  <a:spcPct val="90000"/>
                </a:lnSpc>
                <a:spcAft>
                  <a:spcPts val="524"/>
                </a:spcAft>
              </a:pPr>
              <a:r>
                <a:rPr b="0" lang="es-ES" sz="1800" spc="-1" strike="noStrike">
                  <a:solidFill>
                    <a:srgbClr val="000000"/>
                  </a:solidFill>
                  <a:latin typeface="Arial"/>
                  <a:ea typeface="DejaVu Sans"/>
                </a:rPr>
                <a:t>El cliente tendrá que seguir las referencias que, en su caso, le dé el servidor.</a:t>
              </a:r>
              <a:endParaRPr b="0" lang="es-ES" sz="1800" spc="-1" strike="noStrike">
                <a:solidFill>
                  <a:srgbClr val="000000"/>
                </a:solidFill>
                <a:latin typeface="Arial"/>
              </a:endParaRPr>
            </a:p>
          </p:txBody>
        </p:sp>
        <p:sp>
          <p:nvSpPr>
            <p:cNvPr id="233" name=""/>
            <p:cNvSpPr/>
            <p:nvPr/>
          </p:nvSpPr>
          <p:spPr>
            <a:xfrm>
              <a:off x="1580400" y="6771600"/>
              <a:ext cx="9528120" cy="360"/>
            </a:xfrm>
            <a:prstGeom prst="line">
              <a:avLst/>
            </a:prstGeom>
            <a:ln w="0">
              <a:solidFill>
                <a:srgbClr val="ffffff"/>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grpSp>
      <p:sp>
        <p:nvSpPr>
          <p:cNvPr id="234" name="Rectángulo 15"/>
          <p:cNvSpPr/>
          <p:nvPr/>
        </p:nvSpPr>
        <p:spPr>
          <a:xfrm>
            <a:off x="4680000" y="253080"/>
            <a:ext cx="609300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ES" sz="1800" spc="-1" strike="noStrike">
                <a:solidFill>
                  <a:srgbClr val="000000"/>
                </a:solidFill>
                <a:latin typeface="Calibri"/>
                <a:ea typeface="DejaVu Sans"/>
              </a:rPr>
              <a:t>Si un servidor DNS no puede responder a una petición con la información de que dispone en su base de datos, puede realizar </a:t>
            </a:r>
            <a:r>
              <a:rPr b="0" lang="es-ES" sz="1800" spc="-1" strike="noStrike">
                <a:solidFill>
                  <a:srgbClr val="ff0000"/>
                </a:solidFill>
                <a:latin typeface="Calibri"/>
                <a:ea typeface="DejaVu Sans"/>
              </a:rPr>
              <a:t>DOS tipos de consultas</a:t>
            </a:r>
            <a:r>
              <a:rPr b="0" lang="es-ES" sz="1800" spc="-1" strike="noStrike">
                <a:solidFill>
                  <a:srgbClr val="000000"/>
                </a:solidFill>
                <a:latin typeface="Calibri"/>
                <a:ea typeface="DejaVu Sans"/>
              </a:rPr>
              <a:t>:</a:t>
            </a: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a:t>
            </a:r>
            <a:endParaRPr b="0" lang="es-ES" sz="3000" spc="-1" strike="noStrike">
              <a:solidFill>
                <a:srgbClr val="000000"/>
              </a:solidFill>
              <a:latin typeface="Arial"/>
            </a:endParaRPr>
          </a:p>
        </p:txBody>
      </p:sp>
      <p:grpSp>
        <p:nvGrpSpPr>
          <p:cNvPr id="236" name="Diagram5"/>
          <p:cNvGrpSpPr/>
          <p:nvPr/>
        </p:nvGrpSpPr>
        <p:grpSpPr>
          <a:xfrm>
            <a:off x="0" y="0"/>
            <a:ext cx="11698200" cy="6657840"/>
            <a:chOff x="0" y="0"/>
            <a:chExt cx="11698200" cy="6657840"/>
          </a:xfrm>
        </p:grpSpPr>
        <p:sp>
          <p:nvSpPr>
            <p:cNvPr id="237" name=""/>
            <p:cNvSpPr/>
            <p:nvPr/>
          </p:nvSpPr>
          <p:spPr>
            <a:xfrm>
              <a:off x="637200" y="449640"/>
              <a:ext cx="10720440" cy="620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38" name=""/>
            <p:cNvSpPr/>
            <p:nvPr/>
          </p:nvSpPr>
          <p:spPr>
            <a:xfrm>
              <a:off x="1584000" y="1061640"/>
              <a:ext cx="1835280" cy="916560"/>
            </a:xfrm>
            <a:prstGeom prst="roundRect">
              <a:avLst>
                <a:gd name="adj" fmla="val 10000"/>
              </a:avLst>
            </a:prstGeom>
            <a:solidFill>
              <a:srgbClr val="7030a0"/>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AUTORITATIVO</a:t>
              </a:r>
              <a:endParaRPr b="0" lang="es-ES" sz="1400" spc="-1" strike="noStrike">
                <a:solidFill>
                  <a:srgbClr val="000000"/>
                </a:solidFill>
                <a:latin typeface="Arial"/>
              </a:endParaRPr>
            </a:p>
          </p:txBody>
        </p:sp>
        <p:sp>
          <p:nvSpPr>
            <p:cNvPr id="239" name=""/>
            <p:cNvSpPr/>
            <p:nvPr/>
          </p:nvSpPr>
          <p:spPr>
            <a:xfrm>
              <a:off x="3479400" y="453960"/>
              <a:ext cx="1835280" cy="916560"/>
            </a:xfrm>
            <a:prstGeom prst="roundRect">
              <a:avLst>
                <a:gd name="adj" fmla="val 10000"/>
              </a:avLst>
            </a:prstGeom>
            <a:solidFill>
              <a:schemeClr val="accent5">
                <a:lumMod val="75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Tiene la información  en su propia base de datos local</a:t>
              </a:r>
              <a:endParaRPr b="0" lang="es-ES" sz="1400" spc="-1" strike="noStrike">
                <a:solidFill>
                  <a:srgbClr val="000000"/>
                </a:solidFill>
                <a:latin typeface="Arial"/>
              </a:endParaRPr>
            </a:p>
          </p:txBody>
        </p:sp>
        <p:sp>
          <p:nvSpPr>
            <p:cNvPr id="240" name=""/>
            <p:cNvSpPr/>
            <p:nvPr/>
          </p:nvSpPr>
          <p:spPr>
            <a:xfrm>
              <a:off x="5362920" y="1440000"/>
              <a:ext cx="1835280" cy="916560"/>
            </a:xfrm>
            <a:prstGeom prst="roundRect">
              <a:avLst>
                <a:gd name="adj" fmla="val 10000"/>
              </a:avLst>
            </a:prstGeom>
            <a:solidFill>
              <a:schemeClr val="accent5">
                <a:lumMod val="75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Proveedores de Dominios y de Hosting</a:t>
              </a:r>
              <a:endParaRPr b="0" lang="es-ES" sz="1400" spc="-1" strike="noStrike">
                <a:solidFill>
                  <a:srgbClr val="000000"/>
                </a:solidFill>
                <a:latin typeface="Arial"/>
              </a:endParaRPr>
            </a:p>
          </p:txBody>
        </p:sp>
        <p:sp>
          <p:nvSpPr>
            <p:cNvPr id="241" name=""/>
            <p:cNvSpPr/>
            <p:nvPr/>
          </p:nvSpPr>
          <p:spPr>
            <a:xfrm>
              <a:off x="3489840" y="1440000"/>
              <a:ext cx="1835280" cy="916560"/>
            </a:xfrm>
            <a:prstGeom prst="roundRect">
              <a:avLst>
                <a:gd name="adj" fmla="val 10000"/>
              </a:avLst>
            </a:prstGeom>
            <a:solidFill>
              <a:schemeClr val="accent5">
                <a:lumMod val="75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Servidores de DNS raíz </a:t>
              </a:r>
              <a:endParaRPr b="0" lang="es-ES" sz="1400" spc="-1" strike="noStrike">
                <a:solidFill>
                  <a:srgbClr val="000000"/>
                </a:solidFill>
                <a:latin typeface="Arial"/>
              </a:endParaRPr>
            </a:p>
          </p:txBody>
        </p:sp>
        <p:sp>
          <p:nvSpPr>
            <p:cNvPr id="242" name=""/>
            <p:cNvSpPr/>
            <p:nvPr/>
          </p:nvSpPr>
          <p:spPr>
            <a:xfrm>
              <a:off x="1654920" y="3149640"/>
              <a:ext cx="1835280" cy="916560"/>
            </a:xfrm>
            <a:prstGeom prst="roundRect">
              <a:avLst>
                <a:gd name="adj" fmla="val 10000"/>
              </a:avLst>
            </a:prstGeom>
            <a:solidFill>
              <a:srgbClr val="c00000"/>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 </a:t>
              </a:r>
              <a:r>
                <a:rPr b="0" lang="es-ES" sz="1400" spc="-1" strike="noStrike">
                  <a:solidFill>
                    <a:srgbClr val="ffffff"/>
                  </a:solidFill>
                  <a:latin typeface="Arial"/>
                  <a:ea typeface="DejaVu Sans"/>
                </a:rPr>
                <a:t>RECURSIVO</a:t>
              </a:r>
              <a:endParaRPr b="0" lang="es-ES" sz="1400" spc="-1" strike="noStrike">
                <a:solidFill>
                  <a:srgbClr val="ffffff"/>
                </a:solidFill>
                <a:latin typeface="Arial"/>
              </a:endParaRPr>
            </a:p>
          </p:txBody>
        </p:sp>
        <p:sp>
          <p:nvSpPr>
            <p:cNvPr id="243" name=""/>
            <p:cNvSpPr/>
            <p:nvPr/>
          </p:nvSpPr>
          <p:spPr>
            <a:xfrm>
              <a:off x="3564000" y="3780000"/>
              <a:ext cx="1842480" cy="916560"/>
            </a:xfrm>
            <a:prstGeom prst="roundRect">
              <a:avLst>
                <a:gd name="adj" fmla="val 10000"/>
              </a:avLst>
            </a:prstGeom>
            <a:solidFill>
              <a:schemeClr val="accent6">
                <a:lumMod val="60000"/>
                <a:lumOff val="40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000000"/>
                  </a:solidFill>
                  <a:latin typeface="Arial"/>
                  <a:ea typeface="DejaVu Sans"/>
                </a:rPr>
                <a:t>No tiene autoridad sobre un dominio</a:t>
              </a:r>
              <a:endParaRPr b="0" lang="es-ES" sz="1400" spc="-1" strike="noStrike">
                <a:solidFill>
                  <a:srgbClr val="000000"/>
                </a:solidFill>
                <a:latin typeface="Arial"/>
              </a:endParaRPr>
            </a:p>
          </p:txBody>
        </p:sp>
        <p:sp>
          <p:nvSpPr>
            <p:cNvPr id="244" name=""/>
            <p:cNvSpPr/>
            <p:nvPr/>
          </p:nvSpPr>
          <p:spPr>
            <a:xfrm>
              <a:off x="3562560" y="2725920"/>
              <a:ext cx="1835280" cy="916560"/>
            </a:xfrm>
            <a:prstGeom prst="roundRect">
              <a:avLst>
                <a:gd name="adj" fmla="val 10000"/>
              </a:avLst>
            </a:prstGeom>
            <a:solidFill>
              <a:schemeClr val="accent6">
                <a:lumMod val="60000"/>
                <a:lumOff val="40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000000"/>
                  </a:solidFill>
                  <a:latin typeface="Arial"/>
                  <a:ea typeface="DejaVu Sans"/>
                </a:rPr>
                <a:t>Dos opciones</a:t>
              </a:r>
              <a:endParaRPr b="0" lang="es-ES" sz="1400" spc="-1" strike="noStrike">
                <a:solidFill>
                  <a:srgbClr val="000000"/>
                </a:solidFill>
                <a:latin typeface="Arial"/>
              </a:endParaRPr>
            </a:p>
          </p:txBody>
        </p:sp>
        <p:sp>
          <p:nvSpPr>
            <p:cNvPr id="245" name=""/>
            <p:cNvSpPr/>
            <p:nvPr/>
          </p:nvSpPr>
          <p:spPr>
            <a:xfrm>
              <a:off x="5436000" y="2736000"/>
              <a:ext cx="1835280" cy="916560"/>
            </a:xfrm>
            <a:prstGeom prst="roundRect">
              <a:avLst>
                <a:gd name="adj" fmla="val 10000"/>
              </a:avLst>
            </a:prstGeom>
            <a:solidFill>
              <a:schemeClr val="accent6">
                <a:hueOff val="0"/>
                <a:satOff val="0"/>
                <a:lumOff val="0"/>
                <a:alphaOff val="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Si </a:t>
              </a:r>
              <a:endParaRPr b="0" lang="es-ES" sz="1400" spc="-1" strike="noStrike">
                <a:solidFill>
                  <a:srgbClr val="000000"/>
                </a:solidFill>
                <a:latin typeface="Arial"/>
              </a:endParaRPr>
            </a:p>
            <a:p>
              <a:pPr algn="ctr">
                <a:lnSpc>
                  <a:spcPct val="90000"/>
                </a:lnSpc>
                <a:spcAft>
                  <a:spcPts val="490"/>
                </a:spcAft>
              </a:pPr>
              <a:r>
                <a:rPr b="0" lang="es-ES" sz="1400" spc="-1" strike="noStrike">
                  <a:solidFill>
                    <a:srgbClr val="ffffff"/>
                  </a:solidFill>
                  <a:latin typeface="Arial"/>
                  <a:ea typeface="DejaVu Sans"/>
                </a:rPr>
                <a:t>tiene la respuesta la brinda al cliente</a:t>
              </a:r>
              <a:endParaRPr b="0" lang="es-ES" sz="1400" spc="-1" strike="noStrike">
                <a:solidFill>
                  <a:srgbClr val="000000"/>
                </a:solidFill>
                <a:latin typeface="Arial"/>
              </a:endParaRPr>
            </a:p>
          </p:txBody>
        </p:sp>
        <p:sp>
          <p:nvSpPr>
            <p:cNvPr id="246" name=""/>
            <p:cNvSpPr/>
            <p:nvPr/>
          </p:nvSpPr>
          <p:spPr>
            <a:xfrm>
              <a:off x="5470920" y="3797640"/>
              <a:ext cx="1835280" cy="916560"/>
            </a:xfrm>
            <a:prstGeom prst="roundRect">
              <a:avLst>
                <a:gd name="adj" fmla="val 10000"/>
              </a:avLst>
            </a:prstGeom>
            <a:solidFill>
              <a:schemeClr val="accent6">
                <a:hueOff val="0"/>
                <a:satOff val="0"/>
                <a:lumOff val="0"/>
                <a:alphaOff val="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No </a:t>
              </a:r>
              <a:endParaRPr b="0" lang="es-ES" sz="1400" spc="-1" strike="noStrike">
                <a:solidFill>
                  <a:srgbClr val="000000"/>
                </a:solidFill>
                <a:latin typeface="Arial"/>
              </a:endParaRPr>
            </a:p>
            <a:p>
              <a:pPr algn="ctr">
                <a:lnSpc>
                  <a:spcPct val="90000"/>
                </a:lnSpc>
                <a:spcAft>
                  <a:spcPts val="490"/>
                </a:spcAft>
              </a:pPr>
              <a:r>
                <a:rPr b="0" lang="es-ES" sz="1400" spc="-1" strike="noStrike">
                  <a:solidFill>
                    <a:srgbClr val="ffffff"/>
                  </a:solidFill>
                  <a:latin typeface="Arial"/>
                  <a:ea typeface="DejaVu Sans"/>
                </a:rPr>
                <a:t>tiene la respuesta</a:t>
              </a:r>
              <a:endParaRPr b="0" lang="es-ES" sz="1400" spc="-1" strike="noStrike">
                <a:solidFill>
                  <a:srgbClr val="000000"/>
                </a:solidFill>
                <a:latin typeface="Arial"/>
              </a:endParaRPr>
            </a:p>
          </p:txBody>
        </p:sp>
        <p:sp>
          <p:nvSpPr>
            <p:cNvPr id="247" name=""/>
            <p:cNvSpPr/>
            <p:nvPr/>
          </p:nvSpPr>
          <p:spPr>
            <a:xfrm>
              <a:off x="7362720" y="3816000"/>
              <a:ext cx="2463480" cy="916560"/>
            </a:xfrm>
            <a:prstGeom prst="roundRect">
              <a:avLst>
                <a:gd name="adj" fmla="val 10000"/>
              </a:avLst>
            </a:prstGeom>
            <a:solidFill>
              <a:srgbClr val="5eb91e"/>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Recursivamente, consulta a otros servidores de DNS hasta encontrar una respuesta autoritativa</a:t>
              </a:r>
              <a:endParaRPr b="0" lang="es-ES" sz="1400" spc="-1" strike="noStrike">
                <a:solidFill>
                  <a:srgbClr val="000000"/>
                </a:solidFill>
                <a:latin typeface="Arial"/>
              </a:endParaRPr>
            </a:p>
          </p:txBody>
        </p:sp>
        <p:sp>
          <p:nvSpPr>
            <p:cNvPr id="248" name=""/>
            <p:cNvSpPr/>
            <p:nvPr/>
          </p:nvSpPr>
          <p:spPr>
            <a:xfrm>
              <a:off x="5362920" y="449640"/>
              <a:ext cx="1835280" cy="916560"/>
            </a:xfrm>
            <a:prstGeom prst="roundRect">
              <a:avLst>
                <a:gd name="adj" fmla="val 10000"/>
              </a:avLst>
            </a:prstGeom>
            <a:solidFill>
              <a:schemeClr val="accent5">
                <a:lumMod val="75000"/>
              </a:schemeClr>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Brinda respuesta directa</a:t>
              </a:r>
              <a:endParaRPr b="0" lang="es-ES" sz="1400" spc="-1" strike="noStrike">
                <a:solidFill>
                  <a:srgbClr val="000000"/>
                </a:solidFill>
                <a:latin typeface="Arial"/>
              </a:endParaRPr>
            </a:p>
            <a:p>
              <a:pPr algn="ctr">
                <a:lnSpc>
                  <a:spcPct val="90000"/>
                </a:lnSpc>
                <a:spcAft>
                  <a:spcPts val="490"/>
                </a:spcAft>
              </a:pPr>
              <a:r>
                <a:rPr b="0" lang="es-ES" sz="1400" spc="-1" strike="noStrike">
                  <a:solidFill>
                    <a:srgbClr val="ffffff"/>
                  </a:solidFill>
                  <a:latin typeface="Arial"/>
                  <a:ea typeface="DejaVu Sans"/>
                </a:rPr>
                <a:t>al cliente</a:t>
              </a:r>
              <a:endParaRPr b="0" lang="es-ES" sz="1400" spc="-1" strike="noStrike">
                <a:solidFill>
                  <a:srgbClr val="000000"/>
                </a:solidFill>
                <a:latin typeface="Arial"/>
              </a:endParaRPr>
            </a:p>
          </p:txBody>
        </p:sp>
        <p:sp>
          <p:nvSpPr>
            <p:cNvPr id="249" name=""/>
            <p:cNvSpPr/>
            <p:nvPr/>
          </p:nvSpPr>
          <p:spPr>
            <a:xfrm>
              <a:off x="0" y="0"/>
              <a:ext cx="360" cy="360"/>
            </a:xfrm>
            <a:prstGeom prst="line">
              <a:avLst/>
            </a:prstGeom>
            <a:ln w="0">
              <a:solidFill>
                <a:srgbClr val="3465a4"/>
              </a:solidFill>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50" name=""/>
            <p:cNvSpPr/>
            <p:nvPr/>
          </p:nvSpPr>
          <p:spPr>
            <a:xfrm>
              <a:off x="1654560" y="4913280"/>
              <a:ext cx="1835280" cy="916560"/>
            </a:xfrm>
            <a:prstGeom prst="roundRect">
              <a:avLst>
                <a:gd name="adj" fmla="val 10000"/>
              </a:avLst>
            </a:prstGeom>
            <a:solidFill>
              <a:srgbClr val="00aec0"/>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ffffff"/>
                  </a:solidFill>
                  <a:latin typeface="Arial"/>
                  <a:ea typeface="DejaVu Sans"/>
                </a:rPr>
                <a:t> </a:t>
              </a:r>
              <a:r>
                <a:rPr b="0" lang="es-ES" sz="1400" spc="-1" strike="noStrike">
                  <a:solidFill>
                    <a:srgbClr val="ffffff"/>
                  </a:solidFill>
                  <a:latin typeface="Arial"/>
                  <a:ea typeface="DejaVu Sans"/>
                </a:rPr>
                <a:t>ITERATIVO</a:t>
              </a:r>
              <a:endParaRPr b="0" lang="es-ES" sz="1400" spc="-1" strike="noStrike">
                <a:solidFill>
                  <a:srgbClr val="000000"/>
                </a:solidFill>
                <a:latin typeface="Arial"/>
              </a:endParaRPr>
            </a:p>
          </p:txBody>
        </p:sp>
        <p:sp>
          <p:nvSpPr>
            <p:cNvPr id="251" name=""/>
            <p:cNvSpPr/>
            <p:nvPr/>
          </p:nvSpPr>
          <p:spPr>
            <a:xfrm>
              <a:off x="0" y="0"/>
              <a:ext cx="360" cy="360"/>
            </a:xfrm>
            <a:prstGeom prst="line">
              <a:avLst/>
            </a:prstGeom>
            <a:ln w="0">
              <a:solidFill>
                <a:srgbClr val="3465a4"/>
              </a:solidFill>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52" name=""/>
            <p:cNvSpPr/>
            <p:nvPr/>
          </p:nvSpPr>
          <p:spPr>
            <a:xfrm>
              <a:off x="0" y="0"/>
              <a:ext cx="360" cy="360"/>
            </a:xfrm>
            <a:prstGeom prst="line">
              <a:avLst/>
            </a:prstGeom>
            <a:ln w="0">
              <a:solidFill>
                <a:srgbClr val="3465a4"/>
              </a:solidFill>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53" name=""/>
            <p:cNvSpPr/>
            <p:nvPr/>
          </p:nvSpPr>
          <p:spPr>
            <a:xfrm>
              <a:off x="0" y="0"/>
              <a:ext cx="360" cy="360"/>
            </a:xfrm>
            <a:prstGeom prst="line">
              <a:avLst/>
            </a:prstGeom>
            <a:ln w="0">
              <a:solidFill>
                <a:srgbClr val="3465a4"/>
              </a:solidFill>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54" name=""/>
            <p:cNvSpPr/>
            <p:nvPr/>
          </p:nvSpPr>
          <p:spPr>
            <a:xfrm>
              <a:off x="5508000" y="4932000"/>
              <a:ext cx="1835280" cy="916560"/>
            </a:xfrm>
            <a:prstGeom prst="roundRect">
              <a:avLst>
                <a:gd name="adj" fmla="val 10000"/>
              </a:avLst>
            </a:prstGeom>
            <a:solidFill>
              <a:srgbClr val="e194ff"/>
            </a:solidFill>
            <a:ln>
              <a:solidFill>
                <a:srgbClr val="ffffff"/>
              </a:solidFill>
            </a:ln>
          </p:spPr>
          <p:style>
            <a:lnRef idx="2"/>
            <a:fillRef idx="0"/>
            <a:effectRef idx="0"/>
            <a:fontRef idx="minor"/>
          </p:style>
          <p:txBody>
            <a:bodyPr numCol="1" spcCol="1440" lIns="36000" rIns="9000" tIns="36000" bIns="36000" anchor="ctr">
              <a:noAutofit/>
            </a:bodyPr>
            <a:p>
              <a:pPr algn="ctr">
                <a:lnSpc>
                  <a:spcPct val="90000"/>
                </a:lnSpc>
                <a:spcAft>
                  <a:spcPts val="490"/>
                </a:spcAft>
              </a:pPr>
              <a:r>
                <a:rPr b="0" lang="es-ES" sz="1400" spc="-1" strike="noStrike">
                  <a:solidFill>
                    <a:srgbClr val="000000"/>
                  </a:solidFill>
                  <a:latin typeface="Arial"/>
                  <a:ea typeface="DejaVu Sans"/>
                </a:rPr>
                <a:t>Indica al cliente donde buscar el resto de la información</a:t>
              </a:r>
              <a:endParaRPr b="0" lang="es-ES" sz="1400" spc="-1" strike="noStrike">
                <a:solidFill>
                  <a:srgbClr val="000000"/>
                </a:solidFill>
                <a:latin typeface="Arial"/>
              </a:endParaRPr>
            </a:p>
          </p:txBody>
        </p:sp>
        <p:sp>
          <p:nvSpPr>
            <p:cNvPr id="255" name=""/>
            <p:cNvSpPr/>
            <p:nvPr/>
          </p:nvSpPr>
          <p:spPr>
            <a:xfrm>
              <a:off x="3600000" y="4932000"/>
              <a:ext cx="1835280" cy="916560"/>
            </a:xfrm>
            <a:prstGeom prst="roundRect">
              <a:avLst>
                <a:gd name="adj" fmla="val 10000"/>
              </a:avLst>
            </a:prstGeom>
            <a:solidFill>
              <a:srgbClr val="e194ff"/>
            </a:solidFill>
            <a:ln>
              <a:solidFill>
                <a:srgbClr val="ffffff"/>
              </a:solidFill>
            </a:ln>
          </p:spPr>
          <p:style>
            <a:lnRef idx="2"/>
            <a:fillRef idx="0"/>
            <a:effectRef idx="0"/>
            <a:fontRef idx="minor"/>
          </p:style>
          <p:txBody>
            <a:bodyPr numCol="1" spcCol="1440" lIns="36000" rIns="9000" tIns="36000" bIns="36000" anchor="ctr">
              <a:noAutofit/>
            </a:bodyPr>
            <a:p>
              <a:pPr>
                <a:lnSpc>
                  <a:spcPct val="90000"/>
                </a:lnSpc>
                <a:spcAft>
                  <a:spcPts val="839"/>
                </a:spcAft>
              </a:pPr>
              <a:r>
                <a:rPr b="0" lang="es-ES" sz="1400" spc="-1" strike="noStrike">
                  <a:solidFill>
                    <a:srgbClr val="000000"/>
                  </a:solidFill>
                  <a:latin typeface="Arial"/>
                  <a:ea typeface="DejaVu Sans"/>
                </a:rPr>
                <a:t>Brinda respuesta parcial al cliente</a:t>
              </a:r>
              <a:endParaRPr b="0" lang="es-ES" sz="1400" spc="-1" strike="noStrike">
                <a:solidFill>
                  <a:srgbClr val="000000"/>
                </a:solidFill>
                <a:latin typeface="Arial"/>
              </a:endParaRPr>
            </a:p>
          </p:txBody>
        </p:sp>
        <p:sp>
          <p:nvSpPr>
            <p:cNvPr id="256" name=""/>
            <p:cNvSpPr/>
            <p:nvPr/>
          </p:nvSpPr>
          <p:spPr>
            <a:xfrm>
              <a:off x="0" y="0"/>
              <a:ext cx="360" cy="360"/>
            </a:xfrm>
            <a:prstGeom prst="line">
              <a:avLst/>
            </a:prstGeom>
            <a:ln w="0">
              <a:solidFill>
                <a:srgbClr val="3465a4"/>
              </a:solidFill>
            </a:ln>
          </p:spPr>
          <p:style>
            <a:lnRef idx="0"/>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57" name=""/>
            <p:cNvSpPr/>
            <p:nvPr/>
          </p:nvSpPr>
          <p:spPr>
            <a:xfrm>
              <a:off x="5220000" y="2052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58" name=""/>
            <p:cNvSpPr/>
            <p:nvPr/>
          </p:nvSpPr>
          <p:spPr>
            <a:xfrm>
              <a:off x="5220000" y="1044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59" name=""/>
            <p:cNvSpPr/>
            <p:nvPr/>
          </p:nvSpPr>
          <p:spPr>
            <a:xfrm>
              <a:off x="5220000" y="2916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60" name=""/>
            <p:cNvSpPr/>
            <p:nvPr/>
          </p:nvSpPr>
          <p:spPr>
            <a:xfrm>
              <a:off x="5256000" y="3924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61" name=""/>
            <p:cNvSpPr/>
            <p:nvPr/>
          </p:nvSpPr>
          <p:spPr>
            <a:xfrm>
              <a:off x="7200000" y="4068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62" name=""/>
            <p:cNvSpPr/>
            <p:nvPr/>
          </p:nvSpPr>
          <p:spPr>
            <a:xfrm>
              <a:off x="5292000" y="5040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63" name=""/>
            <p:cNvSpPr/>
            <p:nvPr/>
          </p:nvSpPr>
          <p:spPr>
            <a:xfrm>
              <a:off x="9862920" y="3816000"/>
              <a:ext cx="1835280" cy="916560"/>
            </a:xfrm>
            <a:prstGeom prst="roundRect">
              <a:avLst>
                <a:gd name="adj" fmla="val 10000"/>
              </a:avLst>
            </a:prstGeom>
            <a:solidFill>
              <a:srgbClr val="77bc65"/>
            </a:solidFill>
            <a:ln>
              <a:solidFill>
                <a:srgbClr val="ffffff"/>
              </a:solidFill>
            </a:ln>
          </p:spPr>
          <p:style>
            <a:lnRef idx="2"/>
            <a:fillRef idx="0"/>
            <a:effectRef idx="0"/>
            <a:fontRef idx="minor"/>
          </p:style>
          <p:txBody>
            <a:bodyPr numCol="1" spcCol="1440" lIns="36000" rIns="9000" tIns="36000" bIns="36000" anchor="ctr">
              <a:noAutofit/>
            </a:bodyPr>
            <a:p>
              <a:pPr>
                <a:lnSpc>
                  <a:spcPct val="90000"/>
                </a:lnSpc>
                <a:spcAft>
                  <a:spcPts val="839"/>
                </a:spcAft>
              </a:pPr>
              <a:r>
                <a:rPr b="0" lang="es-ES" sz="1400" spc="-1" strike="noStrike">
                  <a:solidFill>
                    <a:srgbClr val="000000"/>
                  </a:solidFill>
                  <a:latin typeface="Arial"/>
                  <a:ea typeface="DejaVu Sans"/>
                </a:rPr>
                <a:t>Brinda la info. </a:t>
              </a:r>
              <a:endParaRPr b="0" lang="es-ES" sz="1400" spc="-1" strike="noStrike">
                <a:solidFill>
                  <a:srgbClr val="000000"/>
                </a:solidFill>
                <a:latin typeface="Arial"/>
              </a:endParaRPr>
            </a:p>
            <a:p>
              <a:pPr>
                <a:lnSpc>
                  <a:spcPct val="90000"/>
                </a:lnSpc>
                <a:spcAft>
                  <a:spcPts val="839"/>
                </a:spcAft>
              </a:pPr>
              <a:r>
                <a:rPr b="0" lang="es-ES" sz="1400" spc="-1" strike="noStrike">
                  <a:solidFill>
                    <a:srgbClr val="000000"/>
                  </a:solidFill>
                  <a:latin typeface="Arial"/>
                  <a:ea typeface="DejaVu Sans"/>
                </a:rPr>
                <a:t>al cliente</a:t>
              </a:r>
              <a:endParaRPr b="0" lang="es-ES" sz="1400" spc="-1" strike="noStrike">
                <a:solidFill>
                  <a:srgbClr val="000000"/>
                </a:solidFill>
                <a:latin typeface="Arial"/>
              </a:endParaRPr>
            </a:p>
          </p:txBody>
        </p:sp>
        <p:sp>
          <p:nvSpPr>
            <p:cNvPr id="264" name=""/>
            <p:cNvSpPr/>
            <p:nvPr/>
          </p:nvSpPr>
          <p:spPr>
            <a:xfrm>
              <a:off x="9720000" y="4500000"/>
              <a:ext cx="358200" cy="178200"/>
            </a:xfrm>
            <a:custGeom>
              <a:avLst/>
              <a:gdLst>
                <a:gd name="textAreaLeft" fmla="*/ 0 w 358200"/>
                <a:gd name="textAreaRight" fmla="*/ 359640 w 358200"/>
                <a:gd name="textAreaTop" fmla="*/ 0 h 178200"/>
                <a:gd name="textAreaBottom" fmla="*/ 179640 h 178200"/>
              </a:gdLst>
              <a:ah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ffffa6"/>
            </a:solidFill>
            <a:ln w="0">
              <a:solidFill>
                <a:srgbClr val="3465a4"/>
              </a:solid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grpSp>
      <p:sp>
        <p:nvSpPr>
          <p:cNvPr id="3" name="PlaceHolder 2"/>
          <p:cNvSpPr>
            <a:spLocks noGrp="1"/>
          </p:cNvSpPr>
          <p:nvPr>
            <p:ph type="sldNum" idx="2"/>
          </p:nvPr>
        </p:nvSpPr>
        <p:spPr/>
        <p:txBody>
          <a:bodyPr/>
          <a:p>
            <a:fld id="{EA99DA6D-9C62-442C-9503-9FC363F9C9F6}"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Espacio del nombre del DNS</a:t>
            </a:r>
            <a:endParaRPr b="0" lang="es-ES" sz="3000" spc="-1" strike="noStrike">
              <a:solidFill>
                <a:srgbClr val="000000"/>
              </a:solidFill>
              <a:latin typeface="Arial"/>
            </a:endParaRPr>
          </a:p>
        </p:txBody>
      </p:sp>
      <p:sp>
        <p:nvSpPr>
          <p:cNvPr id="266" name="PlaceHolder 2"/>
          <p:cNvSpPr>
            <a:spLocks noGrp="1"/>
          </p:cNvSpPr>
          <p:nvPr>
            <p:ph/>
          </p:nvPr>
        </p:nvSpPr>
        <p:spPr>
          <a:xfrm>
            <a:off x="838080" y="1428120"/>
            <a:ext cx="10681560" cy="2531520"/>
          </a:xfrm>
          <a:prstGeom prst="rect">
            <a:avLst/>
          </a:prstGeom>
          <a:solidFill>
            <a:srgbClr val="e2f0d9"/>
          </a:solidFill>
          <a:ln w="0">
            <a:noFill/>
          </a:ln>
        </p:spPr>
        <p:txBody>
          <a:bodyPr lIns="90000" rIns="90000" tIns="45000" bIns="45000" anchor="t">
            <a:noAutofit/>
          </a:bodyPr>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Utiliza un espacio de nombres jerárquico, en forma de árbol, con un nodo raíz (root).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Cada nodo tiene una etiqueta. La etiqueta asociada a la raíz es un punto.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El nombre de dominio </a:t>
            </a:r>
            <a:r>
              <a:rPr b="0" lang="es-ES" sz="2000" spc="-1" strike="noStrike">
                <a:solidFill>
                  <a:srgbClr val="ff0000"/>
                </a:solidFill>
                <a:latin typeface="Calibri"/>
              </a:rPr>
              <a:t>Fully-Qualified Domain Name (FQDN)</a:t>
            </a:r>
            <a:r>
              <a:rPr b="0" lang="es-ES" sz="2000" spc="-1" strike="noStrike">
                <a:solidFill>
                  <a:srgbClr val="000000"/>
                </a:solidFill>
                <a:latin typeface="Calibri"/>
              </a:rPr>
              <a:t> de un nodo puede ser: relativo a un cierto nodo o absoluto.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El </a:t>
            </a:r>
            <a:r>
              <a:rPr b="0" lang="es-ES" sz="2000" spc="-1" strike="noStrike">
                <a:solidFill>
                  <a:srgbClr val="ff0000"/>
                </a:solidFill>
                <a:latin typeface="Calibri"/>
              </a:rPr>
              <a:t>FQDN</a:t>
            </a:r>
            <a:r>
              <a:rPr b="0" lang="es-ES" sz="2000" spc="-1" strike="noStrike">
                <a:solidFill>
                  <a:srgbClr val="000000"/>
                </a:solidFill>
                <a:latin typeface="Calibri"/>
              </a:rPr>
              <a:t> es la concatenación de etiquetas desde el nodo hasta la raíz</a:t>
            </a:r>
            <a:endParaRPr b="0" lang="es-ES" sz="2000" spc="-1" strike="noStrike">
              <a:solidFill>
                <a:srgbClr val="000000"/>
              </a:solidFill>
              <a:latin typeface="Arial"/>
            </a:endParaRPr>
          </a:p>
        </p:txBody>
      </p:sp>
      <p:sp>
        <p:nvSpPr>
          <p:cNvPr id="267" name=""/>
          <p:cNvSpPr/>
          <p:nvPr/>
        </p:nvSpPr>
        <p:spPr>
          <a:xfrm>
            <a:off x="864000" y="4032000"/>
            <a:ext cx="9935640" cy="2393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800" spc="-1" strike="noStrike">
                <a:solidFill>
                  <a:srgbClr val="000000"/>
                </a:solidFill>
                <a:latin typeface="Arial"/>
              </a:rPr>
              <a:t>www.ejemplo.com.</a:t>
            </a:r>
            <a:endParaRPr b="0" lang="es-ES" sz="1800" spc="-1" strike="noStrike">
              <a:solidFill>
                <a:srgbClr val="000000"/>
              </a:solidFill>
              <a:latin typeface="Arial"/>
            </a:endParaRPr>
          </a:p>
          <a:p>
            <a:pPr>
              <a:lnSpc>
                <a:spcPct val="100000"/>
              </a:lnSpc>
            </a:pPr>
            <a:endParaRPr b="0" lang="es-ES" sz="1800" spc="-1" strike="noStrike">
              <a:solidFill>
                <a:srgbClr val="000000"/>
              </a:solidFill>
              <a:latin typeface="Arial"/>
            </a:endParaRPr>
          </a:p>
          <a:p>
            <a:pPr>
              <a:lnSpc>
                <a:spcPct val="100000"/>
              </a:lnSpc>
            </a:pPr>
            <a:r>
              <a:rPr b="0" lang="es-ES" sz="1800" spc="-1" strike="noStrike">
                <a:solidFill>
                  <a:srgbClr val="000000"/>
                </a:solidFill>
                <a:latin typeface="Arial"/>
              </a:rPr>
              <a:t>www → nombre del host (subdominio)</a:t>
            </a:r>
            <a:br>
              <a:rPr sz="1800"/>
            </a:br>
            <a:endParaRPr b="0" lang="es-ES" sz="1800" spc="-1" strike="noStrike">
              <a:solidFill>
                <a:srgbClr val="000000"/>
              </a:solidFill>
              <a:latin typeface="Arial"/>
            </a:endParaRPr>
          </a:p>
          <a:p>
            <a:pPr>
              <a:lnSpc>
                <a:spcPct val="100000"/>
              </a:lnSpc>
            </a:pPr>
            <a:r>
              <a:rPr b="0" lang="es-ES" sz="1800" spc="-1" strike="noStrike">
                <a:solidFill>
                  <a:srgbClr val="000000"/>
                </a:solidFill>
                <a:latin typeface="Arial"/>
              </a:rPr>
              <a:t>ejemplo → dominio de segundo nivel</a:t>
            </a:r>
            <a:endParaRPr b="0" lang="es-ES" sz="1800" spc="-1" strike="noStrike">
              <a:solidFill>
                <a:srgbClr val="000000"/>
              </a:solidFill>
              <a:latin typeface="Arial"/>
            </a:endParaRPr>
          </a:p>
          <a:p>
            <a:pPr>
              <a:lnSpc>
                <a:spcPct val="100000"/>
              </a:lnSpc>
            </a:pPr>
            <a:br>
              <a:rPr sz="1800"/>
            </a:br>
            <a:r>
              <a:rPr b="0" lang="es-ES" sz="1800" spc="-1" strike="noStrike">
                <a:solidFill>
                  <a:srgbClr val="000000"/>
                </a:solidFill>
                <a:latin typeface="Arial"/>
              </a:rPr>
              <a:t>.com → dominio de nivel superior (TLD)</a:t>
            </a:r>
            <a:endParaRPr b="0" lang="es-ES" sz="1800" spc="-1" strike="noStrike">
              <a:solidFill>
                <a:srgbClr val="000000"/>
              </a:solidFill>
              <a:latin typeface="Arial"/>
            </a:endParaRPr>
          </a:p>
          <a:p>
            <a:pPr>
              <a:lnSpc>
                <a:spcPct val="100000"/>
              </a:lnSpc>
            </a:pPr>
            <a:br>
              <a:rPr sz="1800"/>
            </a:br>
            <a:r>
              <a:rPr b="0" lang="es-ES" sz="1800" spc="-1" strike="noStrike">
                <a:solidFill>
                  <a:srgbClr val="000000"/>
                </a:solidFill>
                <a:latin typeface="Arial"/>
              </a:rPr>
              <a:t>. final → raíz del DNS (suele omitirse en la práctica, pero existe en la jerarquía DNS)</a:t>
            </a:r>
            <a:endParaRPr b="0" lang="es-ES" sz="1800" spc="-1" strike="noStrike">
              <a:solidFill>
                <a:srgbClr val="000000"/>
              </a:solidFill>
              <a:latin typeface="Arial"/>
            </a:endParaRPr>
          </a:p>
        </p:txBody>
      </p:sp>
      <p:sp>
        <p:nvSpPr>
          <p:cNvPr id="4" name="PlaceHolder 3"/>
          <p:cNvSpPr>
            <a:spLocks noGrp="1"/>
          </p:cNvSpPr>
          <p:nvPr>
            <p:ph type="sldNum" idx="2"/>
          </p:nvPr>
        </p:nvSpPr>
        <p:spPr/>
        <p:txBody>
          <a:bodyPr/>
          <a:p>
            <a:fld id="{433D3BD0-A4A2-4AE2-99F2-C153A95C3F59}"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Espacio del nombre del DNS</a:t>
            </a:r>
            <a:endParaRPr b="0" lang="es-ES" sz="3000" spc="-1" strike="noStrike">
              <a:solidFill>
                <a:srgbClr val="000000"/>
              </a:solidFill>
              <a:latin typeface="Arial"/>
            </a:endParaRPr>
          </a:p>
        </p:txBody>
      </p:sp>
      <p:sp>
        <p:nvSpPr>
          <p:cNvPr id="269" name="PlaceHolder 2"/>
          <p:cNvSpPr>
            <a:spLocks noGrp="1"/>
          </p:cNvSpPr>
          <p:nvPr>
            <p:ph/>
          </p:nvPr>
        </p:nvSpPr>
        <p:spPr>
          <a:xfrm>
            <a:off x="838080" y="1566360"/>
            <a:ext cx="9928440" cy="4488480"/>
          </a:xfrm>
          <a:prstGeom prst="rect">
            <a:avLst/>
          </a:prstGeom>
          <a:solidFill>
            <a:srgbClr val="e2f0d9"/>
          </a:solidFill>
          <a:ln w="0">
            <a:noFill/>
          </a:ln>
        </p:spPr>
        <p:txBody>
          <a:bodyPr lIns="90000" rIns="90000" tIns="45000" bIns="45000" anchor="t">
            <a:noAutofit/>
          </a:bodyPr>
          <a:p>
            <a:pPr indent="0">
              <a:lnSpc>
                <a:spcPct val="90000"/>
              </a:lnSpc>
              <a:spcBef>
                <a:spcPts val="1001"/>
              </a:spcBef>
              <a:buNone/>
              <a:tabLst>
                <a:tab algn="l" pos="0"/>
              </a:tabLst>
            </a:pPr>
            <a:r>
              <a:rPr b="1" lang="es-ES" sz="2000" spc="-1" strike="noStrike">
                <a:solidFill>
                  <a:srgbClr val="000000"/>
                </a:solidFill>
                <a:latin typeface="Arial"/>
              </a:rPr>
              <a:t>Top-Level Domains (TLD)</a:t>
            </a:r>
            <a:r>
              <a:rPr b="0" lang="es-ES" sz="2000" spc="-1" strike="noStrike">
                <a:solidFill>
                  <a:srgbClr val="000000"/>
                </a:solidFill>
                <a:latin typeface="Arial"/>
              </a:rPr>
              <a:t>: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Los nodos que hay debajo del nodo raíz.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Suelen indicar el tipo de entidad u organización, o su ubicación geográfica. </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1" lang="es-ES" sz="2000" spc="-1" strike="noStrike">
                <a:solidFill>
                  <a:srgbClr val="000000"/>
                </a:solidFill>
                <a:latin typeface="Arial"/>
              </a:rPr>
              <a:t>Second-Level Domains</a:t>
            </a:r>
            <a:r>
              <a:rPr b="0" lang="es-ES" sz="2000" spc="-1" strike="noStrike">
                <a:solidFill>
                  <a:srgbClr val="000000"/>
                </a:solidFill>
                <a:latin typeface="Arial"/>
              </a:rPr>
              <a:t>: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A los que están a dos saltos de raíz.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tabLst>
                <a:tab algn="l" pos="0"/>
              </a:tabLst>
            </a:pPr>
            <a:r>
              <a:rPr b="0" lang="es-ES" sz="2000" spc="-1" strike="noStrike">
                <a:solidFill>
                  <a:srgbClr val="000000"/>
                </a:solidFill>
                <a:latin typeface="Arial"/>
              </a:rPr>
              <a:t>Indican el nombre de una organización (empresa, universidad, fundación, ONG, etc.) como google, upc, intermon o wikipedia. para referenciar (y acceder a) un registro sobre un cierto recurso.</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05CE146D-857A-4A1D-847E-EE928C1BC739}"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
          <p:cNvSpPr/>
          <p:nvPr/>
        </p:nvSpPr>
        <p:spPr>
          <a:xfrm>
            <a:off x="453960" y="1260000"/>
            <a:ext cx="3685680" cy="358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TLD – Top Level Domain</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.com (comercial)</a:t>
            </a:r>
            <a:br>
              <a:rPr sz="1600"/>
            </a:br>
            <a:r>
              <a:rPr b="0" lang="es-ES" sz="1600" spc="-1" strike="noStrike">
                <a:solidFill>
                  <a:srgbClr val="000000"/>
                </a:solidFill>
                <a:latin typeface="Arial"/>
              </a:rPr>
              <a:t>.org (organizaciones)</a:t>
            </a:r>
            <a:br>
              <a:rPr sz="1600"/>
            </a:br>
            <a:r>
              <a:rPr b="0" lang="es-ES" sz="1600" spc="-1" strike="noStrike">
                <a:solidFill>
                  <a:srgbClr val="000000"/>
                </a:solidFill>
                <a:latin typeface="Arial"/>
              </a:rPr>
              <a:t>.net (redes, proveedores de servicios)</a:t>
            </a:r>
            <a:br>
              <a:rPr sz="1600"/>
            </a:br>
            <a:r>
              <a:rPr b="0" lang="es-ES" sz="1600" spc="-1" strike="noStrike">
                <a:solidFill>
                  <a:srgbClr val="000000"/>
                </a:solidFill>
                <a:latin typeface="Arial"/>
              </a:rPr>
              <a:t>.edu (educación, universidades)</a:t>
            </a:r>
            <a:br>
              <a:rPr sz="1600"/>
            </a:br>
            <a:r>
              <a:rPr b="0" lang="es-ES" sz="1600" spc="-1" strike="noStrike">
                <a:solidFill>
                  <a:srgbClr val="000000"/>
                </a:solidFill>
                <a:latin typeface="Arial"/>
              </a:rPr>
              <a:t>.gov (gobierno)</a:t>
            </a:r>
            <a:br>
              <a:rPr sz="1600"/>
            </a:br>
            <a:r>
              <a:rPr b="0" lang="es-ES" sz="1600" spc="-1" strike="noStrike">
                <a:solidFill>
                  <a:srgbClr val="000000"/>
                </a:solidFill>
                <a:latin typeface="Arial"/>
              </a:rPr>
              <a:t>.mil (militar)</a:t>
            </a:r>
            <a:endParaRPr b="0" lang="es-ES" sz="1600" spc="-1" strike="noStrike">
              <a:solidFill>
                <a:srgbClr val="000000"/>
              </a:solidFill>
              <a:latin typeface="Arial"/>
            </a:endParaRPr>
          </a:p>
          <a:p>
            <a:pPr>
              <a:lnSpc>
                <a:spcPct val="100000"/>
              </a:lnSpc>
            </a:pPr>
            <a:r>
              <a:rPr b="1" lang="es-ES" sz="1600" spc="-1" strike="noStrike">
                <a:solidFill>
                  <a:srgbClr val="000000"/>
                </a:solidFill>
                <a:latin typeface="Arial"/>
              </a:rPr>
              <a:t>Nuevos gTLD</a:t>
            </a:r>
            <a:r>
              <a:rPr b="0" lang="es-ES" sz="1600" spc="-1" strike="noStrike">
                <a:solidFill>
                  <a:srgbClr val="000000"/>
                </a:solidFill>
                <a:latin typeface="Arial"/>
              </a:rPr>
              <a:t> </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.app, .shop, .blog, .online, .tech, .xyz, .club, etc.</a:t>
            </a:r>
            <a:endParaRPr b="0" lang="es-ES" sz="1600" spc="-1" strike="noStrike">
              <a:solidFill>
                <a:srgbClr val="000000"/>
              </a:solidFill>
              <a:latin typeface="Arial"/>
            </a:endParaRPr>
          </a:p>
        </p:txBody>
      </p:sp>
      <p:sp>
        <p:nvSpPr>
          <p:cNvPr id="271" name=""/>
          <p:cNvSpPr/>
          <p:nvPr/>
        </p:nvSpPr>
        <p:spPr>
          <a:xfrm>
            <a:off x="4228920" y="1260000"/>
            <a:ext cx="3685680" cy="358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ccTLD – Top Level Domain - Country Code Top Level Domains </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Países -  dos letras según  estándar ISO-3166</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.es (España)</a:t>
            </a:r>
            <a:br>
              <a:rPr sz="1600"/>
            </a:br>
            <a:r>
              <a:rPr b="0" lang="es-ES" sz="1600" spc="-1" strike="noStrike">
                <a:solidFill>
                  <a:srgbClr val="000000"/>
                </a:solidFill>
                <a:latin typeface="Arial"/>
              </a:rPr>
              <a:t>.fr (Francia)</a:t>
            </a:r>
            <a:br>
              <a:rPr sz="1600"/>
            </a:br>
            <a:r>
              <a:rPr b="0" lang="es-ES" sz="1600" spc="-1" strike="noStrike">
                <a:solidFill>
                  <a:srgbClr val="000000"/>
                </a:solidFill>
                <a:latin typeface="Arial"/>
              </a:rPr>
              <a:t>.mx (México)</a:t>
            </a:r>
            <a:br>
              <a:rPr sz="1600"/>
            </a:br>
            <a:r>
              <a:rPr b="0" lang="es-ES" sz="1600" spc="-1" strike="noStrike">
                <a:solidFill>
                  <a:srgbClr val="000000"/>
                </a:solidFill>
                <a:latin typeface="Arial"/>
              </a:rPr>
              <a:t>.uk (Reino Unido)</a:t>
            </a:r>
            <a:br>
              <a:rPr sz="1600"/>
            </a:br>
            <a:r>
              <a:rPr b="0" lang="es-ES" sz="1600" spc="-1" strike="noStrike">
                <a:solidFill>
                  <a:srgbClr val="000000"/>
                </a:solidFill>
                <a:latin typeface="Arial"/>
              </a:rPr>
              <a:t>.de (Alemania)</a:t>
            </a:r>
            <a:br>
              <a:rPr sz="1600"/>
            </a:br>
            <a:r>
              <a:rPr b="0" lang="es-ES" sz="1600" spc="-1" strike="noStrike">
                <a:solidFill>
                  <a:srgbClr val="000000"/>
                </a:solidFill>
                <a:latin typeface="Arial"/>
              </a:rPr>
              <a:t>.jp (Japón)</a:t>
            </a:r>
            <a:endParaRPr b="0" lang="es-ES" sz="1600" spc="-1" strike="noStrike">
              <a:solidFill>
                <a:srgbClr val="000000"/>
              </a:solidFill>
              <a:latin typeface="Arial"/>
            </a:endParaRPr>
          </a:p>
        </p:txBody>
      </p:sp>
      <p:sp>
        <p:nvSpPr>
          <p:cNvPr id="272" name=""/>
          <p:cNvSpPr/>
          <p:nvPr/>
        </p:nvSpPr>
        <p:spPr>
          <a:xfrm>
            <a:off x="8100000" y="1185480"/>
            <a:ext cx="3513600" cy="340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sTLD (Sponsored Top Level Domains – patrocinados)</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Organizaciones privadas o agencias que representan a una comunidad específica.</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.aero (sector aeronáutico)</a:t>
            </a:r>
            <a:br>
              <a:rPr sz="1600"/>
            </a:br>
            <a:r>
              <a:rPr b="0" lang="es-ES" sz="1600" spc="-1" strike="noStrike">
                <a:solidFill>
                  <a:srgbClr val="000000"/>
                </a:solidFill>
                <a:latin typeface="Arial"/>
              </a:rPr>
              <a:t>.museum (museos)</a:t>
            </a:r>
            <a:br>
              <a:rPr sz="1600"/>
            </a:br>
            <a:r>
              <a:rPr b="0" lang="es-ES" sz="1600" spc="-1" strike="noStrike">
                <a:solidFill>
                  <a:srgbClr val="000000"/>
                </a:solidFill>
                <a:latin typeface="Arial"/>
              </a:rPr>
              <a:t>.travel (turismo)</a:t>
            </a:r>
            <a:br>
              <a:rPr sz="1600"/>
            </a:br>
            <a:r>
              <a:rPr b="0" lang="es-ES" sz="1600" spc="-1" strike="noStrike">
                <a:solidFill>
                  <a:srgbClr val="000000"/>
                </a:solidFill>
                <a:latin typeface="Arial"/>
              </a:rPr>
              <a:t>.jobs (empleo)</a:t>
            </a:r>
            <a:br>
              <a:rPr sz="1600"/>
            </a:br>
            <a:r>
              <a:rPr b="0" lang="es-ES" sz="1600" spc="-1" strike="noStrike">
                <a:solidFill>
                  <a:srgbClr val="000000"/>
                </a:solidFill>
                <a:latin typeface="Arial"/>
              </a:rPr>
              <a:t>.mobi (servicios móviles)</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p:txBody>
      </p:sp>
      <p:sp>
        <p:nvSpPr>
          <p:cNvPr id="273" name=""/>
          <p:cNvSpPr/>
          <p:nvPr/>
        </p:nvSpPr>
        <p:spPr>
          <a:xfrm>
            <a:off x="8280000" y="4713480"/>
            <a:ext cx="3239640" cy="1670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s-ES" sz="1600" spc="-1" strike="noStrike">
                <a:solidFill>
                  <a:srgbClr val="000000"/>
                </a:solidFill>
                <a:latin typeface="Arial"/>
              </a:rPr>
              <a:t>Infraestructura</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Únicamente  </a:t>
            </a:r>
            <a:r>
              <a:rPr b="1" lang="es-ES" sz="1600" spc="-1" strike="noStrike">
                <a:solidFill>
                  <a:srgbClr val="000000"/>
                </a:solidFill>
                <a:latin typeface="Arial"/>
              </a:rPr>
              <a:t>.arpa</a:t>
            </a:r>
            <a:r>
              <a:rPr b="0" lang="es-ES" sz="1600" spc="-1" strike="noStrike">
                <a:solidFill>
                  <a:srgbClr val="000000"/>
                </a:solidFill>
                <a:latin typeface="Arial"/>
              </a:rPr>
              <a:t>, </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reservado para tareas técnicas de infraestructura de Internet.</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p:txBody>
      </p:sp>
      <p:sp>
        <p:nvSpPr>
          <p:cNvPr id="274" name="PlaceHolder 4"/>
          <p:cNvSpPr/>
          <p:nvPr/>
        </p:nvSpPr>
        <p:spPr>
          <a:xfrm>
            <a:off x="838080" y="365040"/>
            <a:ext cx="9928440" cy="813240"/>
          </a:xfrm>
          <a:prstGeom prst="rect">
            <a:avLst/>
          </a:prstGeom>
          <a:noFill/>
          <a:ln w="0">
            <a:noFill/>
          </a:ln>
        </p:spPr>
        <p:style>
          <a:lnRef idx="0"/>
          <a:fillRef idx="0"/>
          <a:effectRef idx="0"/>
          <a:fontRef idx="minor"/>
        </p:style>
        <p:txBody>
          <a:bodyPr lIns="90000" rIns="90000" tIns="45000" bIns="45000" anchor="t">
            <a:noAutofit/>
          </a:bodyPr>
          <a:p>
            <a:pPr>
              <a:lnSpc>
                <a:spcPct val="90000"/>
              </a:lnSpc>
              <a:tabLst>
                <a:tab algn="l" pos="0"/>
              </a:tabLst>
            </a:pPr>
            <a:r>
              <a:rPr b="1" lang="es-ES" sz="3000" spc="-1" strike="noStrike">
                <a:solidFill>
                  <a:srgbClr val="000000"/>
                </a:solidFill>
                <a:latin typeface="Arial"/>
              </a:rPr>
              <a:t>TLD – TOP LEVEL DOMAIN</a:t>
            </a:r>
            <a:endParaRPr b="0" lang="es-ES" sz="3000" spc="-1" strike="noStrike">
              <a:solidFill>
                <a:srgbClr val="000000"/>
              </a:solidFill>
              <a:latin typeface="Arial"/>
            </a:endParaRPr>
          </a:p>
        </p:txBody>
      </p:sp>
      <p:sp>
        <p:nvSpPr>
          <p:cNvPr id="275" name=""/>
          <p:cNvSpPr/>
          <p:nvPr/>
        </p:nvSpPr>
        <p:spPr>
          <a:xfrm>
            <a:off x="407880" y="4858200"/>
            <a:ext cx="643176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s-ES" sz="1600" spc="-1" strike="noStrike">
                <a:solidFill>
                  <a:srgbClr val="c9211e"/>
                </a:solidFill>
                <a:latin typeface="Arial"/>
              </a:rPr>
              <a:t>ICANN, la entidad que gestiona los dominios a nivel mundial,  reconoce más de 1.500 TLD de primer nivel activos.</a:t>
            </a:r>
            <a:endParaRPr b="0" lang="es-ES" sz="1600" spc="-1" strike="noStrike">
              <a:solidFill>
                <a:srgbClr val="000000"/>
              </a:solidFill>
              <a:latin typeface="Arial"/>
            </a:endParaRPr>
          </a:p>
        </p:txBody>
      </p:sp>
      <p:sp>
        <p:nvSpPr>
          <p:cNvPr id="2" name="PlaceHolder 1"/>
          <p:cNvSpPr>
            <a:spLocks noGrp="1"/>
          </p:cNvSpPr>
          <p:nvPr>
            <p:ph type="sldNum" idx="2"/>
          </p:nvPr>
        </p:nvSpPr>
        <p:spPr/>
        <p:txBody>
          <a:bodyPr/>
          <a:p>
            <a:fld id="{4B6967C6-1445-4FC9-8726-B844208568D9}"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Ejemplo </a:t>
            </a:r>
            <a:endParaRPr b="0" lang="es-ES" sz="3000" spc="-1" strike="noStrike">
              <a:solidFill>
                <a:srgbClr val="000000"/>
              </a:solidFill>
              <a:latin typeface="Arial"/>
            </a:endParaRPr>
          </a:p>
        </p:txBody>
      </p:sp>
      <p:pic>
        <p:nvPicPr>
          <p:cNvPr id="277" name="Imagen 5" descr=""/>
          <p:cNvPicPr/>
          <p:nvPr/>
        </p:nvPicPr>
        <p:blipFill>
          <a:blip r:embed="rId1"/>
          <a:stretch/>
        </p:blipFill>
        <p:spPr>
          <a:xfrm>
            <a:off x="2022840" y="1181160"/>
            <a:ext cx="10027800" cy="5565240"/>
          </a:xfrm>
          <a:prstGeom prst="rect">
            <a:avLst/>
          </a:prstGeom>
          <a:ln w="0">
            <a:noFill/>
          </a:ln>
        </p:spPr>
      </p:pic>
      <p:sp>
        <p:nvSpPr>
          <p:cNvPr id="278" name="CuadroTexto 6"/>
          <p:cNvSpPr/>
          <p:nvPr/>
        </p:nvSpPr>
        <p:spPr>
          <a:xfrm>
            <a:off x="336600" y="3029400"/>
            <a:ext cx="1728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000000"/>
                </a:solidFill>
                <a:latin typeface="Calibri"/>
                <a:ea typeface="DejaVu Sans"/>
              </a:rPr>
              <a:t>Tomado de …</a:t>
            </a:r>
            <a:endParaRPr b="0" lang="es-ES" sz="1800" spc="-1" strike="noStrike">
              <a:solidFill>
                <a:srgbClr val="000000"/>
              </a:solidFill>
              <a:latin typeface="Arial"/>
            </a:endParaRPr>
          </a:p>
        </p:txBody>
      </p:sp>
      <p:sp>
        <p:nvSpPr>
          <p:cNvPr id="3" name="PlaceHolder 2"/>
          <p:cNvSpPr>
            <a:spLocks noGrp="1"/>
          </p:cNvSpPr>
          <p:nvPr>
            <p:ph type="sldNum" idx="2"/>
          </p:nvPr>
        </p:nvSpPr>
        <p:spPr/>
        <p:txBody>
          <a:bodyPr/>
          <a:p>
            <a:fld id="{B38D33A7-A4C2-449A-B303-F1BBD11BECE3}"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Dominios y subdominios</a:t>
            </a:r>
            <a:endParaRPr b="0" lang="es-ES" sz="3000" spc="-1" strike="noStrike">
              <a:solidFill>
                <a:srgbClr val="000000"/>
              </a:solidFill>
              <a:latin typeface="Arial"/>
            </a:endParaRPr>
          </a:p>
        </p:txBody>
      </p:sp>
      <p:grpSp>
        <p:nvGrpSpPr>
          <p:cNvPr id="280" name="Diagram2"/>
          <p:cNvGrpSpPr/>
          <p:nvPr/>
        </p:nvGrpSpPr>
        <p:grpSpPr>
          <a:xfrm>
            <a:off x="838080" y="1505880"/>
            <a:ext cx="10501920" cy="4973760"/>
            <a:chOff x="838080" y="1505880"/>
            <a:chExt cx="10501920" cy="4973760"/>
          </a:xfrm>
        </p:grpSpPr>
        <p:sp>
          <p:nvSpPr>
            <p:cNvPr id="281" name=""/>
            <p:cNvSpPr/>
            <p:nvPr/>
          </p:nvSpPr>
          <p:spPr>
            <a:xfrm>
              <a:off x="838080" y="1505880"/>
              <a:ext cx="10499040" cy="49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a typeface="DejaVu Sans"/>
              </a:endParaRPr>
            </a:p>
          </p:txBody>
        </p:sp>
        <p:sp>
          <p:nvSpPr>
            <p:cNvPr id="282" name=""/>
            <p:cNvSpPr/>
            <p:nvPr/>
          </p:nvSpPr>
          <p:spPr>
            <a:xfrm>
              <a:off x="838080" y="1505880"/>
              <a:ext cx="1050192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83" name=""/>
            <p:cNvSpPr/>
            <p:nvPr/>
          </p:nvSpPr>
          <p:spPr>
            <a:xfrm>
              <a:off x="838080" y="1505880"/>
              <a:ext cx="10501200" cy="1062000"/>
            </a:xfrm>
            <a:prstGeom prst="rect">
              <a:avLst/>
            </a:prstGeom>
            <a:noFill/>
            <a:ln w="0">
              <a:noFill/>
            </a:ln>
          </p:spPr>
          <p:style>
            <a:lnRef idx="0"/>
            <a:fillRef idx="0"/>
            <a:effectRef idx="0"/>
            <a:fontRef idx="minor"/>
          </p:style>
          <p:txBody>
            <a:bodyPr numCol="1" spcCol="1440" lIns="90000" rIns="90000" tIns="91440" bIns="91440" anchor="t">
              <a:noAutofit/>
            </a:bodyPr>
            <a:p>
              <a:pPr>
                <a:lnSpc>
                  <a:spcPct val="90000"/>
                </a:lnSpc>
                <a:spcAft>
                  <a:spcPts val="839"/>
                </a:spcAft>
              </a:pPr>
              <a:r>
                <a:rPr b="0" lang="es-ES" sz="2400" spc="-1" strike="noStrike">
                  <a:solidFill>
                    <a:srgbClr val="000000"/>
                  </a:solidFill>
                  <a:latin typeface="Arial"/>
                  <a:ea typeface="DejaVu Sans"/>
                </a:rPr>
                <a:t>Es un sub-árbol del espacio de nombres del DNS. </a:t>
              </a:r>
              <a:endParaRPr b="0" lang="es-ES" sz="2400" spc="-1" strike="noStrike">
                <a:solidFill>
                  <a:srgbClr val="000000"/>
                </a:solidFill>
                <a:latin typeface="Arial"/>
              </a:endParaRPr>
            </a:p>
          </p:txBody>
        </p:sp>
        <p:sp>
          <p:nvSpPr>
            <p:cNvPr id="284" name=""/>
            <p:cNvSpPr/>
            <p:nvPr/>
          </p:nvSpPr>
          <p:spPr>
            <a:xfrm>
              <a:off x="838080" y="2568600"/>
              <a:ext cx="1050192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85" name=""/>
            <p:cNvSpPr/>
            <p:nvPr/>
          </p:nvSpPr>
          <p:spPr>
            <a:xfrm>
              <a:off x="838080" y="2568600"/>
              <a:ext cx="10501200" cy="1061640"/>
            </a:xfrm>
            <a:prstGeom prst="rect">
              <a:avLst/>
            </a:prstGeom>
            <a:noFill/>
            <a:ln w="0">
              <a:noFill/>
            </a:ln>
          </p:spPr>
          <p:style>
            <a:lnRef idx="0"/>
            <a:fillRef idx="0"/>
            <a:effectRef idx="0"/>
            <a:fontRef idx="minor"/>
          </p:style>
          <p:txBody>
            <a:bodyPr numCol="1" spcCol="1440" lIns="90000" rIns="90000" tIns="91440" bIns="91440" anchor="t">
              <a:noAutofit/>
            </a:bodyPr>
            <a:p>
              <a:pPr>
                <a:lnSpc>
                  <a:spcPct val="90000"/>
                </a:lnSpc>
                <a:spcAft>
                  <a:spcPts val="839"/>
                </a:spcAft>
              </a:pPr>
              <a:r>
                <a:rPr b="0" lang="es-ES" sz="2400" spc="-1" strike="noStrike">
                  <a:solidFill>
                    <a:srgbClr val="000000"/>
                  </a:solidFill>
                  <a:latin typeface="Arial"/>
                  <a:ea typeface="DejaVu Sans"/>
                </a:rPr>
                <a:t>Todo el conjunto de nodos hijos o descendientes de un cierto nodo “padre”, con lo cual el nombre de un dominio es el nombre de dominio del nodo padre.</a:t>
              </a:r>
              <a:endParaRPr b="0" lang="es-ES" sz="2400" spc="-1" strike="noStrike">
                <a:solidFill>
                  <a:srgbClr val="000000"/>
                </a:solidFill>
                <a:latin typeface="Arial"/>
              </a:endParaRPr>
            </a:p>
          </p:txBody>
        </p:sp>
        <p:sp>
          <p:nvSpPr>
            <p:cNvPr id="286" name=""/>
            <p:cNvSpPr/>
            <p:nvPr/>
          </p:nvSpPr>
          <p:spPr>
            <a:xfrm>
              <a:off x="838080" y="3630960"/>
              <a:ext cx="1050192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87" name=""/>
            <p:cNvSpPr/>
            <p:nvPr/>
          </p:nvSpPr>
          <p:spPr>
            <a:xfrm>
              <a:off x="838080" y="3631320"/>
              <a:ext cx="10501200" cy="1062000"/>
            </a:xfrm>
            <a:prstGeom prst="rect">
              <a:avLst/>
            </a:prstGeom>
            <a:noFill/>
            <a:ln w="0">
              <a:noFill/>
            </a:ln>
          </p:spPr>
          <p:style>
            <a:lnRef idx="0"/>
            <a:fillRef idx="0"/>
            <a:effectRef idx="0"/>
            <a:fontRef idx="minor"/>
          </p:style>
          <p:txBody>
            <a:bodyPr numCol="1" spcCol="1440" lIns="90000" rIns="90000" tIns="91440" bIns="91440" anchor="t">
              <a:noAutofit/>
            </a:bodyPr>
            <a:p>
              <a:pPr>
                <a:lnSpc>
                  <a:spcPct val="90000"/>
                </a:lnSpc>
                <a:spcAft>
                  <a:spcPts val="839"/>
                </a:spcAft>
              </a:pPr>
              <a:r>
                <a:rPr b="0" lang="es-ES" sz="2400" spc="-1" strike="noStrike">
                  <a:solidFill>
                    <a:srgbClr val="000000"/>
                  </a:solidFill>
                  <a:latin typeface="Arial"/>
                  <a:ea typeface="DejaVu Sans"/>
                </a:rPr>
                <a:t>Un dominio es un subdominio de otro, siempre y cuando el primero forme parte del segundo.</a:t>
              </a:r>
              <a:endParaRPr b="0" lang="es-ES" sz="2400" spc="-1" strike="noStrike">
                <a:solidFill>
                  <a:srgbClr val="000000"/>
                </a:solidFill>
                <a:latin typeface="Arial"/>
              </a:endParaRPr>
            </a:p>
          </p:txBody>
        </p:sp>
        <p:sp>
          <p:nvSpPr>
            <p:cNvPr id="288" name=""/>
            <p:cNvSpPr/>
            <p:nvPr/>
          </p:nvSpPr>
          <p:spPr>
            <a:xfrm>
              <a:off x="838080" y="4694040"/>
              <a:ext cx="10501920" cy="360"/>
            </a:xfrm>
            <a:prstGeom prst="line">
              <a:avLst/>
            </a:prstGeom>
            <a:ln>
              <a:solidFill>
                <a:srgbClr val="4472c4"/>
              </a:solidFill>
            </a:ln>
          </p:spPr>
          <p:style>
            <a:lnRef idx="2"/>
            <a:fillRef idx="0"/>
            <a:effectRef idx="0"/>
            <a:fontRef idx="minor"/>
          </p:style>
          <p:txBody>
            <a:bodyPr lIns="90000" rIns="90000" tIns="-44640" bIns="-44640" anchor="t" anchorCtr="1">
              <a:noAutofit/>
            </a:bodyPr>
            <a:p>
              <a:endParaRPr b="0" lang="es-ES" sz="1800" spc="-1" strike="noStrike">
                <a:solidFill>
                  <a:srgbClr val="000000"/>
                </a:solidFill>
                <a:latin typeface="Arial"/>
                <a:ea typeface="DejaVu Sans"/>
              </a:endParaRPr>
            </a:p>
          </p:txBody>
        </p:sp>
        <p:sp>
          <p:nvSpPr>
            <p:cNvPr id="289" name=""/>
            <p:cNvSpPr/>
            <p:nvPr/>
          </p:nvSpPr>
          <p:spPr>
            <a:xfrm>
              <a:off x="838080" y="4694040"/>
              <a:ext cx="10501200" cy="1061640"/>
            </a:xfrm>
            <a:prstGeom prst="rect">
              <a:avLst/>
            </a:prstGeom>
            <a:noFill/>
            <a:ln w="0">
              <a:noFill/>
            </a:ln>
          </p:spPr>
          <p:style>
            <a:lnRef idx="0"/>
            <a:fillRef idx="0"/>
            <a:effectRef idx="0"/>
            <a:fontRef idx="minor"/>
          </p:style>
          <p:txBody>
            <a:bodyPr numCol="1" spcCol="1440" lIns="90000" rIns="90000" tIns="91440" bIns="91440" anchor="t">
              <a:noAutofit/>
            </a:bodyPr>
            <a:p>
              <a:pPr>
                <a:lnSpc>
                  <a:spcPct val="90000"/>
                </a:lnSpc>
                <a:spcAft>
                  <a:spcPts val="839"/>
                </a:spcAft>
              </a:pPr>
              <a:r>
                <a:rPr b="0" lang="es-ES" sz="2400" spc="-1" strike="noStrike">
                  <a:solidFill>
                    <a:srgbClr val="000000"/>
                  </a:solidFill>
                  <a:latin typeface="Arial"/>
                  <a:ea typeface="DejaVu Sans"/>
                </a:rPr>
                <a:t>Por ejemplo, el dominio .edu hace referencia a todo el árbol que “cuelga” del nodo .edu.</a:t>
              </a:r>
              <a:endParaRPr b="0" lang="es-ES" sz="2400" spc="-1" strike="noStrike">
                <a:solidFill>
                  <a:srgbClr val="000000"/>
                </a:solidFill>
                <a:latin typeface="Arial"/>
              </a:endParaRPr>
            </a:p>
          </p:txBody>
        </p:sp>
      </p:grpSp>
      <p:sp>
        <p:nvSpPr>
          <p:cNvPr id="3" name="PlaceHolder 2"/>
          <p:cNvSpPr>
            <a:spLocks noGrp="1"/>
          </p:cNvSpPr>
          <p:nvPr>
            <p:ph type="sldNum" idx="2"/>
          </p:nvPr>
        </p:nvSpPr>
        <p:spPr/>
        <p:txBody>
          <a:bodyPr/>
          <a:p>
            <a:fld id="{DB4428DA-92B3-4DE4-B049-7F4CE9090C4D}"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Dominios y subdominios</a:t>
            </a:r>
            <a:endParaRPr b="0" lang="es-ES" sz="3000" spc="-1" strike="noStrike">
              <a:solidFill>
                <a:srgbClr val="000000"/>
              </a:solidFill>
              <a:latin typeface="Arial"/>
            </a:endParaRPr>
          </a:p>
        </p:txBody>
      </p:sp>
      <p:pic>
        <p:nvPicPr>
          <p:cNvPr id="291" name="Imagen 8" descr=""/>
          <p:cNvPicPr/>
          <p:nvPr/>
        </p:nvPicPr>
        <p:blipFill>
          <a:blip r:embed="rId1"/>
          <a:stretch/>
        </p:blipFill>
        <p:spPr>
          <a:xfrm>
            <a:off x="647280" y="1051920"/>
            <a:ext cx="10310760" cy="5542920"/>
          </a:xfrm>
          <a:prstGeom prst="rect">
            <a:avLst/>
          </a:prstGeom>
          <a:ln w="0">
            <a:noFill/>
          </a:ln>
        </p:spPr>
      </p:pic>
      <p:sp>
        <p:nvSpPr>
          <p:cNvPr id="3" name="PlaceHolder 2"/>
          <p:cNvSpPr>
            <a:spLocks noGrp="1"/>
          </p:cNvSpPr>
          <p:nvPr>
            <p:ph type="sldNum" idx="2"/>
          </p:nvPr>
        </p:nvSpPr>
        <p:spPr/>
        <p:txBody>
          <a:bodyPr/>
          <a:p>
            <a:fld id="{A0FDAE21-67B4-4C1E-80C6-3DFD9B650E1A}"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609480" y="273600"/>
            <a:ext cx="10971000" cy="1143360"/>
          </a:xfrm>
          <a:prstGeom prst="rect">
            <a:avLst/>
          </a:prstGeom>
          <a:noFill/>
          <a:ln w="0">
            <a:noFill/>
          </a:ln>
        </p:spPr>
        <p:txBody>
          <a:bodyPr lIns="0" rIns="0" tIns="0" bIns="0" anchor="ctr">
            <a:noAutofit/>
          </a:bodyPr>
          <a:p>
            <a:pPr indent="0" algn="ctr">
              <a:lnSpc>
                <a:spcPct val="100000"/>
              </a:lnSpc>
              <a:buNone/>
              <a:tabLst>
                <a:tab algn="l" pos="0"/>
              </a:tabLst>
            </a:pPr>
            <a:r>
              <a:rPr b="0" lang="es-ES" sz="4400" spc="-1" strike="noStrike">
                <a:solidFill>
                  <a:srgbClr val="000000"/>
                </a:solidFill>
                <a:latin typeface="Arial"/>
              </a:rPr>
              <a:t>NSLOOKUP</a:t>
            </a:r>
            <a:endParaRPr b="0" lang="es-ES" sz="4400" spc="-1" strike="noStrike">
              <a:solidFill>
                <a:srgbClr val="000000"/>
              </a:solidFill>
              <a:latin typeface="Arial"/>
            </a:endParaRPr>
          </a:p>
        </p:txBody>
      </p:sp>
      <p:sp>
        <p:nvSpPr>
          <p:cNvPr id="293" name="PlaceHolder 2"/>
          <p:cNvSpPr>
            <a:spLocks noGrp="1"/>
          </p:cNvSpPr>
          <p:nvPr>
            <p:ph/>
          </p:nvPr>
        </p:nvSpPr>
        <p:spPr>
          <a:xfrm>
            <a:off x="609480" y="1604520"/>
            <a:ext cx="10971000" cy="3975840"/>
          </a:xfrm>
          <a:prstGeom prst="rect">
            <a:avLst/>
          </a:prstGeom>
          <a:noFill/>
          <a:ln w="0">
            <a:noFill/>
          </a:ln>
        </p:spPr>
        <p:txBody>
          <a:bodyPr lIns="0" rIns="0" tIns="0" bIns="0" anchor="t">
            <a:normAutofit fontScale="92000"/>
          </a:bodyPr>
          <a:p>
            <a:pPr marL="397440" indent="-29808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Accede al sitio:</a:t>
            </a:r>
            <a:endParaRPr b="0" lang="es-ES" sz="3200" spc="-1" strike="noStrike">
              <a:solidFill>
                <a:srgbClr val="000000"/>
              </a:solidFill>
              <a:latin typeface="Arial"/>
            </a:endParaRPr>
          </a:p>
          <a:p>
            <a:pPr marL="397440" indent="-298080">
              <a:lnSpc>
                <a:spcPct val="100000"/>
              </a:lnSpc>
              <a:spcBef>
                <a:spcPts val="1417"/>
              </a:spcBef>
              <a:buClr>
                <a:srgbClr val="000000"/>
              </a:buClr>
              <a:buSzPct val="45000"/>
              <a:buFont typeface="Wingdings" charset="2"/>
              <a:buChar char=""/>
            </a:pPr>
            <a:r>
              <a:rPr b="0" lang="es-ES" sz="3200" spc="-1" strike="noStrike" u="sng">
                <a:solidFill>
                  <a:srgbClr val="0563c1"/>
                </a:solidFill>
                <a:uFillTx/>
                <a:latin typeface="Arial"/>
                <a:hlinkClick r:id="rId1"/>
              </a:rPr>
              <a:t>https://www.nslookup.io</a:t>
            </a:r>
            <a:r>
              <a:rPr b="0" lang="es-ES" sz="3200" spc="-1" strike="noStrike">
                <a:solidFill>
                  <a:srgbClr val="000000"/>
                </a:solidFill>
                <a:latin typeface="Arial"/>
              </a:rPr>
              <a:t> </a:t>
            </a:r>
            <a:endParaRPr b="0" lang="es-ES" sz="3200" spc="-1" strike="noStrike">
              <a:solidFill>
                <a:srgbClr val="000000"/>
              </a:solidFill>
              <a:latin typeface="Arial"/>
            </a:endParaRPr>
          </a:p>
          <a:p>
            <a:pPr marL="397440" indent="-298080">
              <a:lnSpc>
                <a:spcPct val="100000"/>
              </a:lnSpc>
              <a:spcBef>
                <a:spcPts val="1417"/>
              </a:spcBef>
              <a:buClr>
                <a:srgbClr val="000000"/>
              </a:buClr>
              <a:buSzPct val="45000"/>
              <a:buFont typeface="Wingdings" charset="2"/>
              <a:buChar char=""/>
            </a:pPr>
            <a:r>
              <a:rPr b="0" lang="es-ES" sz="3200" spc="-1" strike="noStrike" u="sng">
                <a:solidFill>
                  <a:srgbClr val="0563c1"/>
                </a:solidFill>
                <a:uFillTx/>
                <a:latin typeface="Arial"/>
                <a:hlinkClick r:id="rId2"/>
              </a:rPr>
              <a:t>https://dnslookup.es</a:t>
            </a:r>
            <a:r>
              <a:rPr b="0" lang="es-ES" sz="3200" spc="-1" strike="noStrike">
                <a:solidFill>
                  <a:srgbClr val="000000"/>
                </a:solidFill>
                <a:latin typeface="Arial"/>
              </a:rPr>
              <a:t> </a:t>
            </a:r>
            <a:endParaRPr b="0" lang="es-ES" sz="3200" spc="-1" strike="noStrike">
              <a:solidFill>
                <a:srgbClr val="000000"/>
              </a:solidFill>
              <a:latin typeface="Arial"/>
            </a:endParaRPr>
          </a:p>
          <a:p>
            <a:pPr marL="397440" indent="-298080">
              <a:lnSpc>
                <a:spcPct val="100000"/>
              </a:lnSpc>
              <a:spcBef>
                <a:spcPts val="1417"/>
              </a:spcBef>
              <a:buClr>
                <a:srgbClr val="000000"/>
              </a:buClr>
              <a:buSzPct val="45000"/>
              <a:buFont typeface="Wingdings" charset="2"/>
              <a:buChar char=""/>
            </a:pPr>
            <a:r>
              <a:rPr b="0" lang="es-ES" sz="3200" spc="-1" strike="noStrike">
                <a:solidFill>
                  <a:srgbClr val="000000"/>
                </a:solidFill>
                <a:latin typeface="Arial"/>
              </a:rPr>
              <a:t>Busca la información del DNS de un dominio cualquiera, por ejemplo:</a:t>
            </a:r>
            <a:endParaRPr b="0" lang="es-ES" sz="3200" spc="-1" strike="noStrike">
              <a:solidFill>
                <a:srgbClr val="000000"/>
              </a:solidFill>
              <a:latin typeface="Arial"/>
            </a:endParaRPr>
          </a:p>
          <a:p>
            <a:pPr marL="397440" indent="-298080">
              <a:lnSpc>
                <a:spcPct val="100000"/>
              </a:lnSpc>
              <a:spcBef>
                <a:spcPts val="1417"/>
              </a:spcBef>
              <a:buClr>
                <a:srgbClr val="000000"/>
              </a:buClr>
              <a:buSzPct val="45000"/>
              <a:buFont typeface="Wingdings" charset="2"/>
              <a:buChar char=""/>
            </a:pPr>
            <a:r>
              <a:rPr b="0" lang="es-ES" sz="3200" spc="-1" strike="noStrike" u="sng">
                <a:solidFill>
                  <a:srgbClr val="0563c1"/>
                </a:solidFill>
                <a:uFillTx/>
                <a:latin typeface="Arial"/>
              </a:rPr>
              <a:t>Ifp.es</a:t>
            </a:r>
            <a:endParaRPr b="0" lang="es-ES" sz="3200" spc="-1" strike="noStrike">
              <a:solidFill>
                <a:srgbClr val="000000"/>
              </a:solidFill>
              <a:latin typeface="Arial"/>
            </a:endParaRPr>
          </a:p>
          <a:p>
            <a:pPr marL="397440" indent="-298080">
              <a:lnSpc>
                <a:spcPct val="100000"/>
              </a:lnSpc>
              <a:spcBef>
                <a:spcPts val="1417"/>
              </a:spcBef>
              <a:buClr>
                <a:srgbClr val="000000"/>
              </a:buClr>
              <a:buSzPct val="45000"/>
              <a:buFont typeface="Wingdings" charset="2"/>
              <a:buChar char=""/>
            </a:pPr>
            <a:r>
              <a:rPr b="0" lang="es-ES" sz="3200" spc="-1" strike="noStrike" u="sng">
                <a:solidFill>
                  <a:srgbClr val="0563c1"/>
                </a:solidFill>
                <a:uFillTx/>
                <a:latin typeface="Arial"/>
              </a:rPr>
              <a:t>Wikipedia.org</a:t>
            </a:r>
            <a:endParaRPr b="0" lang="es-ES" sz="3200" spc="-1" strike="noStrike">
              <a:solidFill>
                <a:srgbClr val="000000"/>
              </a:solidFill>
              <a:latin typeface="Arial"/>
            </a:endParaRPr>
          </a:p>
          <a:p>
            <a:pPr indent="0">
              <a:lnSpc>
                <a:spcPct val="100000"/>
              </a:lnSpc>
              <a:spcBef>
                <a:spcPts val="1417"/>
              </a:spcBef>
              <a:buNone/>
              <a:tabLst>
                <a:tab algn="l" pos="0"/>
              </a:tabLst>
            </a:pPr>
            <a:endParaRPr b="0" lang="es-ES" sz="3200" spc="-1" strike="noStrike">
              <a:solidFill>
                <a:srgbClr val="000000"/>
              </a:solidFill>
              <a:latin typeface="Arial"/>
            </a:endParaRPr>
          </a:p>
        </p:txBody>
      </p:sp>
      <p:sp>
        <p:nvSpPr>
          <p:cNvPr id="4" name="PlaceHolder 3"/>
          <p:cNvSpPr>
            <a:spLocks noGrp="1"/>
          </p:cNvSpPr>
          <p:nvPr>
            <p:ph type="sldNum" idx="4"/>
          </p:nvPr>
        </p:nvSpPr>
        <p:spPr/>
        <p:txBody>
          <a:bodyPr/>
          <a:p>
            <a:fld id="{429BCEE7-ABD4-4F32-B414-B7CF1CEB6682}"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Tipos de registros DNS</a:t>
            </a:r>
            <a:endParaRPr b="0" lang="es-ES" sz="3000" spc="-1" strike="noStrike">
              <a:solidFill>
                <a:srgbClr val="000000"/>
              </a:solidFill>
              <a:latin typeface="Arial"/>
            </a:endParaRPr>
          </a:p>
        </p:txBody>
      </p:sp>
      <p:sp>
        <p:nvSpPr>
          <p:cNvPr id="295" name="PlaceHolder 2"/>
          <p:cNvSpPr>
            <a:spLocks noGrp="1"/>
          </p:cNvSpPr>
          <p:nvPr>
            <p:ph/>
          </p:nvPr>
        </p:nvSpPr>
        <p:spPr>
          <a:xfrm>
            <a:off x="838080" y="1566360"/>
            <a:ext cx="9928440" cy="40647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r>
              <a:rPr b="0" lang="es-ES" sz="2000" spc="-1" strike="noStrike">
                <a:solidFill>
                  <a:srgbClr val="000000"/>
                </a:solidFill>
                <a:latin typeface="Calibri"/>
              </a:rPr>
              <a:t>Los registros DNS son diferentes cadenas de letras que se utilizan para indicar ciertas acciones al servidor DNS.</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Calibri"/>
              </a:rPr>
              <a:t>Algunos registros son:</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ff0000"/>
                </a:solidFill>
                <a:latin typeface="Calibri"/>
              </a:rPr>
              <a:t>A</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c9211e"/>
                </a:solidFill>
                <a:latin typeface="Calibri"/>
              </a:rPr>
              <a:t>AAAA</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ff0000"/>
                </a:solidFill>
                <a:latin typeface="Calibri"/>
              </a:rPr>
              <a:t>CNAME</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ff0000"/>
                </a:solidFill>
                <a:latin typeface="Calibri"/>
              </a:rPr>
              <a:t>NS</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ff0000"/>
                </a:solidFill>
                <a:latin typeface="Calibri"/>
              </a:rPr>
              <a:t>SOA</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ff0000"/>
                </a:solidFill>
                <a:latin typeface="Calibri"/>
              </a:rPr>
              <a:t>MX</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07CD0D24-771C-40C7-A37E-26AF3430187E}"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Registros DNS – </a:t>
            </a:r>
            <a:r>
              <a:rPr b="1" lang="es-ES" sz="3000" spc="-1" strike="noStrike">
                <a:solidFill>
                  <a:srgbClr val="c9211e"/>
                </a:solidFill>
                <a:latin typeface="Arial"/>
              </a:rPr>
              <a:t>A </a:t>
            </a:r>
            <a:r>
              <a:rPr b="1" lang="es-ES" sz="3000" spc="-1" strike="noStrike">
                <a:solidFill>
                  <a:srgbClr val="000000"/>
                </a:solidFill>
                <a:latin typeface="Arial"/>
              </a:rPr>
              <a:t>- </a:t>
            </a:r>
            <a:r>
              <a:rPr b="1" lang="es-ES" sz="3000" spc="-1" strike="noStrike">
                <a:solidFill>
                  <a:srgbClr val="c9211e"/>
                </a:solidFill>
                <a:latin typeface="Arial"/>
              </a:rPr>
              <a:t>AAAA</a:t>
            </a:r>
            <a:endParaRPr b="0" lang="es-ES" sz="3000" spc="-1" strike="noStrike">
              <a:solidFill>
                <a:srgbClr val="000000"/>
              </a:solidFill>
              <a:latin typeface="Arial"/>
            </a:endParaRPr>
          </a:p>
        </p:txBody>
      </p:sp>
      <p:sp>
        <p:nvSpPr>
          <p:cNvPr id="297" name="PlaceHolder 2"/>
          <p:cNvSpPr>
            <a:spLocks noGrp="1"/>
          </p:cNvSpPr>
          <p:nvPr>
            <p:ph/>
          </p:nvPr>
        </p:nvSpPr>
        <p:spPr>
          <a:xfrm>
            <a:off x="874080" y="1566360"/>
            <a:ext cx="9928440" cy="40647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ff0000"/>
                </a:solidFill>
                <a:latin typeface="Calibri"/>
              </a:rPr>
              <a:t>A</a:t>
            </a:r>
            <a:r>
              <a:rPr b="0" lang="es-ES" sz="2000" spc="-1" strike="noStrike">
                <a:solidFill>
                  <a:srgbClr val="000000"/>
                </a:solidFill>
                <a:latin typeface="Calibri"/>
              </a:rPr>
              <a:t>: </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000000"/>
                </a:solidFill>
                <a:latin typeface="Calibri"/>
              </a:rPr>
              <a:t>Hace referencia a la IPv4 de un servidor. </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000000"/>
                </a:solidFill>
                <a:latin typeface="Calibri"/>
              </a:rPr>
              <a:t>Devuelve una dirección IPv4 de 32 bits.</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c9211e"/>
                </a:solidFill>
                <a:latin typeface="Calibri"/>
              </a:rPr>
              <a:t>AAAA</a:t>
            </a:r>
            <a:r>
              <a:rPr b="0" lang="es-ES" sz="2000" spc="-1" strike="noStrike">
                <a:solidFill>
                  <a:srgbClr val="000000"/>
                </a:solidFill>
                <a:latin typeface="Calibri"/>
              </a:rPr>
              <a:t>: </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000000"/>
                </a:solidFill>
                <a:latin typeface="Calibri"/>
              </a:rPr>
              <a:t>Hace referencia a la IPv6 de un servidor.</a:t>
            </a:r>
            <a:endParaRPr b="0" lang="es-ES" sz="2000" spc="-1" strike="noStrike">
              <a:solidFill>
                <a:srgbClr val="000000"/>
              </a:solidFill>
              <a:latin typeface="Arial"/>
            </a:endParaRPr>
          </a:p>
          <a:p>
            <a:pPr marL="343080" indent="-343080">
              <a:lnSpc>
                <a:spcPct val="90000"/>
              </a:lnSpc>
              <a:spcBef>
                <a:spcPts val="1001"/>
              </a:spcBef>
              <a:buClr>
                <a:srgbClr val="ff0000"/>
              </a:buClr>
              <a:buFont typeface="Arial"/>
              <a:buChar char="•"/>
              <a:tabLst>
                <a:tab algn="l" pos="0"/>
              </a:tabLst>
            </a:pPr>
            <a:r>
              <a:rPr b="0" lang="es-ES" sz="2000" spc="-1" strike="noStrike">
                <a:solidFill>
                  <a:srgbClr val="000000"/>
                </a:solidFill>
                <a:latin typeface="Calibri"/>
              </a:rPr>
              <a:t>Devuelve una dirección IPv6 de 128 bits.</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E1C1A7BF-3F2D-444D-900E-574CBB733131}"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Registros DNS - </a:t>
            </a:r>
            <a:r>
              <a:rPr b="1" lang="es-ES" sz="3000" spc="-1" strike="noStrike">
                <a:solidFill>
                  <a:srgbClr val="c9211e"/>
                </a:solidFill>
                <a:latin typeface="Arial"/>
              </a:rPr>
              <a:t>CNAME</a:t>
            </a:r>
            <a:endParaRPr b="0" lang="es-ES" sz="3000" spc="-1" strike="noStrike">
              <a:solidFill>
                <a:srgbClr val="000000"/>
              </a:solidFill>
              <a:latin typeface="Arial"/>
            </a:endParaRPr>
          </a:p>
        </p:txBody>
      </p:sp>
      <p:sp>
        <p:nvSpPr>
          <p:cNvPr id="299" name="PlaceHolder 2"/>
          <p:cNvSpPr>
            <a:spLocks noGrp="1"/>
          </p:cNvSpPr>
          <p:nvPr>
            <p:ph/>
          </p:nvPr>
        </p:nvSpPr>
        <p:spPr>
          <a:xfrm rot="21594000">
            <a:off x="358560" y="900000"/>
            <a:ext cx="11518560" cy="55785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000000"/>
                </a:solidFill>
                <a:latin typeface="Calibri"/>
              </a:rPr>
              <a:t>Es un alias de un dominio. </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000000"/>
                </a:solidFill>
                <a:latin typeface="Calibri"/>
              </a:rPr>
              <a:t>Es un registro de "nombre canónico o verdadero" que apunta desde un dominio de alias a un dominio "canónico". </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000000"/>
                </a:solidFill>
                <a:latin typeface="Calibri"/>
              </a:rPr>
              <a:t>Se utilizan para asociar nuevos subdominios con dominios del registro A.</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000000"/>
                </a:solidFill>
                <a:latin typeface="Calibri"/>
              </a:rPr>
              <a:t>Se utiliza en lugar de un registro A, cuando un dominio o subdominio es un alias de otro dominio y siempre deben apuntar a un dominio, nunca a una dirección IP. </a:t>
            </a:r>
            <a:endParaRPr b="0" lang="es-ES" sz="1800" spc="-1" strike="noStrike">
              <a:solidFill>
                <a:srgbClr val="000000"/>
              </a:solidFill>
              <a:latin typeface="Arial"/>
            </a:endParaRPr>
          </a:p>
          <a:p>
            <a:pPr indent="0">
              <a:lnSpc>
                <a:spcPct val="90000"/>
              </a:lnSpc>
              <a:spcBef>
                <a:spcPts val="1001"/>
              </a:spcBef>
              <a:buNone/>
              <a:tabLst>
                <a:tab algn="l" pos="0"/>
              </a:tabLst>
            </a:pP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1" lang="es-ES" sz="1800" spc="-1" strike="noStrike">
                <a:solidFill>
                  <a:srgbClr val="000000"/>
                </a:solidFill>
                <a:latin typeface="Calibri"/>
              </a:rPr>
              <a:t>Ejemplo</a:t>
            </a:r>
            <a:r>
              <a:rPr b="0" lang="es-ES" sz="1800" spc="-1" strike="noStrike">
                <a:solidFill>
                  <a:srgbClr val="000000"/>
                </a:solidFill>
                <a:latin typeface="Calibri"/>
              </a:rPr>
              <a:t>: Imagina que buscas a un delincuente y cada pista apunta a otra pista y la pista final apunta al sujeto. Por tanto: un dominio que tiene registro CNAME es como una pista que te puede indicar otra pista (otro dominio con un registro CNAME) o hacia el delincuente (un dominio con un registro A).</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1" lang="es-ES" sz="1800" spc="-1" strike="noStrike">
                <a:solidFill>
                  <a:srgbClr val="000000"/>
                </a:solidFill>
                <a:latin typeface="Calibri"/>
              </a:rPr>
              <a:t>Ejemplo:</a:t>
            </a:r>
            <a:r>
              <a:rPr b="0" lang="es-ES" sz="1800" spc="-1" strike="noStrike">
                <a:solidFill>
                  <a:srgbClr val="000000"/>
                </a:solidFill>
                <a:latin typeface="Calibri"/>
              </a:rPr>
              <a:t> </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c9211e"/>
                </a:solidFill>
                <a:latin typeface="Calibri"/>
                <a:ea typeface="Noto Sans CJK SC"/>
              </a:rPr>
              <a:t>blog.smx.es</a:t>
            </a:r>
            <a:r>
              <a:rPr b="0" lang="es-ES" sz="1800" spc="-1" strike="noStrike">
                <a:solidFill>
                  <a:srgbClr val="000000"/>
                </a:solidFill>
                <a:latin typeface="Calibri"/>
                <a:ea typeface="Noto Sans CJK SC"/>
              </a:rPr>
              <a:t> tiene un registro CNAME con un valor de "</a:t>
            </a:r>
            <a:r>
              <a:rPr b="0" lang="es-ES" sz="1800" spc="-1" strike="noStrike">
                <a:solidFill>
                  <a:srgbClr val="c9211e"/>
                </a:solidFill>
                <a:latin typeface="Calibri"/>
                <a:ea typeface="Noto Sans CJK SC"/>
              </a:rPr>
              <a:t>smx.es</a:t>
            </a:r>
            <a:r>
              <a:rPr b="0" lang="es-ES" sz="1800" spc="-1" strike="noStrike">
                <a:solidFill>
                  <a:srgbClr val="000000"/>
                </a:solidFill>
                <a:latin typeface="Calibri"/>
                <a:ea typeface="Noto Sans CJK SC"/>
              </a:rPr>
              <a:t>". Cuando un servidor DNS accede a los registros DNS de </a:t>
            </a:r>
            <a:r>
              <a:rPr b="0" lang="es-ES" sz="1800" spc="-1" strike="noStrike">
                <a:solidFill>
                  <a:srgbClr val="c9211e"/>
                </a:solidFill>
                <a:latin typeface="Calibri"/>
                <a:ea typeface="Noto Sans CJK SC"/>
              </a:rPr>
              <a:t>blog.smx.es</a:t>
            </a:r>
            <a:r>
              <a:rPr b="0" lang="es-ES" sz="1800" spc="-1" strike="noStrike">
                <a:solidFill>
                  <a:srgbClr val="000000"/>
                </a:solidFill>
                <a:latin typeface="Calibri"/>
                <a:ea typeface="Noto Sans CJK SC"/>
              </a:rPr>
              <a:t>, en realidad activa una búsqueda de DNS en </a:t>
            </a:r>
            <a:r>
              <a:rPr b="0" lang="es-ES" sz="1800" spc="-1" strike="noStrike">
                <a:solidFill>
                  <a:srgbClr val="c9211e"/>
                </a:solidFill>
                <a:latin typeface="Calibri"/>
                <a:ea typeface="Noto Sans CJK SC"/>
              </a:rPr>
              <a:t>smx.es</a:t>
            </a:r>
            <a:r>
              <a:rPr b="0" lang="es-ES" sz="1800" spc="-1" strike="noStrike">
                <a:solidFill>
                  <a:srgbClr val="000000"/>
                </a:solidFill>
                <a:latin typeface="Calibri"/>
                <a:ea typeface="Noto Sans CJK SC"/>
              </a:rPr>
              <a:t>, devolviendo la dirección IP de </a:t>
            </a:r>
            <a:r>
              <a:rPr b="0" lang="es-ES" sz="1800" spc="-1" strike="noStrike">
                <a:solidFill>
                  <a:srgbClr val="c9211e"/>
                </a:solidFill>
                <a:latin typeface="Calibri"/>
                <a:ea typeface="Noto Sans CJK SC"/>
              </a:rPr>
              <a:t>smx.es</a:t>
            </a:r>
            <a:r>
              <a:rPr b="0" lang="es-ES" sz="1800" spc="-1" strike="noStrike">
                <a:solidFill>
                  <a:srgbClr val="000000"/>
                </a:solidFill>
                <a:latin typeface="Calibri"/>
                <a:ea typeface="Noto Sans CJK SC"/>
              </a:rPr>
              <a:t> a través de su registro A. </a:t>
            </a:r>
            <a:endParaRPr b="0" lang="es-ES" sz="18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1800" spc="-1" strike="noStrike">
                <a:solidFill>
                  <a:srgbClr val="000000"/>
                </a:solidFill>
                <a:latin typeface="Calibri"/>
                <a:ea typeface="Noto Sans CJK SC"/>
              </a:rPr>
              <a:t>Podemos decir que </a:t>
            </a:r>
            <a:r>
              <a:rPr b="0" lang="es-ES" sz="1800" spc="-1" strike="noStrike">
                <a:solidFill>
                  <a:srgbClr val="c9211e"/>
                </a:solidFill>
                <a:latin typeface="Calibri"/>
                <a:ea typeface="Noto Sans CJK SC"/>
              </a:rPr>
              <a:t>smx.es</a:t>
            </a:r>
            <a:r>
              <a:rPr b="0" lang="es-ES" sz="1800" spc="-1" strike="noStrike">
                <a:solidFill>
                  <a:srgbClr val="000000"/>
                </a:solidFill>
                <a:latin typeface="Calibri"/>
                <a:ea typeface="Noto Sans CJK SC"/>
              </a:rPr>
              <a:t> es el nombre canónico o nombre verdadero de </a:t>
            </a:r>
            <a:r>
              <a:rPr b="0" lang="es-ES" sz="1800" spc="-1" strike="noStrike">
                <a:solidFill>
                  <a:srgbClr val="c9211e"/>
                </a:solidFill>
                <a:latin typeface="Calibri"/>
                <a:ea typeface="Noto Sans CJK SC"/>
              </a:rPr>
              <a:t>blog.smx.es</a:t>
            </a:r>
            <a:r>
              <a:rPr b="0" lang="es-ES" sz="1800" spc="-1" strike="noStrike">
                <a:solidFill>
                  <a:srgbClr val="000000"/>
                </a:solidFill>
                <a:latin typeface="Calibri"/>
                <a:ea typeface="Noto Sans CJK SC"/>
              </a:rPr>
              <a:t>.</a:t>
            </a:r>
            <a:endParaRPr b="0" lang="es-ES" sz="1800" spc="-1" strike="noStrike">
              <a:solidFill>
                <a:srgbClr val="000000"/>
              </a:solidFill>
              <a:latin typeface="Arial"/>
            </a:endParaRPr>
          </a:p>
          <a:p>
            <a:pPr indent="0">
              <a:lnSpc>
                <a:spcPct val="90000"/>
              </a:lnSpc>
              <a:spcBef>
                <a:spcPts val="1001"/>
              </a:spcBef>
              <a:buNone/>
              <a:tabLst>
                <a:tab algn="l" pos="0"/>
              </a:tabLst>
            </a:pPr>
            <a:endParaRPr b="0" lang="es-ES" sz="1800" spc="-1" strike="noStrike">
              <a:solidFill>
                <a:srgbClr val="000000"/>
              </a:solidFill>
              <a:latin typeface="Arial"/>
            </a:endParaRPr>
          </a:p>
          <a:p>
            <a:pPr indent="0">
              <a:lnSpc>
                <a:spcPct val="90000"/>
              </a:lnSpc>
              <a:spcBef>
                <a:spcPts val="1001"/>
              </a:spcBef>
              <a:buNone/>
              <a:tabLst>
                <a:tab algn="l" pos="0"/>
              </a:tabLst>
            </a:pPr>
            <a:endParaRPr b="0" lang="es-ES" sz="1800" spc="-1" strike="noStrike">
              <a:solidFill>
                <a:srgbClr val="000000"/>
              </a:solidFill>
              <a:latin typeface="Arial"/>
            </a:endParaRPr>
          </a:p>
        </p:txBody>
      </p:sp>
      <p:sp>
        <p:nvSpPr>
          <p:cNvPr id="4" name="PlaceHolder 3"/>
          <p:cNvSpPr>
            <a:spLocks noGrp="1"/>
          </p:cNvSpPr>
          <p:nvPr>
            <p:ph type="sldNum" idx="2"/>
          </p:nvPr>
        </p:nvSpPr>
        <p:spPr/>
        <p:txBody>
          <a:bodyPr/>
          <a:p>
            <a:fld id="{A03F7009-7C1E-43E8-801B-5AA5A70C0A64}"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Registros DNS - </a:t>
            </a:r>
            <a:r>
              <a:rPr b="1" lang="es-ES" sz="3000" spc="-1" strike="noStrike">
                <a:solidFill>
                  <a:srgbClr val="c9211e"/>
                </a:solidFill>
                <a:latin typeface="Arial"/>
              </a:rPr>
              <a:t>MX</a:t>
            </a:r>
            <a:endParaRPr b="0" lang="es-ES" sz="3000" spc="-1" strike="noStrike">
              <a:solidFill>
                <a:srgbClr val="000000"/>
              </a:solidFill>
              <a:latin typeface="Arial"/>
            </a:endParaRPr>
          </a:p>
        </p:txBody>
      </p:sp>
      <p:sp>
        <p:nvSpPr>
          <p:cNvPr id="301" name="PlaceHolder 2"/>
          <p:cNvSpPr>
            <a:spLocks noGrp="1"/>
          </p:cNvSpPr>
          <p:nvPr>
            <p:ph/>
          </p:nvPr>
        </p:nvSpPr>
        <p:spPr>
          <a:xfrm>
            <a:off x="838080" y="1566360"/>
            <a:ext cx="9928440" cy="40647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Hace referencia a una lista de servidor de intercambio de correo que se debe utilizar para el dominio. </a:t>
            </a:r>
            <a:br>
              <a:rPr sz="2000"/>
            </a:br>
            <a:r>
              <a:rPr b="0" lang="es-ES" sz="2000" spc="-1" strike="noStrike">
                <a:solidFill>
                  <a:srgbClr val="000000"/>
                </a:solidFill>
                <a:latin typeface="Calibri"/>
              </a:rPr>
              <a:t>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Especifica los servidores de correo responsables de aceptar los mensajes de correo electrónico enviados a un nombre de dominio. </a:t>
            </a:r>
            <a:br>
              <a:rPr sz="2000"/>
            </a:br>
            <a:r>
              <a:rPr b="0" lang="es-ES" sz="2000" spc="-1" strike="noStrike">
                <a:solidFill>
                  <a:srgbClr val="000000"/>
                </a:solidFill>
                <a:latin typeface="Calibri"/>
              </a:rPr>
              <a:t>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Este tipo de registro es necesario si desea recibir correo electrónico a través de su dominio y apunta a un registro A o AAAA que identifica una o más direcciones IP en las que se alojan su(s) servidor(es) de correo.</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Mapean un nombre de dominio a una lista de agentes de transferencia del mensaje para ese dominio.</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90CA0A6A-486A-4D11-ACEC-C189049A9D72}"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Registros DNS - </a:t>
            </a:r>
            <a:r>
              <a:rPr b="1" lang="es-ES" sz="3000" spc="-1" strike="noStrike">
                <a:solidFill>
                  <a:srgbClr val="c9211e"/>
                </a:solidFill>
                <a:latin typeface="Arial"/>
              </a:rPr>
              <a:t>SOA</a:t>
            </a:r>
            <a:endParaRPr b="0" lang="es-ES" sz="3000" spc="-1" strike="noStrike">
              <a:solidFill>
                <a:srgbClr val="000000"/>
              </a:solidFill>
              <a:latin typeface="Arial"/>
            </a:endParaRPr>
          </a:p>
        </p:txBody>
      </p:sp>
      <p:sp>
        <p:nvSpPr>
          <p:cNvPr id="303" name="PlaceHolder 2"/>
          <p:cNvSpPr>
            <a:spLocks noGrp="1"/>
          </p:cNvSpPr>
          <p:nvPr>
            <p:ph/>
          </p:nvPr>
        </p:nvSpPr>
        <p:spPr>
          <a:xfrm>
            <a:off x="838080" y="1566360"/>
            <a:ext cx="9928440" cy="40647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Inicio de registro de una zona de autoridad</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Todos los dominios utilizan los registros de inicio de autoridad para especificar su </a:t>
            </a:r>
            <a:r>
              <a:rPr b="1" lang="es-ES" sz="2000" spc="-1" strike="noStrike">
                <a:solidFill>
                  <a:srgbClr val="000000"/>
                </a:solidFill>
                <a:latin typeface="Calibri"/>
              </a:rPr>
              <a:t>servidor</a:t>
            </a:r>
            <a:r>
              <a:rPr b="0" lang="es-ES" sz="2000" spc="-1" strike="noStrike">
                <a:solidFill>
                  <a:srgbClr val="000000"/>
                </a:solidFill>
                <a:latin typeface="Calibri"/>
              </a:rPr>
              <a:t> de nombres </a:t>
            </a:r>
            <a:r>
              <a:rPr b="1" lang="es-ES" sz="2000" spc="-1" strike="noStrike">
                <a:solidFill>
                  <a:srgbClr val="000000"/>
                </a:solidFill>
                <a:latin typeface="Calibri"/>
              </a:rPr>
              <a:t>primario</a:t>
            </a:r>
            <a:r>
              <a:rPr b="0" lang="es-ES" sz="2000" spc="-1" strike="noStrike">
                <a:solidFill>
                  <a:srgbClr val="000000"/>
                </a:solidFill>
                <a:latin typeface="Calibri"/>
              </a:rPr>
              <a:t>, que es la fuente autorizada de información sobre la zona y responsable del funcionamiento general del dominio.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Incluye la dirección de </a:t>
            </a:r>
            <a:r>
              <a:rPr b="1" lang="es-ES" sz="2000" spc="-1" strike="noStrike">
                <a:solidFill>
                  <a:srgbClr val="000000"/>
                </a:solidFill>
                <a:latin typeface="Calibri"/>
              </a:rPr>
              <a:t>correo electrónico </a:t>
            </a:r>
            <a:r>
              <a:rPr b="0" lang="es-ES" sz="2000" spc="-1" strike="noStrike">
                <a:solidFill>
                  <a:srgbClr val="000000"/>
                </a:solidFill>
                <a:latin typeface="Calibri"/>
              </a:rPr>
              <a:t>y la información de </a:t>
            </a:r>
            <a:r>
              <a:rPr b="1" lang="es-ES" sz="2000" spc="-1" strike="noStrike">
                <a:solidFill>
                  <a:srgbClr val="000000"/>
                </a:solidFill>
                <a:latin typeface="Calibri"/>
              </a:rPr>
              <a:t>contacto </a:t>
            </a:r>
            <a:r>
              <a:rPr b="0" lang="es-ES" sz="2000" spc="-1" strike="noStrike">
                <a:solidFill>
                  <a:srgbClr val="000000"/>
                </a:solidFill>
                <a:latin typeface="Calibri"/>
              </a:rPr>
              <a:t>del webmaster.</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Especifica información autoritaria sobre un DNS zona dado que incluye: </a:t>
            </a:r>
            <a:endParaRPr b="0" lang="es-ES" sz="2000" spc="-1" strike="noStrike">
              <a:solidFill>
                <a:srgbClr val="000000"/>
              </a:solidFill>
              <a:latin typeface="Arial"/>
            </a:endParaRPr>
          </a:p>
          <a:p>
            <a:pPr lvl="1" marL="432000" indent="-216000">
              <a:lnSpc>
                <a:spcPct val="90000"/>
              </a:lnSpc>
              <a:spcBef>
                <a:spcPts val="1134"/>
              </a:spcBef>
              <a:buClr>
                <a:srgbClr val="000000"/>
              </a:buClr>
              <a:buSzPct val="45000"/>
              <a:buFont typeface="Wingdings" charset="2"/>
              <a:buChar char=""/>
              <a:tabLst>
                <a:tab algn="l" pos="0"/>
              </a:tabLst>
            </a:pPr>
            <a:r>
              <a:rPr b="0" lang="es-ES" sz="2000" spc="-1" strike="noStrike">
                <a:solidFill>
                  <a:srgbClr val="000000"/>
                </a:solidFill>
                <a:latin typeface="Calibri"/>
              </a:rPr>
              <a:t>el servidor de nombre primario</a:t>
            </a:r>
            <a:endParaRPr b="0" lang="es-ES" sz="2000" spc="-1" strike="noStrike">
              <a:solidFill>
                <a:srgbClr val="000000"/>
              </a:solidFill>
              <a:latin typeface="Arial"/>
            </a:endParaRPr>
          </a:p>
          <a:p>
            <a:pPr lvl="1" marL="432000" indent="-216000">
              <a:lnSpc>
                <a:spcPct val="90000"/>
              </a:lnSpc>
              <a:spcBef>
                <a:spcPts val="1134"/>
              </a:spcBef>
              <a:buClr>
                <a:srgbClr val="000000"/>
              </a:buClr>
              <a:buSzPct val="45000"/>
              <a:buFont typeface="Wingdings" charset="2"/>
              <a:buChar char=""/>
              <a:tabLst>
                <a:tab algn="l" pos="0"/>
              </a:tabLst>
            </a:pPr>
            <a:r>
              <a:rPr b="0" lang="es-ES" sz="2000" spc="-1" strike="noStrike">
                <a:solidFill>
                  <a:srgbClr val="000000"/>
                </a:solidFill>
                <a:latin typeface="Calibri"/>
              </a:rPr>
              <a:t>el correo electrónico del administrador de ámbito</a:t>
            </a:r>
            <a:endParaRPr b="0" lang="es-ES" sz="2000" spc="-1" strike="noStrike">
              <a:solidFill>
                <a:srgbClr val="000000"/>
              </a:solidFill>
              <a:latin typeface="Arial"/>
            </a:endParaRPr>
          </a:p>
          <a:p>
            <a:pPr lvl="1" marL="432000" indent="-216000">
              <a:lnSpc>
                <a:spcPct val="90000"/>
              </a:lnSpc>
              <a:spcBef>
                <a:spcPts val="1134"/>
              </a:spcBef>
              <a:buClr>
                <a:srgbClr val="000000"/>
              </a:buClr>
              <a:buSzPct val="45000"/>
              <a:buFont typeface="Wingdings" charset="2"/>
              <a:buChar char=""/>
              <a:tabLst>
                <a:tab algn="l" pos="0"/>
              </a:tabLst>
            </a:pPr>
            <a:r>
              <a:rPr b="0" lang="es-ES" sz="2000" spc="-1" strike="noStrike">
                <a:solidFill>
                  <a:srgbClr val="000000"/>
                </a:solidFill>
                <a:latin typeface="Calibri"/>
              </a:rPr>
              <a:t>el número de serial del ámbito</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6A9D8E58-0736-45A2-9C39-2E271A75BFCB}"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Registros DNS - </a:t>
            </a:r>
            <a:r>
              <a:rPr b="1" lang="es-ES" sz="3000" spc="-1" strike="noStrike">
                <a:solidFill>
                  <a:srgbClr val="c9211e"/>
                </a:solidFill>
                <a:latin typeface="Arial"/>
              </a:rPr>
              <a:t>NS</a:t>
            </a:r>
            <a:endParaRPr b="0" lang="es-ES" sz="3000" spc="-1" strike="noStrike">
              <a:solidFill>
                <a:srgbClr val="000000"/>
              </a:solidFill>
              <a:latin typeface="Arial"/>
            </a:endParaRPr>
          </a:p>
        </p:txBody>
      </p:sp>
      <p:sp>
        <p:nvSpPr>
          <p:cNvPr id="305" name="PlaceHolder 2"/>
          <p:cNvSpPr>
            <a:spLocks noGrp="1"/>
          </p:cNvSpPr>
          <p:nvPr>
            <p:ph/>
          </p:nvPr>
        </p:nvSpPr>
        <p:spPr>
          <a:xfrm>
            <a:off x="838080" y="1566360"/>
            <a:ext cx="9928440" cy="4064760"/>
          </a:xfrm>
          <a:prstGeom prst="rect">
            <a:avLst/>
          </a:prstGeom>
          <a:solidFill>
            <a:srgbClr val="ffffff"/>
          </a:solidFill>
          <a:ln w="0">
            <a:noFill/>
          </a:ln>
        </p:spPr>
        <p:txBody>
          <a:bodyPr lIns="90000" rIns="90000" tIns="45000" bIns="45000" anchor="t">
            <a:noAutofit/>
          </a:bodyPr>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Identifica los servidores de nombres de un nombre de dominio.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Tiene que estar en el archivo de zona cuando se añade un nuevo dominio a la cuenta.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Tiene que estar bien configurado antes de crear cualquier otro registro para ese dominio. </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Indican a los usuarios qué servidores de nombres se utilizan para resolver los nombres de dominio.</a:t>
            </a:r>
            <a:endParaRPr b="0" lang="es-ES" sz="2000" spc="-1" strike="noStrike">
              <a:solidFill>
                <a:srgbClr val="000000"/>
              </a:solidFill>
              <a:latin typeface="Arial"/>
            </a:endParaRPr>
          </a:p>
          <a:p>
            <a:pPr marL="216000" indent="-216000">
              <a:lnSpc>
                <a:spcPct val="90000"/>
              </a:lnSpc>
              <a:spcBef>
                <a:spcPts val="1001"/>
              </a:spcBef>
              <a:buClr>
                <a:srgbClr val="000000"/>
              </a:buClr>
              <a:buSzPct val="45000"/>
              <a:buFont typeface="Wingdings" charset="2"/>
              <a:buChar char=""/>
              <a:tabLst>
                <a:tab algn="l" pos="0"/>
              </a:tabLst>
            </a:pPr>
            <a:r>
              <a:rPr b="0" lang="es-ES" sz="2000" spc="-1" strike="noStrike">
                <a:solidFill>
                  <a:srgbClr val="000000"/>
                </a:solidFill>
                <a:latin typeface="Calibri"/>
              </a:rPr>
              <a:t>Delega un DNS zona para utilizar los servidores de nombre autoritarios dados.</a:t>
            </a: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a:p>
            <a:pPr indent="0">
              <a:lnSpc>
                <a:spcPct val="90000"/>
              </a:lnSpc>
              <a:spcBef>
                <a:spcPts val="1001"/>
              </a:spcBef>
              <a:buNone/>
              <a:tabLst>
                <a:tab algn="l" pos="0"/>
              </a:tabLst>
            </a:pP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8F3CE6C9-9F47-47B9-BF69-4DE0F2FE6605}"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Registro de recurso – Resource Record - RR</a:t>
            </a:r>
            <a:endParaRPr b="0" lang="es-ES" sz="3000" spc="-1" strike="noStrike">
              <a:solidFill>
                <a:srgbClr val="000000"/>
              </a:solidFill>
              <a:latin typeface="Arial"/>
            </a:endParaRPr>
          </a:p>
        </p:txBody>
      </p:sp>
      <p:sp>
        <p:nvSpPr>
          <p:cNvPr id="307" name=""/>
          <p:cNvSpPr/>
          <p:nvPr/>
        </p:nvSpPr>
        <p:spPr>
          <a:xfrm>
            <a:off x="930600" y="2329200"/>
            <a:ext cx="10351440" cy="29638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340"/>
              </a:spcBef>
              <a:spcAft>
                <a:spcPts val="142"/>
              </a:spcAft>
              <a:buClr>
                <a:srgbClr val="000000"/>
              </a:buClr>
              <a:buSzPct val="45000"/>
              <a:buFont typeface="Wingdings" charset="2"/>
              <a:buChar char=""/>
            </a:pPr>
            <a:r>
              <a:rPr b="0" lang="es-ES" sz="1600" spc="-1" strike="noStrike">
                <a:solidFill>
                  <a:srgbClr val="000000"/>
                </a:solidFill>
                <a:latin typeface="Arial"/>
              </a:rPr>
              <a:t> </a:t>
            </a:r>
            <a:r>
              <a:rPr b="0" lang="es-ES" sz="1600" spc="-1" strike="noStrike">
                <a:solidFill>
                  <a:srgbClr val="000000"/>
                </a:solidFill>
                <a:latin typeface="Arial"/>
              </a:rPr>
              <a:t>La unidad básica de información que almacena el sistema DNS en sus bases de datos. </a:t>
            </a:r>
            <a:endParaRPr b="0" lang="es-ES" sz="1600" spc="-1" strike="noStrike">
              <a:solidFill>
                <a:srgbClr val="000000"/>
              </a:solidFill>
              <a:latin typeface="Arial"/>
            </a:endParaRPr>
          </a:p>
          <a:p>
            <a:pPr marL="216000" indent="-216000">
              <a:lnSpc>
                <a:spcPct val="100000"/>
              </a:lnSpc>
              <a:spcBef>
                <a:spcPts val="340"/>
              </a:spcBef>
              <a:spcAft>
                <a:spcPts val="142"/>
              </a:spcAft>
              <a:buClr>
                <a:srgbClr val="000000"/>
              </a:buClr>
              <a:buSzPct val="45000"/>
              <a:buFont typeface="Wingdings" charset="2"/>
              <a:buChar char=""/>
            </a:pPr>
            <a:r>
              <a:rPr b="0" lang="es-ES" sz="1600" spc="-1" strike="noStrike">
                <a:solidFill>
                  <a:srgbClr val="000000"/>
                </a:solidFill>
                <a:latin typeface="Arial"/>
              </a:rPr>
              <a:t>Cada RR contiene datos asociados a un nombre de dominio.</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Arial"/>
              </a:rPr>
              <a:t>Estructura general:</a:t>
            </a:r>
            <a:endParaRPr b="0" lang="es-ES" sz="1600" spc="-1" strike="noStrike">
              <a:solidFill>
                <a:srgbClr val="000000"/>
              </a:solidFill>
              <a:latin typeface="Arial"/>
            </a:endParaRPr>
          </a:p>
          <a:p>
            <a:pPr>
              <a:lnSpc>
                <a:spcPct val="100000"/>
              </a:lnSpc>
            </a:pPr>
            <a:r>
              <a:rPr b="0" lang="es-ES" sz="1600" spc="-1" strike="noStrike">
                <a:solidFill>
                  <a:srgbClr val="000000"/>
                </a:solidFill>
                <a:latin typeface="Liberation Mono;Courier New;DejaVu Sans Mono"/>
              </a:rPr>
              <a:t>&lt;</a:t>
            </a:r>
            <a:r>
              <a:rPr b="0" lang="es-ES" sz="1600" spc="-1" strike="noStrike">
                <a:solidFill>
                  <a:srgbClr val="c9211e"/>
                </a:solidFill>
                <a:latin typeface="Liberation Mono;Courier New;DejaVu Sans Mono"/>
              </a:rPr>
              <a:t>NAME</a:t>
            </a:r>
            <a:r>
              <a:rPr b="0" lang="es-ES" sz="1600" spc="-1" strike="noStrike">
                <a:solidFill>
                  <a:srgbClr val="000000"/>
                </a:solidFill>
                <a:latin typeface="Liberation Mono;Courier New;DejaVu Sans Mono"/>
              </a:rPr>
              <a:t>&gt;   &lt;</a:t>
            </a:r>
            <a:r>
              <a:rPr b="0" lang="es-ES" sz="1600" spc="-1" strike="noStrike">
                <a:solidFill>
                  <a:srgbClr val="0000ff"/>
                </a:solidFill>
                <a:latin typeface="Liberation Mono;Courier New;DejaVu Sans Mono"/>
              </a:rPr>
              <a:t>TTL</a:t>
            </a:r>
            <a:r>
              <a:rPr b="0" lang="es-ES" sz="1600" spc="-1" strike="noStrike">
                <a:solidFill>
                  <a:srgbClr val="000000"/>
                </a:solidFill>
                <a:latin typeface="Liberation Mono;Courier New;DejaVu Sans Mono"/>
              </a:rPr>
              <a:t>&gt;   &lt;</a:t>
            </a:r>
            <a:r>
              <a:rPr b="0" lang="es-ES" sz="1600" spc="-1" strike="noStrike">
                <a:solidFill>
                  <a:srgbClr val="2e8b57"/>
                </a:solidFill>
                <a:latin typeface="Liberation Mono;Courier New;DejaVu Sans Mono"/>
              </a:rPr>
              <a:t>CLASS</a:t>
            </a:r>
            <a:r>
              <a:rPr b="0" lang="es-ES" sz="1600" spc="-1" strike="noStrike">
                <a:solidFill>
                  <a:srgbClr val="000000"/>
                </a:solidFill>
                <a:latin typeface="Liberation Mono;Courier New;DejaVu Sans Mono"/>
              </a:rPr>
              <a:t>&gt;   &lt;</a:t>
            </a:r>
            <a:r>
              <a:rPr b="0" lang="es-ES" sz="1600" spc="-1" strike="noStrike">
                <a:solidFill>
                  <a:srgbClr val="c71585"/>
                </a:solidFill>
                <a:latin typeface="Liberation Mono;Courier New;DejaVu Sans Mono"/>
              </a:rPr>
              <a:t>TYPE</a:t>
            </a:r>
            <a:r>
              <a:rPr b="0" lang="es-ES" sz="1600" spc="-1" strike="noStrike">
                <a:solidFill>
                  <a:srgbClr val="000000"/>
                </a:solidFill>
                <a:latin typeface="Liberation Mono;Courier New;DejaVu Sans Mono"/>
              </a:rPr>
              <a:t>&gt;   &lt;</a:t>
            </a:r>
            <a:r>
              <a:rPr b="0" lang="es-ES" sz="1600" spc="-1" strike="noStrike">
                <a:solidFill>
                  <a:srgbClr val="1e90ff"/>
                </a:solidFill>
                <a:latin typeface="Liberation Mono;Courier New;DejaVu Sans Mono"/>
              </a:rPr>
              <a:t>RDATA</a:t>
            </a:r>
            <a:r>
              <a:rPr b="0" lang="es-ES" sz="1600" spc="-1" strike="noStrike">
                <a:solidFill>
                  <a:srgbClr val="000000"/>
                </a:solidFill>
                <a:latin typeface="Liberation Mono;Courier New;DejaVu Sans Mono"/>
              </a:rPr>
              <a:t>&gt;</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a:p>
            <a:pPr>
              <a:lnSpc>
                <a:spcPct val="100000"/>
              </a:lnSpc>
            </a:pPr>
            <a:r>
              <a:rPr b="0" lang="es-ES" sz="1600" spc="-1" strike="noStrike">
                <a:solidFill>
                  <a:srgbClr val="c9211e"/>
                </a:solidFill>
                <a:latin typeface="Liberation Mono;Courier New;DejaVu Sans Mono"/>
                <a:ea typeface="Liberation Mono;Courier New;DejaVu Sans Mono"/>
              </a:rPr>
              <a:t>NAME</a:t>
            </a:r>
            <a:r>
              <a:rPr b="0" lang="es-ES" sz="1600" spc="-1" strike="noStrike">
                <a:solidFill>
                  <a:srgbClr val="000000"/>
                </a:solidFill>
                <a:latin typeface="Liberation Mono;Courier New;DejaVu Sans Mono"/>
                <a:ea typeface="Liberation Mono;Courier New;DejaVu Sans Mono"/>
              </a:rPr>
              <a:t> - Nombre de dominio al que pertenece el registro, por ej: www.kirby.com.</a:t>
            </a:r>
            <a:endParaRPr b="0" lang="es-ES" sz="1600" spc="-1" strike="noStrike">
              <a:solidFill>
                <a:srgbClr val="000000"/>
              </a:solidFill>
              <a:latin typeface="Arial"/>
            </a:endParaRPr>
          </a:p>
          <a:p>
            <a:pPr>
              <a:lnSpc>
                <a:spcPct val="100000"/>
              </a:lnSpc>
            </a:pPr>
            <a:r>
              <a:rPr b="0" lang="es-ES" sz="1600" spc="-1" strike="noStrike">
                <a:solidFill>
                  <a:srgbClr val="0000ff"/>
                </a:solidFill>
                <a:latin typeface="Liberation Mono;Courier New;DejaVu Sans Mono"/>
                <a:ea typeface="Liberation Mono;Courier New;DejaVu Sans Mono"/>
              </a:rPr>
              <a:t>TTL</a:t>
            </a:r>
            <a:r>
              <a:rPr b="0" lang="es-ES" sz="1600" spc="-1" strike="noStrike">
                <a:solidFill>
                  <a:srgbClr val="000000"/>
                </a:solidFill>
                <a:latin typeface="Liberation Mono;Courier New;DejaVu Sans Mono"/>
                <a:ea typeface="Liberation Mono;Courier New;DejaVu Sans Mono"/>
              </a:rPr>
              <a:t> - tiempo de vida en la caché (en segundos)</a:t>
            </a:r>
            <a:endParaRPr b="0" lang="es-ES" sz="1600" spc="-1" strike="noStrike">
              <a:solidFill>
                <a:srgbClr val="000000"/>
              </a:solidFill>
              <a:latin typeface="Arial"/>
            </a:endParaRPr>
          </a:p>
          <a:p>
            <a:pPr>
              <a:lnSpc>
                <a:spcPct val="100000"/>
              </a:lnSpc>
            </a:pPr>
            <a:r>
              <a:rPr b="0" lang="es-ES" sz="1600" spc="-1" strike="noStrike">
                <a:solidFill>
                  <a:srgbClr val="2e8b57"/>
                </a:solidFill>
                <a:latin typeface="Liberation Mono;Courier New;DejaVu Sans Mono"/>
                <a:ea typeface="Liberation Mono;Courier New;DejaVu Sans Mono"/>
              </a:rPr>
              <a:t>CLASS</a:t>
            </a:r>
            <a:r>
              <a:rPr b="0" lang="es-ES" sz="1600" spc="-1" strike="noStrike">
                <a:solidFill>
                  <a:srgbClr val="000000"/>
                </a:solidFill>
                <a:latin typeface="Liberation Mono;Courier New;DejaVu Sans Mono"/>
                <a:ea typeface="Liberation Mono;Courier New;DejaVu Sans Mono"/>
              </a:rPr>
              <a:t> - casi siempre IN (Internet)</a:t>
            </a:r>
            <a:endParaRPr b="0" lang="es-ES" sz="1600" spc="-1" strike="noStrike">
              <a:solidFill>
                <a:srgbClr val="000000"/>
              </a:solidFill>
              <a:latin typeface="Arial"/>
            </a:endParaRPr>
          </a:p>
          <a:p>
            <a:pPr>
              <a:lnSpc>
                <a:spcPct val="100000"/>
              </a:lnSpc>
            </a:pPr>
            <a:r>
              <a:rPr b="0" lang="es-ES" sz="1600" spc="-1" strike="noStrike">
                <a:solidFill>
                  <a:srgbClr val="c71585"/>
                </a:solidFill>
                <a:latin typeface="Liberation Mono;Courier New;DejaVu Sans Mono"/>
                <a:ea typeface="Liberation Mono;Courier New;DejaVu Sans Mono"/>
              </a:rPr>
              <a:t>TYPE</a:t>
            </a:r>
            <a:r>
              <a:rPr b="0" lang="es-ES" sz="1600" spc="-1" strike="noStrike">
                <a:solidFill>
                  <a:srgbClr val="000000"/>
                </a:solidFill>
                <a:latin typeface="Liberation Mono;Courier New;DejaVu Sans Mono"/>
                <a:ea typeface="Liberation Mono;Courier New;DejaVu Sans Mono"/>
              </a:rPr>
              <a:t> - tipo de registro (ej: A, AAAA, MX, CNAME…)</a:t>
            </a:r>
            <a:endParaRPr b="0" lang="es-ES" sz="1600" spc="-1" strike="noStrike">
              <a:solidFill>
                <a:srgbClr val="000000"/>
              </a:solidFill>
              <a:latin typeface="Arial"/>
            </a:endParaRPr>
          </a:p>
          <a:p>
            <a:pPr>
              <a:lnSpc>
                <a:spcPct val="100000"/>
              </a:lnSpc>
            </a:pPr>
            <a:r>
              <a:rPr b="0" lang="es-ES" sz="1600" spc="-1" strike="noStrike">
                <a:solidFill>
                  <a:srgbClr val="1e90ff"/>
                </a:solidFill>
                <a:latin typeface="Liberation Mono;Courier New;DejaVu Sans Mono"/>
                <a:ea typeface="Liberation Mono;Courier New;DejaVu Sans Mono"/>
              </a:rPr>
              <a:t>RDATA</a:t>
            </a:r>
            <a:r>
              <a:rPr b="0" lang="es-ES" sz="1600" spc="-1" strike="noStrike">
                <a:solidFill>
                  <a:srgbClr val="000000"/>
                </a:solidFill>
                <a:latin typeface="Liberation Mono;Courier New;DejaVu Sans Mono"/>
                <a:ea typeface="Liberation Mono;Courier New;DejaVu Sans Mono"/>
              </a:rPr>
              <a:t> - el valor de los datos (ej: una IP o alias)</a:t>
            </a:r>
            <a:endParaRPr b="0" lang="es-ES" sz="1600" spc="-1" strike="noStrike">
              <a:solidFill>
                <a:srgbClr val="000000"/>
              </a:solidFill>
              <a:latin typeface="Arial"/>
            </a:endParaRPr>
          </a:p>
          <a:p>
            <a:pPr>
              <a:lnSpc>
                <a:spcPct val="100000"/>
              </a:lnSpc>
            </a:pPr>
            <a:endParaRPr b="0" lang="es-ES" sz="1600" spc="-1" strike="noStrike">
              <a:solidFill>
                <a:srgbClr val="000000"/>
              </a:solidFill>
              <a:latin typeface="Arial"/>
            </a:endParaRPr>
          </a:p>
        </p:txBody>
      </p:sp>
      <p:sp>
        <p:nvSpPr>
          <p:cNvPr id="3" name="PlaceHolder 2"/>
          <p:cNvSpPr>
            <a:spLocks noGrp="1"/>
          </p:cNvSpPr>
          <p:nvPr>
            <p:ph type="sldNum" idx="2"/>
          </p:nvPr>
        </p:nvSpPr>
        <p:spPr/>
        <p:txBody>
          <a:bodyPr/>
          <a:p>
            <a:fld id="{2BA85849-9903-4294-B168-35A0820B0E0B}"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Ejemplo de Resource Record - RR</a:t>
            </a:r>
            <a:endParaRPr b="0" lang="es-ES" sz="3000" spc="-1" strike="noStrike">
              <a:solidFill>
                <a:srgbClr val="000000"/>
              </a:solidFill>
              <a:latin typeface="Arial"/>
            </a:endParaRPr>
          </a:p>
        </p:txBody>
      </p:sp>
      <p:pic>
        <p:nvPicPr>
          <p:cNvPr id="309" name="Imagen 5" descr=""/>
          <p:cNvPicPr/>
          <p:nvPr/>
        </p:nvPicPr>
        <p:blipFill>
          <a:blip r:embed="rId1"/>
          <a:stretch/>
        </p:blipFill>
        <p:spPr>
          <a:xfrm>
            <a:off x="1347120" y="1273320"/>
            <a:ext cx="8652960" cy="5100120"/>
          </a:xfrm>
          <a:prstGeom prst="rect">
            <a:avLst/>
          </a:prstGeom>
          <a:ln w="0">
            <a:noFill/>
          </a:ln>
        </p:spPr>
      </p:pic>
      <p:sp>
        <p:nvSpPr>
          <p:cNvPr id="3" name="PlaceHolder 2"/>
          <p:cNvSpPr>
            <a:spLocks noGrp="1"/>
          </p:cNvSpPr>
          <p:nvPr>
            <p:ph type="sldNum" idx="2"/>
          </p:nvPr>
        </p:nvSpPr>
        <p:spPr/>
        <p:txBody>
          <a:bodyPr/>
          <a:p>
            <a:fld id="{1DBE9F20-917B-4E1B-8275-2F532C6AD25E}"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 primario</a:t>
            </a:r>
            <a:endParaRPr b="0" lang="es-ES" sz="3000" spc="-1" strike="noStrike">
              <a:solidFill>
                <a:srgbClr val="000000"/>
              </a:solidFill>
              <a:latin typeface="Arial"/>
            </a:endParaRPr>
          </a:p>
        </p:txBody>
      </p:sp>
      <p:sp>
        <p:nvSpPr>
          <p:cNvPr id="311" name="PlaceHolder 2"/>
          <p:cNvSpPr>
            <a:spLocks noGrp="1"/>
          </p:cNvSpPr>
          <p:nvPr>
            <p:ph/>
          </p:nvPr>
        </p:nvSpPr>
        <p:spPr>
          <a:xfrm>
            <a:off x="838080" y="1566360"/>
            <a:ext cx="9928440" cy="2975040"/>
          </a:xfrm>
          <a:prstGeom prst="rect">
            <a:avLst/>
          </a:prstGeom>
          <a:solidFill>
            <a:srgbClr val="ffffff"/>
          </a:solidFill>
          <a:ln w="0">
            <a:noFill/>
          </a:ln>
        </p:spPr>
        <p:txBody>
          <a:bodyPr lIns="90000" rIns="90000" tIns="45000" bIns="45000" anchor="t">
            <a:noAutofit/>
          </a:bodyPr>
          <a:p>
            <a:pPr marL="343080" indent="-343080">
              <a:lnSpc>
                <a:spcPct val="90000"/>
              </a:lnSpc>
              <a:spcBef>
                <a:spcPts val="1001"/>
              </a:spcBef>
              <a:buClr>
                <a:srgbClr val="ff0000"/>
              </a:buClr>
              <a:buFont typeface="Arial"/>
              <a:buChar char="•"/>
            </a:pPr>
            <a:r>
              <a:rPr b="0" lang="es-ES" sz="2000" spc="-1" strike="noStrike">
                <a:solidFill>
                  <a:srgbClr val="ff0000"/>
                </a:solidFill>
                <a:latin typeface="Calibri"/>
              </a:rPr>
              <a:t>Guarda la información</a:t>
            </a:r>
            <a:r>
              <a:rPr b="0" lang="es-ES" sz="2000" spc="-1" strike="noStrike">
                <a:solidFill>
                  <a:srgbClr val="000000"/>
                </a:solidFill>
                <a:latin typeface="Calibri"/>
              </a:rPr>
              <a:t> sobre una zona determinada del espacio de nombres de dominio </a:t>
            </a:r>
            <a:r>
              <a:rPr b="0" lang="es-ES" sz="2000" spc="-1" strike="noStrike">
                <a:solidFill>
                  <a:srgbClr val="ff0000"/>
                </a:solidFill>
                <a:latin typeface="Calibri"/>
              </a:rPr>
              <a:t>en su propia base de datos</a:t>
            </a:r>
            <a:r>
              <a:rPr b="0" lang="es-ES" sz="2000" spc="-1" strike="noStrike">
                <a:solidFill>
                  <a:srgbClr val="000000"/>
                </a:solidFill>
                <a:latin typeface="Calibri"/>
              </a:rPr>
              <a:t>.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El sistema de nombres de dominio está </a:t>
            </a:r>
            <a:r>
              <a:rPr b="0" lang="es-ES" sz="2000" spc="-1" strike="noStrike">
                <a:solidFill>
                  <a:srgbClr val="ff0000"/>
                </a:solidFill>
                <a:latin typeface="Calibri"/>
              </a:rPr>
              <a:t>construido de tal forma que cada zona disponga de, al menos, un servidor de nombres primario</a:t>
            </a:r>
            <a:r>
              <a:rPr b="0" lang="es-ES" sz="2000" spc="-1" strike="noStrike">
                <a:solidFill>
                  <a:srgbClr val="000000"/>
                </a:solidFill>
                <a:latin typeface="Calibri"/>
              </a:rPr>
              <a:t>. </a:t>
            </a:r>
            <a:endParaRPr b="0" lang="es-ES" sz="2000" spc="-1" strike="noStrike">
              <a:solidFill>
                <a:srgbClr val="000000"/>
              </a:solidFill>
              <a:latin typeface="Arial"/>
            </a:endParaRPr>
          </a:p>
          <a:p>
            <a:pPr marL="343080" indent="-343080">
              <a:lnSpc>
                <a:spcPct val="90000"/>
              </a:lnSpc>
              <a:spcBef>
                <a:spcPts val="1001"/>
              </a:spcBef>
              <a:buClr>
                <a:srgbClr val="000000"/>
              </a:buClr>
              <a:buFont typeface="Arial"/>
              <a:buChar char="•"/>
            </a:pPr>
            <a:r>
              <a:rPr b="0" lang="es-ES" sz="2000" spc="-1" strike="noStrike">
                <a:solidFill>
                  <a:srgbClr val="000000"/>
                </a:solidFill>
                <a:latin typeface="Calibri"/>
              </a:rPr>
              <a:t>Un sistema de este tipo suele ser implementado como clúster de servidores donde se almacenan los datos de zona idénticos en un sistema maestro y en varios esclavos, aumentando, gracias a esta redundancia, la seguridad ante caídas y la disponibilidad de un servidor maestro.</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A43369EA-CA0A-4950-924A-87DBEF17DC20}"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838080" y="365040"/>
            <a:ext cx="9928440" cy="813240"/>
          </a:xfrm>
          <a:prstGeom prst="rect">
            <a:avLst/>
          </a:prstGeom>
          <a:noFill/>
          <a:ln w="0">
            <a:noFill/>
          </a:ln>
        </p:spPr>
        <p:txBody>
          <a:bodyPr lIns="90000" rIns="90000" tIns="45000" bIns="45000" anchor="t">
            <a:noAutofit/>
          </a:bodyPr>
          <a:p>
            <a:pPr indent="0">
              <a:lnSpc>
                <a:spcPct val="90000"/>
              </a:lnSpc>
              <a:buNone/>
              <a:tabLst>
                <a:tab algn="l" pos="0"/>
              </a:tabLst>
            </a:pPr>
            <a:r>
              <a:rPr b="1" lang="es-ES" sz="3000" spc="-1" strike="noStrike">
                <a:solidFill>
                  <a:srgbClr val="000000"/>
                </a:solidFill>
                <a:latin typeface="Arial"/>
              </a:rPr>
              <a:t>DNS secundario</a:t>
            </a:r>
            <a:endParaRPr b="0" lang="es-ES" sz="3000" spc="-1" strike="noStrike">
              <a:solidFill>
                <a:srgbClr val="000000"/>
              </a:solidFill>
              <a:latin typeface="Arial"/>
            </a:endParaRPr>
          </a:p>
        </p:txBody>
      </p:sp>
      <p:sp>
        <p:nvSpPr>
          <p:cNvPr id="313" name="PlaceHolder 2"/>
          <p:cNvSpPr>
            <a:spLocks noGrp="1"/>
          </p:cNvSpPr>
          <p:nvPr>
            <p:ph/>
          </p:nvPr>
        </p:nvSpPr>
        <p:spPr>
          <a:xfrm>
            <a:off x="838080" y="1566360"/>
            <a:ext cx="9928440" cy="3630960"/>
          </a:xfrm>
          <a:prstGeom prst="rect">
            <a:avLst/>
          </a:prstGeom>
          <a:solidFill>
            <a:srgbClr val="ffffff"/>
          </a:solidFill>
          <a:ln w="0">
            <a:noFill/>
          </a:ln>
        </p:spPr>
        <p:txBody>
          <a:bodyPr lIns="90000" rIns="90000" tIns="45000" bIns="45000" anchor="t">
            <a:noAutofit/>
          </a:bodyPr>
          <a:p>
            <a:pPr indent="0">
              <a:lnSpc>
                <a:spcPct val="90000"/>
              </a:lnSpc>
              <a:spcBef>
                <a:spcPts val="1001"/>
              </a:spcBef>
              <a:buNone/>
              <a:tabLst>
                <a:tab algn="l" pos="0"/>
              </a:tabLst>
            </a:pPr>
            <a:r>
              <a:rPr b="0" lang="es-ES" sz="2000" spc="-1" strike="noStrike">
                <a:solidFill>
                  <a:srgbClr val="ff0000"/>
                </a:solidFill>
                <a:latin typeface="Calibri"/>
              </a:rPr>
              <a:t>La información</a:t>
            </a:r>
            <a:r>
              <a:rPr b="0" lang="es-ES" sz="2000" spc="-1" strike="noStrike">
                <a:solidFill>
                  <a:srgbClr val="000000"/>
                </a:solidFill>
                <a:latin typeface="Calibri"/>
              </a:rPr>
              <a:t> de un servidor de nombres </a:t>
            </a:r>
            <a:r>
              <a:rPr b="0" lang="es-ES" sz="2000" spc="-1" strike="noStrike">
                <a:solidFill>
                  <a:srgbClr val="ff0000"/>
                </a:solidFill>
                <a:latin typeface="Calibri"/>
              </a:rPr>
              <a:t>no procede de los archivos de zona propios</a:t>
            </a:r>
            <a:r>
              <a:rPr b="0" lang="es-ES" sz="2000" spc="-1" strike="noStrike">
                <a:solidFill>
                  <a:srgbClr val="000000"/>
                </a:solidFill>
                <a:latin typeface="Calibri"/>
              </a:rPr>
              <a:t>, sino que son de otros servidores, con lo que este servidor se convierte en </a:t>
            </a:r>
            <a:r>
              <a:rPr b="0" lang="es-ES" sz="2000" spc="-1" strike="noStrike">
                <a:solidFill>
                  <a:srgbClr val="ff0000"/>
                </a:solidFill>
                <a:latin typeface="Calibri"/>
              </a:rPr>
              <a:t>secundario o esclavo </a:t>
            </a:r>
            <a:r>
              <a:rPr b="0" lang="es-ES" sz="2000" spc="-1" strike="noStrike">
                <a:solidFill>
                  <a:srgbClr val="000000"/>
                </a:solidFill>
                <a:latin typeface="Calibri"/>
              </a:rPr>
              <a:t>para esta información. </a:t>
            </a: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Calibri"/>
              </a:rPr>
              <a:t>Esto se produce cuando un servidor no puede resolver una petición con su propia base de datos y </a:t>
            </a:r>
            <a:r>
              <a:rPr b="0" lang="es-ES" sz="2000" spc="-1" strike="noStrike">
                <a:solidFill>
                  <a:srgbClr val="ff0000"/>
                </a:solidFill>
                <a:latin typeface="Calibri"/>
              </a:rPr>
              <a:t>ha de recurrir a la información disponible en otro servidor </a:t>
            </a:r>
            <a:r>
              <a:rPr b="0" lang="es-ES" sz="2000" spc="-1" strike="noStrike">
                <a:solidFill>
                  <a:srgbClr val="000000"/>
                </a:solidFill>
                <a:latin typeface="Calibri"/>
              </a:rPr>
              <a:t>de nombres (</a:t>
            </a:r>
            <a:r>
              <a:rPr b="0" lang="es-ES" sz="2000" spc="-1" strike="noStrike">
                <a:solidFill>
                  <a:srgbClr val="ff0000"/>
                </a:solidFill>
                <a:latin typeface="Calibri"/>
              </a:rPr>
              <a:t>resolución recursiva</a:t>
            </a:r>
            <a:r>
              <a:rPr b="0" lang="es-ES" sz="2000" spc="-1" strike="noStrike">
                <a:solidFill>
                  <a:srgbClr val="000000"/>
                </a:solidFill>
                <a:latin typeface="Calibri"/>
              </a:rPr>
              <a:t>). </a:t>
            </a: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Calibri"/>
              </a:rPr>
              <a:t>Estos datos del DNS se guardan de forma temporal en un almacenamiento local (</a:t>
            </a:r>
            <a:r>
              <a:rPr b="0" lang="es-ES" sz="2000" spc="-1" strike="noStrike">
                <a:solidFill>
                  <a:srgbClr val="ff0000"/>
                </a:solidFill>
                <a:latin typeface="Calibri"/>
              </a:rPr>
              <a:t>caché</a:t>
            </a:r>
            <a:r>
              <a:rPr b="0" lang="es-ES" sz="2000" spc="-1" strike="noStrike">
                <a:solidFill>
                  <a:srgbClr val="000000"/>
                </a:solidFill>
                <a:latin typeface="Calibri"/>
              </a:rPr>
              <a:t>) y se proporcionan en caso de peticiones futuras. </a:t>
            </a:r>
            <a:endParaRPr b="0" lang="es-ES" sz="2000" spc="-1" strike="noStrike">
              <a:solidFill>
                <a:srgbClr val="000000"/>
              </a:solidFill>
              <a:latin typeface="Arial"/>
            </a:endParaRPr>
          </a:p>
          <a:p>
            <a:pPr indent="0">
              <a:lnSpc>
                <a:spcPct val="90000"/>
              </a:lnSpc>
              <a:spcBef>
                <a:spcPts val="1001"/>
              </a:spcBef>
              <a:buNone/>
              <a:tabLst>
                <a:tab algn="l" pos="0"/>
              </a:tabLst>
            </a:pPr>
            <a:r>
              <a:rPr b="0" lang="es-ES" sz="2000" spc="-1" strike="noStrike">
                <a:solidFill>
                  <a:srgbClr val="000000"/>
                </a:solidFill>
                <a:latin typeface="Calibri"/>
              </a:rPr>
              <a:t>Las entradas en el archivo de zona cambian, por lo que la información proporcionada por servidores secundarios no se considera segura.</a:t>
            </a:r>
            <a:endParaRPr b="0" lang="es-ES" sz="2000" spc="-1" strike="noStrike">
              <a:solidFill>
                <a:srgbClr val="000000"/>
              </a:solidFill>
              <a:latin typeface="Arial"/>
            </a:endParaRPr>
          </a:p>
        </p:txBody>
      </p:sp>
      <p:sp>
        <p:nvSpPr>
          <p:cNvPr id="4" name="PlaceHolder 3"/>
          <p:cNvSpPr>
            <a:spLocks noGrp="1"/>
          </p:cNvSpPr>
          <p:nvPr>
            <p:ph type="sldNum" idx="2"/>
          </p:nvPr>
        </p:nvSpPr>
        <p:spPr/>
        <p:txBody>
          <a:bodyPr/>
          <a:p>
            <a:fld id="{7EB76122-B659-4D2B-B079-0E472C75E932}"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p:nvPr>
        </p:nvSpPr>
        <p:spPr>
          <a:xfrm>
            <a:off x="2444760" y="4191120"/>
            <a:ext cx="7299720" cy="397080"/>
          </a:xfrm>
          <a:prstGeom prst="rect">
            <a:avLst/>
          </a:prstGeom>
          <a:noFill/>
          <a:ln w="0">
            <a:noFill/>
          </a:ln>
        </p:spPr>
        <p:txBody>
          <a:bodyPr lIns="90000" rIns="90000" tIns="45000" bIns="45000" anchor="t">
            <a:noAutofit/>
          </a:bodyPr>
          <a:p>
            <a:pPr indent="0" algn="ctr">
              <a:lnSpc>
                <a:spcPct val="90000"/>
              </a:lnSpc>
              <a:spcBef>
                <a:spcPts val="1001"/>
              </a:spcBef>
              <a:buNone/>
              <a:tabLst>
                <a:tab algn="l" pos="0"/>
              </a:tabLst>
            </a:pPr>
            <a:r>
              <a:rPr b="0" lang="es-ES" sz="2000" spc="-1" strike="noStrike">
                <a:solidFill>
                  <a:srgbClr val="ffffff"/>
                </a:solidFill>
                <a:latin typeface="Arial"/>
              </a:rPr>
              <a:t>www.ifp.es</a:t>
            </a:r>
            <a:endParaRPr b="0" lang="es-ES" sz="2000" spc="-1" strike="noStrike">
              <a:solidFill>
                <a:srgbClr val="000000"/>
              </a:solidFill>
              <a:latin typeface="Arial"/>
            </a:endParaRPr>
          </a:p>
        </p:txBody>
      </p:sp>
      <p:sp>
        <p:nvSpPr>
          <p:cNvPr id="315" name="PlaceHolder 2"/>
          <p:cNvSpPr>
            <a:spLocks noGrp="1"/>
          </p:cNvSpPr>
          <p:nvPr>
            <p:ph type="title"/>
          </p:nvPr>
        </p:nvSpPr>
        <p:spPr>
          <a:xfrm>
            <a:off x="2444760" y="2297880"/>
            <a:ext cx="7299720" cy="1753200"/>
          </a:xfrm>
          <a:prstGeom prst="rect">
            <a:avLst/>
          </a:prstGeom>
          <a:noFill/>
          <a:ln w="0">
            <a:noFill/>
          </a:ln>
        </p:spPr>
        <p:txBody>
          <a:bodyPr lIns="90000" rIns="90000" tIns="45000" bIns="45000" anchor="b">
            <a:noAutofit/>
          </a:bodyPr>
          <a:p>
            <a:pPr indent="0" algn="ctr">
              <a:lnSpc>
                <a:spcPct val="90000"/>
              </a:lnSpc>
              <a:buNone/>
              <a:tabLst>
                <a:tab algn="l" pos="0"/>
              </a:tabLst>
            </a:pPr>
            <a:r>
              <a:rPr b="1" lang="es-ES" sz="3200" spc="-1" strike="noStrike">
                <a:solidFill>
                  <a:srgbClr val="ffffff"/>
                </a:solidFill>
                <a:latin typeface="Arial"/>
              </a:rPr>
              <a:t>La mejor forma de aprender es hacer</a:t>
            </a:r>
            <a:endParaRPr b="0" lang="es-ES" sz="3200" spc="-1" strike="noStrike">
              <a:solidFill>
                <a:srgbClr val="000000"/>
              </a:solidFill>
              <a:latin typeface="Arial"/>
            </a:endParaRPr>
          </a:p>
        </p:txBody>
      </p:sp>
      <p:sp>
        <p:nvSpPr>
          <p:cNvPr id="316" name="CuadroTexto 3"/>
          <p:cNvSpPr/>
          <p:nvPr/>
        </p:nvSpPr>
        <p:spPr>
          <a:xfrm>
            <a:off x="4181760" y="1260000"/>
            <a:ext cx="3870720" cy="364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s-ES" sz="1800" spc="-1" strike="noStrike">
                <a:solidFill>
                  <a:srgbClr val="ffffff"/>
                </a:solidFill>
                <a:latin typeface="Arial"/>
                <a:ea typeface="DejaVu Sans"/>
              </a:rPr>
              <a:t>Que el dolor no me sea indiferente...</a:t>
            </a:r>
            <a:endParaRPr b="0" lang="es-E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901FBC7C8882441AEFB1B17934C3353" ma:contentTypeVersion="0" ma:contentTypeDescription="Create a new document." ma:contentTypeScope="" ma:versionID="4aa1f9fabc776f36ccf6d86fd0f37a8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E28AC2-7A38-4507-A348-B065F0EB5E27}">
  <ds:schemaRefs>
    <ds:schemaRef ds:uri="http://schemas.microsoft.com/sharepoint/v3/contenttype/forms"/>
  </ds:schemaRefs>
</ds:datastoreItem>
</file>

<file path=customXml/itemProps2.xml><?xml version="1.0" encoding="utf-8"?>
<ds:datastoreItem xmlns:ds="http://schemas.openxmlformats.org/officeDocument/2006/customXml" ds:itemID="{BAD24C8D-07B4-4723-B585-86F25298F6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EEEBA15-2685-4FC7-BDF4-D3202269E7B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3988</TotalTime>
  <Application>LibreOffice/7.4.7.2$Linux_X86_64 LibreOffice_project/40$Build-2</Application>
  <AppVersion>15.0000</AppVersion>
  <Words>1814</Words>
  <Paragraphs>145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2020-01-16T08:59:11Z</dcterms:created>
  <dc:creator>Jackeline Nishimura</dc:creator>
  <dc:description/>
  <dc:language>es-ES</dc:language>
  <cp:lastModifiedBy/>
  <dcterms:modified xsi:type="dcterms:W3CDTF">2025-09-19T09:22:05Z</dcterms:modified>
  <cp:revision>280</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0x0101002901FBC7C8882441AEFB1B17934C3353</vt:lpwstr>
  </property>
  <property fmtid="{D5CDD505-2E9C-101B-9397-08002B2CF9AE}" pid="3" name="Notes">
    <vt:i4>2</vt:i4>
  </property>
  <property fmtid="{D5CDD505-2E9C-101B-9397-08002B2CF9AE}" pid="4" name="PresentationFormat">
    <vt:lpwstr>Panorámica</vt:lpwstr>
  </property>
  <property fmtid="{D5CDD505-2E9C-101B-9397-08002B2CF9AE}" pid="5" name="Slides">
    <vt:i4>23</vt:i4>
  </property>
</Properties>
</file>